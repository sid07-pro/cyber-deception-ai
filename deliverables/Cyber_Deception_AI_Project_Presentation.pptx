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ea2fdff-1ba7-fa40-bfdd-70c2bcc1a5d0}">
          <p14:sldIdLst>
            <p14:sldId id="256"/>
            <p14:sldId id="257"/>
            <p14:sldId id="258"/>
          </p14:sldIdLst>
        </p14:section>
        <p14:section name="Background" id="{01aeb739-2d7b-4f3e-592c-bba0056c3fe7}">
          <p14:sldIdLst>
            <p14:sldId id="259"/>
            <p14:sldId id="260"/>
          </p14:sldIdLst>
        </p14:section>
        <p14:section name="System design" id="{dedba4b8-951b-3436-253c-769dc9847969}">
          <p14:sldIdLst>
            <p14:sldId id="261"/>
            <p14:sldId id="262"/>
          </p14:sldIdLst>
        </p14:section>
        <p14:section name="Algorithms" id="{cd9dee91-b243-8d04-e2ba-9c79453e25be}">
          <p14:sldIdLst>
            <p14:sldId id="263"/>
            <p14:sldId id="264"/>
            <p14:sldId id="265"/>
            <p14:sldId id="266"/>
            <p14:sldId id="267"/>
            <p14:sldId id="268"/>
          </p14:sldIdLst>
        </p14:section>
        <p14:section name="Implementation" id="{aec21764-19cf-8ac1-85e0-4071bfae0c16}">
          <p14:sldIdLst>
            <p14:sldId id="269"/>
            <p14:sldId id="270"/>
            <p14:sldId id="271"/>
            <p14:sldId id="272"/>
          </p14:sldIdLst>
        </p14:section>
        <p14:section name="Evaluation" id="{f15492cf-6285-3ec0-db7e-71ed100f0219}">
          <p14:sldIdLst>
            <p14:sldId id="273"/>
            <p14:sldId id="274"/>
            <p14:sldId id="275"/>
            <p14:sldId id="276"/>
            <p14:sldId id="277"/>
            <p14:sldId id="278"/>
          </p14:sldIdLst>
        </p14:section>
        <p14:section name="Backup" id="{a43af7b7-22ba-88ee-3aa7-5fcf14a4c66d}">
          <p14:sldIdLst>
            <p14:sldId id="279"/>
            <p14:sldId id="280"/>
            <p14:sldId id="281"/>
            <p14:sldId id="282"/>
            <p14:sldId id="283"/>
            <p14:sldId id="284"/>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8E5DE"/>
                </a:solidFill>
                <a:latin typeface="+mn-lt"/>
              </a:defRPr>
            </a:pPr>
            <a:r>
              <a:rPr sz="1200" b="0" i="0" u="none" strike="noStrike">
                <a:solidFill>
                  <a:srgbClr val="E8E5DE"/>
                </a:solidFill>
                <a:latin typeface="+mn-lt"/>
              </a:rPr>
              <a:t>Interception rate by placement strategy (A*, budget 1, 20 runs, seed 0)</a:t>
            </a:r>
          </a:p>
        </c:rich>
      </c:tx>
      <c:layout/>
      <c:overlay val="0"/>
    </c:title>
    <c:autoTitleDeleted val="0"/>
    <c:plotArea>
      <c:layout/>
      <c:barChart>
        <c:barDir val="bar"/>
        <c:grouping val="clustered"/>
        <c:varyColors val="0"/>
        <c:ser>
          <c:idx val="0"/>
          <c:order val="0"/>
          <c:tx>
            <c:strRef>
              <c:f>Sheet1!$B$1</c:f>
              <c:strCache>
                <c:ptCount val="1"/>
                <c:pt idx="0">
                  <c:v>Interception rate (%)</c:v>
                </c:pt>
              </c:strCache>
            </c:strRef>
          </c:tx>
          <c:spPr>
            <a:solidFill>
              <a:srgbClr val="C9A45C"/>
            </a:solidFill>
            <a:effectLst/>
          </c:spPr>
          <c:invertIfNegative val="0"/>
          <c:dLbls>
            <c:numFmt formatCode="#,##0" sourceLinked="0"/>
            <c:txPr>
              <a:bodyPr/>
              <a:lstStyle/>
              <a:p>
                <a:pPr>
                  <a:defRPr b="0" i="0" strike="noStrike" sz="1100" u="none">
                    <a:solidFill>
                      <a:srgbClr val="E8E5DE"/>
                    </a:solidFill>
                    <a:latin typeface="+mn-lt"/>
                  </a:defRPr>
                </a:pPr>
              </a:p>
            </c:txPr>
            <c:showLegendKey val="0"/>
            <c:showVal val="1"/>
            <c:showCatName val="0"/>
            <c:showSerName val="0"/>
            <c:showPercent val="0"/>
            <c:showBubbleSize val="0"/>
            <c:showLeaderLines val="0"/>
          </c:dLbls>
          <c:cat>
            <c:multiLvlStrRef>
              <c:f>Sheet1!$A$2:$A$6</c:f>
              <c:multiLvlStrCache>
                <c:ptCount val="5"/>
                <c:lvl>
                  <c:pt idx="0">
                    <c:v>No deception</c:v>
                  </c:pt>
                  <c:pt idx="1">
                    <c:v>Random</c:v>
                  </c:pt>
                  <c:pt idx="2">
                    <c:v>Greedy</c:v>
                  </c:pt>
                  <c:pt idx="3">
                    <c:v>Hill Climbing</c:v>
                  </c:pt>
                  <c:pt idx="4">
                    <c:v>Genetic Alg.</c:v>
                  </c:pt>
                </c:lvl>
              </c:multiLvlStrCache>
            </c:multiLvlStrRef>
          </c:cat>
          <c:val>
            <c:numRef>
              <c:f>Sheet1!$B$2:$B$6</c:f>
              <c:numCache>
                <c:formatCode>General</c:formatCode>
                <c:ptCount val="5"/>
                <c:pt idx="0">
                  <c:v>0</c:v>
                </c:pt>
                <c:pt idx="1">
                  <c:v>50</c:v>
                </c:pt>
                <c:pt idx="2">
                  <c:v>100</c:v>
                </c:pt>
                <c:pt idx="3">
                  <c:v>100</c:v>
                </c:pt>
                <c:pt idx="4">
                  <c:v>100</c:v>
                </c:pt>
              </c:numCache>
            </c:numRef>
          </c:val>
        </c:ser>
        <c:dLbls>
          <c:numFmt formatCode="#,##0" sourceLinked="0"/>
          <c:txPr>
            <a:bodyPr/>
            <a:lstStyle/>
            <a:p>
              <a:pPr>
                <a:defRPr b="0" i="0" strike="noStrike" sz="1100" u="none">
                  <a:solidFill>
                    <a:srgbClr val="E8E5D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9A978F"/>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3A363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9A978F"/>
                </a:solidFill>
                <a:latin typeface="+mn-lt"/>
              </a:defRPr>
            </a:pPr>
            <a:endParaRPr lang="en-US"/>
          </a:p>
        </c:txPr>
        <c:crossAx val="2094734554"/>
        <c:crosses val="autoZero"/>
        <c:crossBetween val="between"/>
      </c:valAx>
      <c:spPr>
        <a:solidFill>
          <a:srgbClr val="0B0B0C"/>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PLAIN-ENGLISH EXPLANATION
This project builds a simulated computer network, lets an "attacker" program find a way to the most valuable machine, and lets a "defender" program decide where to put fake machines (honeypots) so the attacker walks into a trap first.
2. WHAT I SHOULD SAY
Good morning. My project is called Cyber Deception AI — an AI-based cyber deception system for intelligent honeypot placement and attacker path prediction. In short: I model a network as a graph, predict the route an attacker would take to a critical database using search algorithms, and then decide where to place honeypots so that route is intercepted. Everything runs on a simulated network — nothing touches real systems.
3. TECHNICAL EXPLANATION
The network is a weighted undirected graph (NetworkX). Attacker path prediction is graph search (BFS, DFS, UCS, A*). Honeypot placement is a transparent scoring heuristic, with Hill Climbing and a Genetic Algorithm as optimisers. The stack is React + TypeScript + Vite on the front end and FastAPI on the back end.
4. CONNECTION TO THE CODE
Repository: D:\cyber-deception-ai (GitHub: sid07-pro/cyber-deception-ai). Network: backend/simulation/network.py. Search: backend/ai/{bfs,dfs,ucs,astar}.py. Placement: backend/ai/optimizer.py.
5. EXAMPLE
The figure on the right is the real built-in network: 7 hosts and 9 links. The gold route is what A* returns; the amber nodes are where the defender places 2 honeypots.
6-7. LIKELY FOLLOW-UP QUESTIONS AND SUGGESTED ANSWERS
Q1: Is this a real deployed honeypot system?
A1: No. It is a simulation and decision-support tool. It models the network and evaluates placements; it does not deploy real decoys or capture real traffic.
Q2: Why "AI"?
A2: In the classical AI sense — intelligent agents, search, adversarial search, heuristics, optimisation and Bayesian reasoning. There is no machine-learning model in this project, and I will say that clearly later.
8. COMMON MISTAKE — DO NOT CLAIM
Do not say the system "detects real attacks" or "uses machine learning". It predicts routes on a modelled graph.
9. TRANSITION
Let me start with the problem that motivated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PLAIN-ENGLISH EXPLANATION
Security tools are good at keeping attackers out, but once someone is inside it is hard to know where they will go next. Honeypots help, but you can only afford a few — so where you put them matters.
2. WHAT I SHOULD SAY
Traditional prevention — firewalls, patching, access control — is necessary and it works, but it does not give defenders much visibility into what an attacker does after getting a foothold. Honeypots give high-signal alerts, because no legitimate user should touch them. The practical problem is placement: with a small budget, which machines should become decoys? My project turns that into a graph problem: predict the likely route, then put decoys on it.
3. TECHNICAL EXPLANATION
Lateral movement = moving from one compromised host to others toward a goal. We abstract the network as G=(V,E) with edge weights representing simulated traversal difficulty. The defender problem is a budget-constrained placement: choose k nodes maximising an interception-oriented objective.
4. CONNECTION TO THE CODE
The inputs map directly to the API: POST /api/simulate takes algorithm, start_node, target_node, honeypot_count (0–5) and optional scenario_id (backend/app/schemas/simulation.py: SimulationRequest).
6-7. LIKELY FOLLOW-UP QUESTIONS AND SUGGESTED ANSWERS
Q1: Are you saying firewalls are useless?
A1: No. Deception complements prevention; it adds visibility. The project does not claim to replace any existing control.
Q2: Why focus on placement?
A2: Because a honeypot only helps if an attacker actually interacts with it. A decoy on a route nobody takes gives nothing.
8. COMMON MISTAKE — DO NOT CLAIM
Do not claim traditional security "fails" or quote breach statistics you cannot source.
9. TRANSITION
From this problem come the project’s motivation and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PLAIN-ENGLISH EXPLANATION
The goal is to make the "where do we put decoys?" decision something you can calculate, explain and test, instead of picking machines by instinct.
2. WHAT I SHOULD SAY
My objectives are five: model the network, predict the attacker route, place honeypots, explain every decision, and evaluate it. All five are implemented and tested. The bottom box lists things I deliberately left as future work — importing real networks, real telemetry, and learned models — so it is clear what the project does not do.
3. TECHNICAL EXPLANATION
Model = NetworkX graph; Predict = four search algorithms + Yen’s k-shortest loopless paths for alternatives; Place = greedy deception score, Hill Climbing, Genetic Algorithm; Explain = generated explanation strings; Evaluate = experiment service (repeated runs, five strategies) + 170 backend / 44 frontend tests.
4. CONNECTION TO THE CODE
Model: simulation/network.py. Predict: ai/attacker.py, simulation_service.alternative_paths(). Place: ai/optimizer.py, ai/hill_climbing.py, ai/genetic.py. Explain: simulation/simulator.py _generate_explanations(). Evaluate: app/services/experiment_service.py, backend/tests/.
6-7. LIKELY FOLLOW-UP QUESTIONS AND SUGGESTED ANSWERS
Q1: Which objective is the core contribution?
A1: Combining route prediction with placement in one explainable pipeline: the defender scores nodes using the routes the attacker algorithms actually produce.
Q2: Why not use machine learning?
A2: There is no labelled attack dataset for this network, and interpretable algorithms are easier to verify. ML is listed as future work only if suitable data exists.
8. COMMON MISTAKE — DO NOT CLAIM
Do not present the future-objectives box as completed work.
9. TRANSITION
Before the implementation, a quick foundation: what cyber deception and honeypots actually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PLAIN-ENGLISH EXPLANATION
A honeypot is bait. Real users never need it, so if anything touches it, someone is probably exploring the network where they should not be.
2. WHAT I SHOULD SAY
Cyber deception means planting false assets — fake hosts, files, credentials — to detect or slow an attacker. A honeypot is a single decoy system; a honeynet is a set of them that looks like a real environment. The key property is that a honeypot has no legitimate use, so any interaction is a high-quality alert. The diagram shows the idea: the attacker moves toward the real database; if a decoy sits on that route, we see the attacker first.
3. TECHNICAL EXPLANATION
Low-interaction honeypots emulate services; high-interaction honeypots are full systems. This project does not implement either — it models where they should go. In the simulation, a honeypot is a node label; "interception" means the attacker path contains a honeypot node before the target (ai/defender.py evaluate_interception).
4. CONNECTION TO THE CODE
evaluate_interception(attacker_path, honeypots) walks the path in order and returns (True, node, index) at the first honeypot. Honeypots are never placed on the critical target or the entry point.
5. EXAMPLE
Built-in network: A* path Internet → Web Server → Application Server → Database. With Web Server as a honeypot, interception happens at step 1.
6-7. LIKELY FOLLOW-UP QUESTIONS AND SUGGESTED ANSWERS
Q1: What is the difference between a honeypot and an IDS?
A1: An IDS inspects real traffic for malicious patterns and can raise false positives. A honeypot is a decoy; touching it is suspicious by design, so its alerts are high-signal but it only sees attackers who reach it.
Q2: Can a smart attacker avoid honeypots?
A2: Yes — fingerprinting can reveal decoys. That is why realism and placement matter, and why the project does not claim guaranteed detection.
8. COMMON MISTAKE — DO NOT CLAIM
Do not say honeypots "block" attacks. They detect and delay; they do not stop an attacker on other routes.
9. TRANSITION
How does this compare with existing approaches, and what exactly did I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PLAIN-ENGLISH EXPLANATION
Without a method, people place honeypots where it feels right. This project gives a repeatable rule based on where an attacker would actually walk.
2. WHAT I SHOULD SAY
Prevention alone gives little visibility after a breach. Manual honeypot placement depends on the analyst. My approach makes placement a function of predicted attacker routes, a budget, and deployment cost, and it explains each choice. The last column lists only features that exist in the code. I want to be clear that this is a conceptual comparison; I have not benchmarked against a commercial product.
3. TECHNICAL EXPLANATION
The "accounts for routes" row is literal: the defender’s attack_path_frequency term counts how many of the four algorithms’ paths pass through each candidate (ai/optimizer.py).
4. CONNECTION TO THE CODE
simulation_service.run_simulation(): candidate_paths = paths from run_all_algorithms(); plan_defense(graph, candidate_paths, candidates, target, top_n=honeypot_count).
6-7. LIKELY FOLLOW-UP QUESTIONS AND SUGGESTED ANSWERS
Q1: Is your approach better than existing systems?
A1: I cannot claim that. I can claim it is transparent, budget-aware, consistent with the modelled routes, and that on the built-in network a greedy placement intercepts the attacker in all 20 runs while random placement intercepts 50% at budget 1.
Q2: What related research exists?
A2: Attack-graph analysis (Sheyner et al., 2002) and game-theoretic deception surveys (Pawlick, Colbert &amp; Zhu, 2019) — both in the references.
8. COMMON MISTAKE — DO NOT CLAIM
Do not claim superiority or production readiness.
9. TRANSITION
Next: the architecture that implements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PLAIN-ENGLISH EXPLANATION
The browser shows the screens; the Python server does the thinking; a database remembers saved networks. Each part has one job.
2. WHAT I SHOULD SAY
The architecture has four layers. The React frontend renders the network and results and talks to the backend only through a typed client. FastAPI routes handle HTTP and validation with Pydantic. The services layer is a thin adapter that calls the algorithm modules, which are plain Python with NetworkX and know nothing about HTTP or databases. Persistence uses SQLAlchemy with SQLite by default or PostgreSQL in Docker. Docker Compose runs all three services, and I verified that stack end to end.
3. TECHNICAL EXPLANATION
Separation of concerns: algorithms are framework-free, so they are unit-testable directly. Routes map service exceptions to status codes (404 unknown node, 422 validation, 503 database unavailable). The frontend dev server proxies /api to the backend; in production VITE_API_BASE_URL points to the API. Health endpoint reports API and database status.
4. CONNECTION TO THE CODE
backend/app/main.py (create_app, CORS, lifespan creates tables); backend/app/api/router.py; backend/app/services/simulation_service.py; frontend/src/api/client.ts; docker-compose.yml.
6-7. LIKELY FOLLOW-UP QUESTIONS AND SUGGESTED ANSWERS
Q1: Why separate services from routes?
A1: So the same algorithm code is reused by the simulation, stepped sessions, experiments and tests, and so HTTP concerns never leak into algorithms.
Q2: What happens if the database is down?
A2: Startup logs a warning instead of crashing; simulation and AI endpoints keep working; persistence endpoints return 503. /api/health reports database: unavailable.
8. COMMON MISTAKE — DO NOT CLAIM
Do not claim cloud deployment. Render/Vercel config files exist but nothing has been deployed or verified.
9. TRANSITION
Here is the technology stack and why each piece was chosen.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PLAIN-ENGLISH EXPLANATION
Each tool was picked because it does one job well and is common in industry, so the project is easy to run and to explain.
2. WHAT I SHOULD SAY
On the backend, NetworkX holds the graph — but note the four search algorithms are written by hand, not NetworkX calls. FastAPI gives typed endpoints and free API documentation. SQLAlchemy lets the same code run on SQLite or PostgreSQL. On the frontend, React and TypeScript give typed contracts with the API, React Flow draws the network, and Tailwind keeps the design consistent. pytest and Vitest provide the automated tests, and Docker Compose runs everything together.
3. TECHNICAL EXPLANATION
NetworkX is used for graph storage, degree, shortest_path_length (proximity), single_source_shortest_path_length, and shortest_simple_paths (Yen’s algorithm) for alternative routes. BFS/DFS/UCS/A* are manual implementations in backend/ai/.
4. CONNECTION TO THE CODE
backend/requirements.txt; frontend/package.json (react 18.3, reactflow 11.11, vite 5.4, tailwindcss 3.4, vitest 2.1).
6-7. LIKELY FOLLOW-UP QUESTIONS AND SUGGESTED ANSWERS
Q1: Why not use NetworkX’s own shortest path for the attacker?
A1: For learning and transparency: implementing BFS/DFS/UCS/A* myself lets me count nodes explored and explain each step. Tests compare UCS/A* against NetworkX’s results to prove correctness.
Q2: Why FastAPI over Flask?
A2: Built-in Pydantic validation and OpenAPI generation; invalid inputs are rejected with 422 automatically.
8. COMMON MISTAKE — DO NOT CLAIM
Do not list PostgreSQL as required — SQLite is the default; PostgreSQL is used in Docker.
9. TRANSITION
The foundation of everything is the graph model, so let’s look 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PLAIN-ENGLISH EXPLANATION
We draw the network like a map: machines are dots, network links are roads, and each road has a "difficulty" number. Finding an attack route is like finding a route on a map.
2. WHAT I SHOULD SAY
A graph G = (V, E) has vertices V — here, 7 hosts — and edges E — 9 links. The graph is undirected because a link can be traversed both ways, and weighted because each link has a simulated difficulty. The cost of a path is the sum of its edge weights. For example, Internet to Web Server to Application Server to Database costs 1 + 2 + 5 = 8. Internally the graph is stored as an adjacency list, shown on the right.
3. TECHNICAL EXPLANATION
Adjacency list: each node maps to its neighbours with weights — O(V+E) space, efficient neighbour iteration (what search needs). An adjacency matrix would be O(V²). Roles are node attributes: normal (Internet), honeypot_candidate (5 hosts), critical (Database). Reachability = existence of a path; cycles exist (e.g., Web→App→File→Employee→Web), which is why search tracks visited nodes.
4. CONNECTION TO THE CODE
simulation/network.py: NODE_ROLES, EDGES list of (u, v, cost), build_network() adds nodes with role and edges with weight; honeypot_candidates() returns nodes with role honeypot_candidate.
5. EXAMPLE
Degree of Web Server = 3 (Internet, App Server, Employee PC). Path Internet→Web→Employee→Admin→Database costs 1+2+2+4 = 9.
6-7. LIKELY FOLLOW-UP QUESTIONS AND SUGGESTED ANSWERS
Q1: Why undirected? Real networks have firewalls with direction.
A1: A simplification. A directed graph (nx.DiGraph) would model one-way rules; it is listed in future work. The algorithms work on directed graphs too, since they only use neighbours().
Q2: What do weights represent physically?
A2: A modelling assumption: relative difficulty of moving across a link. They are hand-chosen, not measured.
8. COMMON MISTAKE — DO NOT CLAIM
Do not say the weights are real exploit probabilities or CVSS scores.
9. TRANSITION
With the graph defined, the attacker needs a search strategy. There are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PLAIN-ENGLISH EXPLANATION
Four different "ways of looking" for a route. BFS checks all neighbours first; DFS dives deep; UCS always extends the cheapest route so far; A* is UCS with a hint about how far the goal is.
2. WHAT I SHOULD SAY
The attacker agent can use four algorithms, all written by hand in backend/ai. BFS uses a queue and finds the path with the fewest hops, ignoring costs. DFS uses a stack and goes deep first — it finds a path, but not necessarily a good one. UCS uses a priority queue ordered by cost so far, g(n), and is guaranteed to find the cheapest path when weights are positive. A* orders by f(n) = g(n) + h(n), where h is a heuristic estimate of remaining cost; if h never overestimates, A* is also optimal. All four return the path, its cost, and how many nodes were explored.
3. TECHNICAL EXPLANATION
Common interface: search(graph, start, goal) → (path, cost, nodes_explored). Complexities with binary heap: UCS/A* O((V+E) log V) ≈ O(E log V). Space: BFS/UCS/A* O(V) for frontier/visited; DFS O(V) here because it stores paths on the stack. A* heuristic: BFS hop distance to the goal × minimum edge weight — admissible because every remaining hop costs at least the minimum weight. Unknown nodes now return ([], 0, 0) instead of raising (hardening added during recovery).
4. CONNECTION TO THE CODE
ai/attacker.py ALGORITHMS = {"BFS": bfs_search, "DFS": dfs_search, "UCS": ucs_search, "A*": astar_search}; select_attacker_path() picks one; run_all_algorithms() runs all four for comparison.
5. EXAMPLE
Built-in network, Internet → Database: all four return Internet → Web Server → Application Server → Database, cost 8. Nodes explored: BFS 5, DFS 4, UCS 7, A* 7.
6-7. LIKELY FOLLOW-UP QUESTIONS AND SUGGESTED ANSWERS
Q1: Why does A* explore as many nodes as UCS here?
A1: Because the heuristic is weak: minimum edge weight is 1, so h is just the hop count, which underestimates real costs (2–5). A weak but admissible heuristic keeps A* optimal but gives little pruning on a 7-node graph.
Q2: Is UCS the same as Dijkstra?
A2: Essentially yes for a single target — UCS is Dijkstra’s algorithm that stops when the goal is popped.
Q3: Why is BFS not optimal here?
A3: It minimises hops, not cost. A test graph shows BFS choosing a 2-hop path of cost 10 over a 3-hop path of cost 3.
8. COMMON MISTAKE — DO NOT CLAIM
Do not call UCS "informed" — it is uninformed. Do not claim A* is faster here; on this graph it is not.
9. TRANSITION
Let’s walk through one algorithm step by step on the real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PLAIN-ENGLISH EXPLANATION
UCS keeps a to-do list sorted by "cost so far". It always takes the cheapest item next. The Database first appears with cost 8 at step 3, but UCS does not stop there — it keeps going until nothing cheaper is left, then accepts it.
2. WHAT I SHOULD SAY
This trace is reproduced from the actual ucs.py logic on the real network. Starting at Internet with cost 0, we push Web Server at cost 1. Popping Web Server pushes Application Server and Employee PC at cost 3. Popping Application Server pushes Database at 8 and File Server at 6. Notice Database is now in the queue but not accepted yet. We then pop Employee PC, Admin PC and File Server — each offers a more expensive route to the Database, 9 and 10, which are rejected. Finally Database is popped at cost 8, and the path is returned. Seven nodes were explored.
3. TECHNICAL EXPLANATION
Correctness: with non-negative weights, when a node is popped from the min-priority queue its cost is minimal (the Dijkstra invariant). best_cost prevents pushing worse duplicates; the visited set skips stale queue entries. A counter breaks ties so heap entries are comparable and deterministic.
4. CONNECTION TO THE CODE
ai/ucs.py: frontier = [(0, counter, start, [start])]; heapq.heappop / heappush; best_cost dict; visited set; returns (path, cost, nodes_explored) when current == goal.
5. EXAMPLE
BFS on the same graph pops Internet, Web Server, Application Server, Employee PC, Database — 5 nodes — and returns the same path by luck: the fewest-hop path is also the cheapest here.
6-7. LIKELY FOLLOW-UP QUESTIONS AND SUGGESTED ANSWERS
Q1: Why not stop when Database is first pushed at step 3?
A1: Because a cheaper route might still exist through nodes with lower current cost. Only when popped is the cost guaranteed minimal.
Q2: What if two nodes have the same cost?
A2: The counter preserves insertion order, so App Server (pushed first) is popped before Employee PC — deterministic behaviour.
8. COMMON MISTAKE — DO NOT CLAIM
Do not say UCS returned the path at step 3. It returns only when the goal is popped (step 7).
9. TRANSITION
One path is not the full picture, so the next slide shows alternative routes.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PLAIN-ENGLISH EXPLANATION
The cheapest route is a good guess for where a careful attacker would go, but attackers can take the second or third cheapest route too. So we also list those and check whether our honeypots would catch them.
2. WHAT I SHOULD SAY
The analysis returns the chosen route plus the three cheapest loop-free routes, enumerated with Yen’s k-shortest-paths algorithm through NetworkX. On the built-in network they cost 8, 9 and 10. This tells us which routes matter and lets us check honeypot coverage. It is important what this does not tell us: a link in the model being traversable does not mean it is exploitable in reality, and this is graph search, not a prediction learned from attack data.
3. TECHNICAL EXPLANATION
alternative_paths() uses nx.shortest_simple_paths(graph, start, target, weight="weight") — Yen’s algorithm generating loop-free paths in increasing cost — sliced to k=3 with itertools.islice. For each route it reports cost, hops, honeypots_on_path and intercepted.
4. CONNECTION TO THE CODE
backend/app/services/simulation_service.py: alternative_paths(), MAX_ALTERNATIVE_PATHS = 3; field alternative_paths in SimulationResponse; frontend ResultPanel "Cheapest alternative routes" table.
5. EXAMPLE
Every one of the three routes passes through Web Server, because Internet has only one neighbour. That makes Web Server a chokepoint (a cut vertex for the entry point).
6-7. LIKELY FOLLOW-UP QUESTIONS AND SUGGESTED ANSWERS
Q1: Is this "attacker path prediction"?
A1: It is model-based prediction: assuming a cost-minimising attacker with full knowledge of the graph, these are its preferred routes. It is not statistical prediction.
Q2: Why loop-free paths?
A2: A route revisiting a host is never cheaper with positive weights, and it would not add new coverage information.
8. COMMON MISTAKE — DO NOT CLAIM
Never call this an ML prediction or attach accuracy numbers to it.
9. TRANSITION
Now the defender’s side: how candidate honeypot locations are 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PLAIN-ENGLISH EXPLANATION
Each possible decoy location gets points for being on the attacker’s routes, being close to the database and being well connected; the points are divided by how expensive the decoy is. The highest scores win.
2. WHAT I SHOULD SAY
The defender scores each candidate with this formula. Path frequency counts how many of the four algorithms’ paths go through the node. Proximity is one over hop distance to the target plus one, so nodes nearer the asset score higher. Degree rewards well-connected nodes. The sum is divided by deployment cost. For Web Server: 4 plus one third plus 3 is 7.333, divided by 2 is 3.667 — the top score. With a budget of two, Web Server and Employee PC are selected. I call this what it is: a greedy heuristic.
3. TECHNICAL EXPLANATION
Greedy top-k selection: score each candidate independently, sort descending, take the first k. Complexity O(C·(P·L + V + E)) where C candidates, P paths, L path length (proximity uses a BFS shortest_path_length per candidate). Weakness: no interaction between selections (redundancy) — Employee PC scores 3.333 despite path_freq 0 because degree and low cost dominate. That is why the project also has Hill Climbing and GA with a placement-level fitness (coverage of routes).
4. CONNECTION TO THE CODE
ai/optimizer.py: _attack_path_frequency, _target_proximity (1/(dist+1)), _node_connectivity (degree), DEPLOYMENT_COST table, score_candidates(...) returns (sorted table, top_n names). ai/defender.py plan_defense() calls it.
5. EXAMPLE
Application Server has the same path frequency as Web Server and is closer to the target, but its deployment cost is 3, so its score is (4 + 0.5 + 3)/3 = 2.5.
6-7. LIKELY FOLLOW-UP QUESTIONS AND SUGGESTED ANSWERS
Q1: Why is Employee PC selected if no attacker path uses it?
A1: Because the greedy score adds degree and divides by a low cost of 1. It is a known weakness of an additive per-node heuristic, and it is why the optimisers score whole placements by route coverage instead.
Q2: Is the formula from literature?
A2: No — it is a project-specific, transparent heuristic. Its terms are reasonable proxies (exposure, centrality, cost), but the weights are design assumptions.
8. COMMON MISTAKE — DO NOT CLAIM
Do not call the greedy score "optimal" or present the cost table as real-world prices.
9. TRANSITION
That raises the question of what "AI" means in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PLAIN-ENGLISH EXPLANATION
AI here means the classic textbook kind: programs that search, plan, play games and reason with probabilities. It does not mean a neural network that learned from data.
2. WHAT I SHOULD SAY
I want to be precise about the word AI. This project uses classical AI techniques: graph search, intelligent agents, a heuristic, two optimisers, adversarial search with Minimax and Alpha-Beta, Bayesian reasoning, and classical planning. All are implemented and tested. What it does not use is machine learning — there is no trained model. I think that is the right choice for this problem: there is no real dataset for this network, and interpretable methods let me justify every decision.
3. TECHNICAL EXPLANATION
Agents follow Russell &amp; Norvig’s taxonomy: the attacker is goal-based (reach the target via search); the defender is utility-based (maximise a score under a budget). Minimax/Alpha-Beta search a two-player zero-sum game: MAX attacker moves one hop; MIN defender places a honeypot or passes; utility combines progress, compromise, protection, deception (±50 terminal) and cost. Alpha-Beta returns the same value as Minimax with fewer nodes. Bayes: P(H|E) = P(E|H)P(H) / [P(E|H)P(H) + P(E|¬H)(1−P(H))], applied sequentially assuming conditional independence.
4. CONNECTION TO THE CODE
app/services/ai_registry.py dispatches the five techniques for POST /api/ai/analyze; ai/game.py defines the shared Game protocol; ai/deception_game.py is the game; tests/test_advanced_ai.py checks Alpha-Beta == Minimax.
5. EXAMPLE
Depth 4 from Internet: Minimax visits 69 states, Alpha-Beta 35 states with 14 branches pruned; both recommend "move Web Server" with value 2.6667.
6-7. LIKELY FOLLOW-UP QUESTIONS AND SUGGESTED ANSWERS
Q1: Is Minimax real game theory?
A1: It is adversarial search on a sequential zero-sum game with a hand-designed utility. It is not a Stackelberg or Bayesian game equilibrium; I describe it as adversarial search.
Q2: Where do the Bayesian probabilities come from?
A2: They are documented modelling assumptions in ai/bayesian.py — base prior 0.2 plus degree-based exposure, and fixed likelihoods per evidence item. They are not measured from real data.
8. COMMON MISTAKE — DO NOT CLAIM
Never say "the model was trained", "accuracy", or "neural network". Do not present Bayesian outputs as real risk measurements.
9. TRANSITION
Now let’s follow one request through the whole system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PLAIN-ENGLISH EXPLANATION
Clicking one button triggers a chain: the page sends a message to the server, the server checks it, builds the network, runs the attacker and defender, and sends back everything the page needs to draw the result.
2. WHAT I SHOULD SAY
Here is one request end to end, using the real function names. The user clicks Run Simulation; SimulationPanel calls runSimulation in the typed API client, which posts JSON to /api/simulate. FastAPI validates it with the Pydantic model — an unknown algorithm or a budget of 99 is rejected with a 422 before any algorithm runs. The service builds the graph, the attacker runs all four searches and commits to the chosen one, the defender scores candidates using those paths, and then interception, alternative routes and explanations are computed. The response is rendered as the gold route, the decoys and the score tables.
3. TECHNICAL EXPLANATION
Error mapping: UnknownNodeError → 404, UnsupportedAlgorithmError/validation → 422, ScenarioNotFound → 404, database errors → 503. The route depends on get_db only to load a scenario when scenario_id is given, so the basic simulation needs no database. The frontend keeps session history in App state, so the dashboard shows the latest run.
4. CONNECTION TO THE CODE
frontend/src/components/SimulationPanel.tsx handleRun; frontend/src/api/client.ts apiPost; backend/app/api/routes/simulation.py simulate(); backend/app/services/simulation_service.py run_simulation(); backend/simulation/simulator.py generate_explanations().
5. EXAMPLE
POST {"algorithm":"UCS"} → path Internet→Web Server→Application Server→Database, path_cost 8, honeypots [Web Server, Employee PC], result "intercepted", intercepted_at "Web Server", step 1.
6-7. LIKELY FOLLOW-UP QUESTIONS AND SUGGESTED ANSWERS
Q1: What happens with an invalid node name?
A1: run_simulation raises UnknownNodeError; the route returns 404 with "Unknown node 'Mainframe'. Known nodes: …", which the UI shows as "Simulation failed".
Q2: Is the simulation stored?
A2: One-shot runs are kept in browser session history only. Saved scenarios and experiments are persisted in the database.
8. COMMON MISTAKE — DO NOT CLAIM
Do not say results are streamed live or that the backend keeps running agents in the background — each request is computed and returned.
9. TRANSITION
Here is what that looks like in the running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PLAIN-ENGLISH EXPLANATION
These are real pictures of the app running, not mock-ups. They show the same numbers I have been quoting.
2. WHAT I SHOULD SAY
These are genuine screenshots captured from the running application. On the left is the Attack Path Analysis workspace: the configuration panel, and the network graph with the A* route drawn in gold and the two honeypots tagged as decoys. On the right is the result panel: route cost 8, seven nodes explored, intercepted at Web Server on step 1, and the deception scoring table with the selected nodes marked. These numbers match the API and the automated tests.
3. TECHNICAL EXPLANATION
The graph is React Flow with custom nodes; roles are shown by glyph and text tag (Entry, Target, Candidate, Decoy) so the UI does not rely on colour alone. Layout: columns by hop distance from the entry point, ordered by barycentre to reduce crossings; the target gets the last column.
4. CONNECTION TO THE CODE
frontend/src/components/NetworkGraph.tsx (computePositions, HostNode, GraphLegend), ResultPanel.tsx, SimulationControls.tsx; screenshots in deliverables/screenshots/ captured with headless Chrome.
6-7. LIKELY FOLLOW-UP QUESTIONS AND SUGGESTED ANSWERS
Q1: Is this live data?
A1: It is live output of the simulation API on the synthetic network — not live network telemetry.
Q2: Can you change the start and target?
A2: Yes — start, target, algorithm and budget are selectable; the Run button is disabled if start equals target.
8. COMMON MISTAKE — DO NOT CLAIM
Do not call the dashboard a "real-time threat monitor".
9. TRANSITION
Two more screens: the honeypot placement comparison and the topology inspector.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PLAIN-ENGLISH EXPLANATION
The left screen compares three ways of choosing decoys on the same network. The right screen lets you click any machine and see its details.
2. WHAT I SHOULD SAY
The Honeypot Placement page runs three methods on the same scenario: the greedy deception score, Hill Climbing and the Genetic Algorithm. They choose different sets, but both optimisers reach the same fitness, 6.2667, and every placement covers all three cheapest routes. The Network Topology page is an inspector: clicking a host shows its type, criticality, degree, deployment cost and its links, and lets you set it as the start or target.
3. TECHNICAL EXPLANATION
The optimisers maximise a placement-level fitness: 4·coverage + 2·proximity + 1·criticality + 1.5·deception − 1·normalised cost (ai/fitness.py). Hill Climbing: steepest ascent with 4 random restarts over swap/add/drop neighbours. GA: population 12, 15 generations, tournament selection, crossover, mutation rate 0.2, seeded. Different sets with equal fitness show the landscape has ties (plateaus). Route coverage on the page is a set intersection with the three alternative routes.
4. CONNECTION TO THE CODE
frontend/src/pages/HoneypotPlacementPage.tsx (calls runSimulation + analyzeWithAI hill_climbing/genetic_algorithm), NetworkTopologyPage.tsx; backend ai/hill_climbing.py, ai/genetic.py, ai/fitness.py.
6-7. LIKELY FOLLOW-UP QUESTIONS AND SUGGESTED ANSWERS
Q1: Why can greedy and fitness scores not be compared?
A1: Greedy scores single nodes; fitness scores a whole placement with different terms and weights. The page labels them as different objectives.
Q2: Why do optimisers pick different nodes?
A2: Several placements tie at the best fitness on this small graph; seeds and search order decide which is reported.
8. COMMON MISTAKE — DO NOT CLAIM
Do not claim one optimiser is better based on this graph — they tie.
9. TRANSITION
Let’s look at the key code behind these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PLAIN-ENGLISH EXPLANATION
Left: the loop that makes UCS always take the cheapest route first. Right: the loop that gives each possible decoy its score and keeps the best ones.
2. WHAT I SHOULD SAY
On the left is the heart of UCS. Each iteration pops the cheapest entry from a min-heap. If that node was already finalised we skip it; otherwise we mark it visited and count it. If it is the goal we return — that is the moment cost is guaranteed minimal. Otherwise we relax each neighbour: compute the new cost, and push it only if it improves the best known cost. On the right, score_candidates computes the three terms for each candidate, divides by deployment cost, sorts descending, and returns the full table plus the top-k selection.
3. TECHNICAL EXPLANATION
LINE-BY-LINE (UCS): heappop returns (cost, counter, node, path) — the counter is a tie-breaker so tuples never compare node names or lists. "if current in visited: continue" discards stale heap entries (lazy deletion). best_cost is the relaxation check from Dijkstra. path + [neighbor] copies the path (simple, O(L) per push; fine for small graphs). LINE-BY-LINE (optimizer): candidate_paths are the four algorithms’ paths; proximity = 1/(dist+1) via nx.shortest_path_length (hop count, unweighted); connectivity = graph.degree(node); deployment_costs override comes from saved scenario metadata, default table otherwise; scored[:top_n] is the greedy top-k.
4. CONNECTION TO THE CODE
Inputs/outputs: ucs_search(graph, start, goal) → (path, cost, nodes_explored); score_candidates(graph, candidate_paths, candidates, target, top_n, deployment_costs=None) → (sorted list of dicts, list of selected node names). Tests: tests/test_search.py, tests/test_search_edge_cases.py, tests/test_simulation_api.py.
6-7. LIKELY FOLLOW-UP QUESTIONS AND SUGGESTED ANSWERS
Q1: Why the counter in the heap tuple?
A1: Python compares tuples element by element; on equal costs it would try to compare node strings and lists. The counter makes ordering deterministic (first pushed, first popped).
Q2: What if a node has cost 0 in a scenario?
A2: Saved scenarios only accept positive deployment costs; invalid ones are ignored and default to 1, avoiding division by zero.
8. COMMON MISTAKE — DO NOT CLAIM
Do not claim the code uses NetworkX shortest paths for the attacker — it is a manual implementation.
9. TRANSITION
How do I know this code is correct?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PLAIN-ENGLISH EXPLANATION
I wrote automated checks that run the code with known inputs and confirm the answers. All of them pass.
2. WHAT I SHOULD SAY
There are 170 backend tests and 44 frontend tests, and all pass; the TypeScript check has zero errors and the production build succeeds. The most important algorithm tests are the edge cases: unreachable targets, cycles, start equal to goal, unknown nodes, a graph where BFS must pick fewer hops but UCS must pick lower cost, and random graphs where UCS and A* must match NetworkX’s shortest path. The game tests prove Alpha-Beta returns the same answer as Minimax. I have not built a browser end-to-end suite, so I checked the UI flows manually.
3. TECHNICAL EXPLANATION
Backend: pytest with FastAPI TestClient; persistence tests use a temporary SQLite database via dependency override (tests/conftest.py), so no PostgreSQL is needed. Frontend: Vitest + Testing Library in jsdom with the API client mocked; React Flow is mocked because jsdom cannot measure layout.
4. CONNECTION TO THE CODE
Commands: cd backend &amp;&amp; .venv/Scripts/python -m pytest -q → 170 passed. cd frontend &amp;&amp; npx tsc -b --noEmit &amp;&amp; npx vitest run &amp;&amp; npm run build → 44 passed, build OK. Recorded in docs/TESTING.md.
5. EXAMPLE
Test: TWO_ROUTES graph — S-X-G costs 10 in 2 hops; S-A-B-G costs 3 in 3 hops. BFS must return S-X-G (cost 10); UCS and A* must return S-A-B-G (cost 3).
6-7. LIKELY FOLLOW-UP QUESTIONS AND SUGGESTED ANSWERS
Q1: How do you know UCS is optimal, not just plausible?
A1: test_ucs_respects_edge_costs enumerates every simple path with NetworkX and checks UCS equals the true minimum; the random-graph test checks five more graphs.
Q2: Do the frontend tests hit the real backend?
A2: No, they mock the API client. The real integration was verified by running the app against the backend and with live curl checks.
8. COMMON MISTAKE — DO NOT CLAIM
Do not claim 100% coverage or performance results; neither was measured.
9. TRANSITION
With correctness established, what does the system actually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PLAIN-ENGLISH EXPLANATION
Without decoys the attacker always succeeds. Random decoys catch it half the time. The smarter methods catch it every time — but only because this small network has one unavoidable doorway.
2. WHAT I SHOULD SAY
These are measured results from the Experiment Lab: 20 runs, A* attacker, budget of one honeypot, seed 0. With no deception the attacker reaches the database in every run. Random placement intercepts in 50% of runs. Greedy, Hill Climbing and the Genetic Algorithm intercept 100%. Separately, Alpha-Beta reaches the same decision as Minimax while visiting about half the states, 35 versus 69. But I must be honest about the 100%: Internet has only one neighbour, so every route passes through Web Server. That makes the problem easy here; it demonstrates the pipeline, not generalisation.
3. TECHNICAL EXPLANATION
The attacker is deterministic, so for non-random strategies all 20 runs are identical; only "random" samples a placement per run with seed + index. At budget 2 random intercepts 85%. Timing values in the lab (ms) are machine-dependent and not reported as results.
4. CONNECTION TO THE CODE
app/services/experiment_service.py: STRATEGIES = none, random, greedy, hill_climbing, genetic_algorithm; _run_strategy, _aggregate (deception_success_rate). Frontend ExperimentLab.tsx shows the same comparison.
6-7. LIKELY FOLLOW-UP QUESTIONS AND SUGGESTED ANSWERS
Q1: Isn’t 100% suspicious?
A1: Yes, and I explain it: the topology has a chokepoint. A fair evaluation needs larger, more varied topologies — that is the first item of future work.
Q2: Why 20 runs if results are identical?
A2: To measure the random baseline; for deterministic strategies one run would give the same number.
8. COMMON MISTAKE — DO NOT CLAIM
Do not present 100% as a detection rate for real attacks or claim statistical significance.
9. TRANSITION
That leads naturally into the limitations and the safety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PLAIN-ENGLISH EXPLANATION
The project can’t hurt anyone because it never touches a real network. But because it is a model, its answers are only as good as the assumptions in it.
2. WHAT I SHOULD SAY
On safety: everything is synthetic. There are no real addresses, no scanning, no exploits, and no honeypots are deployed. Inputs are validated at the API boundary, CORS is restricted, and no secrets ship in the frontend. On limitations: there is one small topology with hand-chosen weights; a route in the model is not proof that a real attack is possible; the attacker is assumed to be rational and fully informed; the greedy score ignores redundancy; the evaluation is easy because of the chokepoint; and real deception issues like decoy fingerprinting and false positives are not modelled.
3. TECHNICAL EXPLANATION
False positives in real honeypots arise from scanners, misconfigured services or curious employees; isolation matters because a compromised honeypot must not become a pivot. Neither is in scope here. API: no authentication because it is a local simulation; any live integration would need auth, rate limiting, and explicit authorisation.
4. CONNECTION TO THE CODE
backend/app/config.py cors_origin_list (never emits "*"); backend/app/schemas/*.py validation; .gitignore excludes .env and *.db; frontend/src/api/client.ts only reads public VITE_* variables.
6-7. LIKELY FOLLOW-UP QUESTIONS AND SUGGESTED ANSWERS
Q1: Could someone misuse this to plan attacks?
A1: It only computes shortest paths on a toy graph you provide; that is standard graph theory with no exploitation capability. It contains no offensive tooling.
Q2: How would you handle honeypot false positives?
A2: In a real deployment: allow-list known scanners, correlate with other telemetry, and tune alerting. That is future work outside this simulation.
8. COMMON MISTAKE — DO NOT CLAIM
Do not claim the API is production-secure; it has no authentication because it is a local research tool.
9. TRANSITION
Given these limits, here is what I would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PLAIN-ENGLISH EXPLANATION
These are the next steps that would make the project closer to the real world. None of them is built yet.
2. WHAT I SHOULD SAY
All of these are future work. First, more realistic models: directed edges, firewall rules and vulnerability information. Second, stronger placement: formulate it as a set-cover or integer program so redundancy is handled, or use Stackelberg security games where the defender commits first. Third, proper evaluation on many generated topologies without chokepoints, with confidence intervals. Fourth, data from an authorised, isolated lab. Fifth, better explanations like counterfactuals. And only if suitable labelled data exists, carefully validated machine learning.
3. TECHNICAL EXPLANATION
Set-cover view: choose ≤ k nodes so every top-m route contains at least one decoy — NP-hard in general but small instances solve exactly with ILP. Stackelberg games model the defender committing to a (possibly randomised) placement and the attacker best-responding. Directed graphs drop in with nx.DiGraph since the search code only calls neighbors().
4. CONNECTION TO THE CODE
Extension points: simulation_service.graph_from_scenario() already builds graphs from saved data; ai/fitness.py is shared by both optimisers, so a new objective changes both.
6-7. LIKELY FOLLOW-UP QUESTIONS AND SUGGESTED ANSWERS
Q1: Which would you do first?
A1: Reproducible evaluation on generated topologies, because the current 100% result is not informative.
Q2: Why not ML now?
A2: No trustworthy labelled data; an unvalidated model would be worse than an explainable heuristic.
8. COMMON MISTAKE — DO NOT CLAIM
Do not present any future item as partially done.
9. TRANSITION
To conclude.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PLAIN-ENGLISH EXPLANATION
In one sentence: the project predicts where an attacker would go in a simulated network and uses that to decide where to put decoys, and it can explain and test every step.
2. WHAT I SHOULD SAY
To conclude: the problem is that a defender with few honeypots must place them where an attacker will actually go. My solution models the network as a weighted graph, predicts the attacker route with four search algorithms, and places honeypots with a transparent score and two optimisers. It is implemented as a full-stack application with a FastAPI and NetworkX backend, a React interface, a database and Docker, and it is backed by 214 passing automated tests. The contribution is not a claim of beating real systems; it is a clear, explainable pipeline where the defender’s decision follows directly from the attacker’s predicted routes. Thank you — I am happy to take questions.
3. TECHNICAL EXPLANATION
Summary of verified facts: 7 nodes, 9 edges; A* path cost 8; greedy picks Web Server (3.667) and Employee PC (3.333); interception at step 1; Alpha-Beta 35 vs Minimax 69 states; experiment budget 1: none 0%, random 50%, greedy/HC/GA 100%.
4. CONNECTION TO THE CODE
Docs: docs/ARCHITECTURE.md, docs/ALGORITHMS.md, docs/API.md, docs/TESTING.md, docs/PRESENTATION_PROJECT_AUDIT.md.
6-7. LIKELY FOLLOW-UP QUESTIONS AND SUGGESTED ANSWERS
Q1: What did you personally learn?
A1: How search algorithms differ in practice, why admissible heuristics matter, and how to separate algorithms from the API so they can be tested.
Q2: If you had one more month?
A2: Generated benchmark topologies and an exact set-cover placement to compare against the heuristic.
8. COMMON MISTAKE — DO NOT CLAIM
Do not end with "AI detects all attacks". End with what is verified.
9. TRANSITION
References follow; backup slides are available for detailed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PLAIN-ENGLISH EXPLANATION
These are the original sources for the algorithms and ideas used in the project.
2. WHAT I SHOULD SAY
These are the sources: the original papers for Dijkstra’s algorithm, A*, Yen’s k-shortest paths, STRIPS planning and alpha-beta pruning; Holland for genetic algorithms; Sheyner et al. for attack graphs; Spitzner for honeypots; the NetworkX paper; a survey of game-theoretic defensive deception; and Russell and Norvig as the textbook for agents and search.
3. TECHNICAL EXPLANATION
Citation details were checked: Pawlick et al. ACM CSUR 52(4) Art. 82, 2019 (DOI 10.1145/3337772); Yen, Management Science 17(11):712–716 (DOI 10.1287/mnsc.17.11.712); NetworkX SciPy 2008 pp. 11–15; Sheyner et al., IEEE S&amp;P 2002 (DOI 10.1109/SECPRI.2002.1004377) — the MIT Lincoln Laboratory record lists pp. 254–265. Use 254–265 if asked.
4. CONNECTION TO THE CODE
Algorithm-to-reference mapping: ucs.py ↔ Dijkstra; astar.py ↔ Hart et al.; alternative_paths ↔ Yen; planning.py ↔ Fikes &amp; Nilsson; alpha_beta.py ↔ Knuth &amp; Moore; genetic.py ↔ Holland.
6-7. LIKELY FOLLOW-UP QUESTIONS AND SUGGESTED ANSWERS
Q1: Did you implement anything from the attack-graph paper?
A1: Conceptually: modelling the network as a graph of attacker movement. Not their model-checking approach.
8. COMMON MISTAKE — DO NOT CLAIM
Do not cite papers you have not read the abstract of; be ready to say what each one contributes.
9. TRANSITION
Backup slides follow for detailed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PLAIN-ENGLISH EXPLANATION
A cheat sheet of how fast each algorithm is and whether it is guaranteed to find the best answer.
2. WHAT I SHOULD SAY
This table summarises time and space complexity, completeness and optimality for every search algorithm in the project, with the actual number of nodes explored on the built-in network.
3. TECHNICAL EXPLANATION
Complete = finds a solution if one exists. BFS/UCS/A* store each node at most once in best_cost/visited. Alpha-Beta best case O(b^(d/2)) requires perfect move ordering; the actual saving here is 69 → 35.
4. CONNECTION TO THE CODE
ai/bfs.py, dfs.py, ucs.py, astar.py, minimax.py, alpha_beta.py; Yen via nx.shortest_simple_paths in simulation_service.alternative_paths.
6-7. LIKELY FOLLOW-UP QUESTIONS AND SUGGESTED ANSWERS
Q1: Is A* always faster than UCS?
A1: No. With an uninformative heuristic it explores the same nodes, as here (7 vs 7). With h = 0 it is exactly UCS.
8. COMMON MISTAKE — DO NOT CLAIM
Do not quote Alpha-Beta best case as the observed result.
9. TRANSITION
Return to the main flow or continue to the API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PLAIN-ENGLISH EXPLANATION
Every feature in the UI is backed by one of these server addresses.
2. WHAT I SHOULD SAY
These are all implemented endpoints. Interactive documentation is generated by FastAPI at /docs from the Pydantic schemas.
3. TECHNICAL EXPLANATION
All routes are mounted under API_PREFIX=/api (app/config.py). Validation errors come back as FastAPI’s standard 422 detail array.
4. CONNECTION TO THE CODE
backend/app/api/router.py includes health, network, simulation, session, ai, planning, experiments, scenarios routers. docs/API.md.
6-7. LIKELY FOLLOW-UP QUESTIONS AND SUGGESTED ANSWERS
Q1: Is there authentication?
A1: No — it is a local simulation. A real deployment would need it.
8. COMMON MISTAKE — DO NOT CLAIM
Do not mention endpoints that do not exist (e.g. real scanning).
9. TRANSITION
Example input and output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PLAIN-ENGLISH EXPLANATION
What you send to the server and what comes back.
2. WHAT I SHOULD SAY
A request needs only an algorithm; the start, target and budget default to the scenario values. The response contains everything the UI shows.
3. TECHNICAL EXPLANATION
SimulationRequest fields are optional with defaults; honeypot_count is constrained ge=0, le=5; scenario_id ge=1. Response model SimulationResponse.
4. CONNECTION TO THE CODE
backend/app/schemas/simulation.py.
6-7. LIKELY FOLLOW-UP QUESTIONS AND SUGGESTED ANSWERS
Q1: Why include algorithm_comparison?
A1: So the UI and the viva can compare all four algorithms on the same scenario in one call.
8. COMMON MISTAKE — DO NOT CLAIM
None specific.
9. TRANSITION
Bayesian details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PLAIN-ENGLISH EXPLANATION
Start with a guess of how risky each machine is, then update the guess with each clue — "is it on the predicted route?", "is it a decoy?", "is it the target?".
2. WHAT I SHOULD SAY
The Bayesian module starts from a prior based on how connected a host is, and updates it with three pieces of evidence using Bayes’ rule. For example, the Database starts at 0.7 and ends at 0.969 because it is on the predicted route and is the critical asset. These probabilities come from assumed likelihoods, not from real data.
3. TECHNICAL EXPLANATION
Worked example for Web Server: prior 0.7. On path (observed): 0.9·0.7 / (0.9·0.7 + 0.25·0.3) = 0.63/0.705 = 0.894. Not fortified (unobserved → use 1−likelihoods 0.85 / 0.40): 0.85·0.894/(0.85·0.894 + 0.4·0.106) = 0.947. Not critical (0.30 / 0.60): 0.3·0.947/(0.3·0.947 + 0.6·0.053) = 0.899. Route risk assumes independence: 1 − Π(1 − p).
4. CONNECTION TO THE CODE
ai/bayesian.py: Evidence dataclass (validates [0,1]), posterior(), sequential_posterior(), node_prior() (BASE_PRIOR = 0.2), node_risk(), path_risk(). This run used no honeypots, so "fortified" was false for all nodes.
6-7. LIKELY FOLLOW-UP QUESTIONS AND SUGGESTED ANSWERS
Q1: Is the independence assumption realistic?
A1: No — compromise of adjacent hosts is correlated. It is a simplification, documented in the code and the methodology.
8. COMMON MISTAKE — DO NOT CLAIM
Never present 0.969 as a real probability that a database will be breached.
9. TRANSITION
Game and fitness formulas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PLAIN-ENGLISH EXPLANATION
The game scores positions from the attacker’s point of view; the fitness scores a whole set of decoys from the defender’s point of view.
2. WHAT I SHOULD SAY
The game utility rewards attacker progress and compromised hosts and penalises protection and cost; terminal states dominate at ±50. The fitness function used by both optimisers rewards route coverage most, then proximity, criticality and connectivity, and subtracts normalised cost.
3. TECHNICAL EXPLANATION
All fitness terms are normalised to about [0, 1] before weighting, so weights read as relative importance. Hill Climbing neighbours stay feasible (≤ budget); GA repairs individuals to exactly k genes.
4. CONNECTION TO THE CODE
UtilityWeights(progress=10, compromise=2, protection=4, deception=50, cost=0.5); FitnessWeights(coverage=4, proximity=2, criticality=1, deception=1.5, cost=1).
6-7. LIKELY FOLLOW-UP QUESTIONS AND SUGGESTED ANSWERS
Q1: Why does coverage have the highest weight?
A1: Intercepting routes is the primary goal; the other terms break ties.
8. COMMON MISTAKE — DO NOT CLAIM
Do not claim these weights were tuned on data.
9. TRANSITION
Planning details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PLAIN-ENGLISH EXPLANATION
Planning means finding a list of defensive actions that reaches a goal state, like a to-do list that guarantees the database is protected.
2. WHAT I SHOULD SAY
The planning module uses STRIPS-style actions with preconditions, add-effects and delete-effects. Forward search starts from the current state; backward regression starts from the goal. Both find the same three-action plan of cost 7, but backward search explores only 5 states versus 48.
3. TECHNICAL EXPLANATION
States are sets of ground literals; goals are literal sets. The honeypot budget is enforced by counting honeypot(...) literals. Both planners use a FIFO deque (BFS over plan length) with MAX_EXPLORED_STATES = 20000 and a depth limit.
4. CONNECTION TO THE CODE
ai/planning.py: Action dataclass, DefenseDomain.actions(), build_goal(), forward_plan(), backward_plan(), validate_plan(). app/services/planning_service.py; POST /api/planning/plan.
6-7. LIKELY FOLLOW-UP QUESTIONS AND SUGGESTED ANSWERS
Q1: Why is backward search cheaper here?
A1: The goal mentions few literals, so regressing from it branches much less than enumerating every applicable action forward.
8. COMMON MISTAKE — DO NOT CLAIM
Do not say the plan is cost-optimal.
9. TRANSITION
Testing evidence and demo commands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PLAIN-ENGLISH EXPLANATION
The exact commands to start the project and prove it works.
2. WHAT I SHOULD SAY
If asked to demonstrate, I start the Docker stack or the local servers, confirm the health endpoint, and run the test suites. The quickest live demo is Attack Path Analysis with A*.
3. TECHNICAL EXPLANATION
If port 5432 is already in use on the host, set POSTGRES_PORT to another value; the backend talks to db over the Compose network. On Windows, Vite inside Docker may not hot-reload; restart the frontend container after code changes.
4. CONNECTION TO THE CODE
docs/DEPLOYMENT.md, docs/TESTING.md, README.md.
6-7. LIKELY FOLLOW-UP QUESTIONS AND SUGGESTED ANSWERS
Q1: What if the backend is down during the demo?
A1: The header shows "API unreachable · retry" and pages show an error panel; restart the backend and press retry.
8. COMMON MISTAKE — DO NOT CLAIM
Do not claim a cloud URL exists.
9. TRANSITION
Final backup: assumptions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PLAIN-ENGLISH EXPLANATION
Every model makes assumptions; this lists them so nobody mistakes them for facts.
2. WHAT I SHOULD SAY
This is the full list of modelling assumptions, where each lives in the code, and what would change if it were wrong.
3. TECHNICAL EXPLANATION
Sensitivity analysis over these parameters is listed as future work under explainability.
4. CONNECTION TO THE CODE
See the files in the middle column.
6-7. LIKELY FOLLOW-UP QUESTIONS AND SUGGESTED ANSWERS
Q1: Which assumption matters most?
A1: The rational, fully informed attacker — real attackers explore and make mistakes, so alternative routes and coverage matter.
8. COMMON MISTAKE — DO NOT CLAIM
Do not defend assumptions as facts.
9. TRANSITION
End of backup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rtlCol="0" anchor="ctr"/>
          <a:lstStyle/>
          <a:p>
            <a:pPr indent="0" marL="0">
              <a:buNone/>
            </a:pPr>
            <a:r>
              <a:rPr lang="en-US" sz="1000" dirty="0">
                <a:solidFill>
                  <a:schemeClr val="bg2"/>
                </a:solidFill>
              </a:rPr>
              <a:t>Cyber Deception AI  ·  Chidwilas Routhu  ·  24BYB0092</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ACKUP">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rtlCol="0" anchor="ctr"/>
          <a:lstStyle/>
          <a:p>
            <a:pPr indent="0" marL="0">
              <a:buNone/>
            </a:pPr>
            <a:r>
              <a:rPr lang="en-US" sz="1000" dirty="0">
                <a:solidFill>
                  <a:schemeClr val="bg2"/>
                </a:solidFill>
              </a:rPr>
              <a:t>Cyber Deception AI  ·  Chidwilas Routhu  ·  24BYB0092</a:t>
            </a:r>
            <a:endParaRPr lang="en-US" sz="1000" dirty="0"/>
          </a:p>
        </p:txBody>
      </p:sp>
      <p:sp>
        <p:nvSpPr>
          <p:cNvPr id="3" name="Text 1"/>
          <p:cNvSpPr/>
          <p:nvPr/>
        </p:nvSpPr>
        <p:spPr>
          <a:xfrm>
            <a:off x="9966960" y="109728"/>
            <a:ext cx="1645920" cy="228600"/>
          </a:xfrm>
          <a:prstGeom prst="rect">
            <a:avLst/>
          </a:prstGeom>
          <a:noFill/>
          <a:ln/>
        </p:spPr>
        <p:txBody>
          <a:bodyPr wrap="square" rtlCol="0" anchor="ctr"/>
          <a:lstStyle/>
          <a:p>
            <a:pPr algn="r" indent="0" marL="0">
              <a:buNone/>
            </a:pPr>
            <a:r>
              <a:rPr lang="en-US" sz="1000" b="1" dirty="0">
                <a:solidFill>
                  <a:schemeClr val="accent3"/>
                </a:solidFill>
                <a:latin typeface="Courier New" pitchFamily="34" charset="0"/>
                <a:ea typeface="Courier New" pitchFamily="34" charset="-122"/>
                <a:cs typeface="Courier New" pitchFamily="34" charset="-120"/>
              </a:rPr>
              <a:t>BACKUP</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912864" y="2788920"/>
            <a:ext cx="1092708" cy="914"/>
          </a:xfrm>
          <a:prstGeom prst="line">
            <a:avLst/>
          </a:prstGeom>
          <a:noFill/>
          <a:ln w="31750">
            <a:solidFill>
              <a:schemeClr val="accent1"/>
            </a:solidFill>
            <a:prstDash val="solid"/>
          </a:ln>
        </p:spPr>
      </p:sp>
      <p:sp>
        <p:nvSpPr>
          <p:cNvPr id="3" name="Shape 1"/>
          <p:cNvSpPr/>
          <p:nvPr/>
        </p:nvSpPr>
        <p:spPr>
          <a:xfrm flipV="1">
            <a:off x="8005572" y="1399032"/>
            <a:ext cx="1092708" cy="1389888"/>
          </a:xfrm>
          <a:prstGeom prst="line">
            <a:avLst/>
          </a:prstGeom>
          <a:noFill/>
          <a:ln w="31750">
            <a:solidFill>
              <a:schemeClr val="accent1"/>
            </a:solidFill>
            <a:prstDash val="solid"/>
          </a:ln>
        </p:spPr>
      </p:sp>
      <p:sp>
        <p:nvSpPr>
          <p:cNvPr id="4" name="Shape 2"/>
          <p:cNvSpPr/>
          <p:nvPr/>
        </p:nvSpPr>
        <p:spPr>
          <a:xfrm>
            <a:off x="8005572" y="2788920"/>
            <a:ext cx="1092708" cy="1389888"/>
          </a:xfrm>
          <a:prstGeom prst="line">
            <a:avLst/>
          </a:prstGeom>
          <a:noFill/>
          <a:ln w="15875">
            <a:solidFill>
              <a:schemeClr val="accent6"/>
            </a:solidFill>
            <a:prstDash val="solid"/>
          </a:ln>
        </p:spPr>
      </p:sp>
      <p:sp>
        <p:nvSpPr>
          <p:cNvPr id="5" name="Shape 3"/>
          <p:cNvSpPr/>
          <p:nvPr/>
        </p:nvSpPr>
        <p:spPr>
          <a:xfrm>
            <a:off x="9098280" y="1399032"/>
            <a:ext cx="2185416" cy="1389888"/>
          </a:xfrm>
          <a:prstGeom prst="line">
            <a:avLst/>
          </a:prstGeom>
          <a:noFill/>
          <a:ln w="31750">
            <a:solidFill>
              <a:schemeClr val="accent1"/>
            </a:solidFill>
            <a:prstDash val="solid"/>
          </a:ln>
        </p:spPr>
      </p:sp>
      <p:sp>
        <p:nvSpPr>
          <p:cNvPr id="6" name="Shape 4"/>
          <p:cNvSpPr/>
          <p:nvPr/>
        </p:nvSpPr>
        <p:spPr>
          <a:xfrm>
            <a:off x="9098280" y="1399032"/>
            <a:ext cx="1092708" cy="914"/>
          </a:xfrm>
          <a:prstGeom prst="line">
            <a:avLst/>
          </a:prstGeom>
          <a:noFill/>
          <a:ln w="15875">
            <a:solidFill>
              <a:schemeClr val="accent6"/>
            </a:solidFill>
            <a:prstDash val="solid"/>
          </a:ln>
        </p:spPr>
      </p:sp>
      <p:sp>
        <p:nvSpPr>
          <p:cNvPr id="7" name="Shape 5"/>
          <p:cNvSpPr/>
          <p:nvPr/>
        </p:nvSpPr>
        <p:spPr>
          <a:xfrm>
            <a:off x="9098280" y="4178808"/>
            <a:ext cx="1092708" cy="914"/>
          </a:xfrm>
          <a:prstGeom prst="line">
            <a:avLst/>
          </a:prstGeom>
          <a:noFill/>
          <a:ln w="15875">
            <a:solidFill>
              <a:schemeClr val="accent6"/>
            </a:solidFill>
            <a:prstDash val="solid"/>
          </a:ln>
        </p:spPr>
      </p:sp>
      <p:sp>
        <p:nvSpPr>
          <p:cNvPr id="8" name="Shape 6"/>
          <p:cNvSpPr/>
          <p:nvPr/>
        </p:nvSpPr>
        <p:spPr>
          <a:xfrm flipV="1">
            <a:off x="10190988" y="2788920"/>
            <a:ext cx="1092708" cy="1389888"/>
          </a:xfrm>
          <a:prstGeom prst="line">
            <a:avLst/>
          </a:prstGeom>
          <a:noFill/>
          <a:ln w="15875">
            <a:solidFill>
              <a:schemeClr val="accent6"/>
            </a:solidFill>
            <a:prstDash val="solid"/>
          </a:ln>
        </p:spPr>
      </p:sp>
      <p:sp>
        <p:nvSpPr>
          <p:cNvPr id="9" name="Shape 7"/>
          <p:cNvSpPr/>
          <p:nvPr/>
        </p:nvSpPr>
        <p:spPr>
          <a:xfrm>
            <a:off x="10190988" y="1399032"/>
            <a:ext cx="1092708" cy="1389888"/>
          </a:xfrm>
          <a:prstGeom prst="line">
            <a:avLst/>
          </a:prstGeom>
          <a:noFill/>
          <a:ln w="15875">
            <a:solidFill>
              <a:schemeClr val="accent6"/>
            </a:solidFill>
            <a:prstDash val="solid"/>
          </a:ln>
        </p:spPr>
      </p:sp>
      <p:sp>
        <p:nvSpPr>
          <p:cNvPr id="10" name="Shape 8"/>
          <p:cNvSpPr/>
          <p:nvPr/>
        </p:nvSpPr>
        <p:spPr>
          <a:xfrm flipV="1">
            <a:off x="9098280" y="1399032"/>
            <a:ext cx="1092708" cy="2779776"/>
          </a:xfrm>
          <a:prstGeom prst="line">
            <a:avLst/>
          </a:prstGeom>
          <a:noFill/>
          <a:ln w="15875">
            <a:solidFill>
              <a:schemeClr val="accent6"/>
            </a:solidFill>
            <a:prstDash val="solid"/>
          </a:ln>
        </p:spPr>
      </p:sp>
      <p:sp>
        <p:nvSpPr>
          <p:cNvPr id="11" name="Shape 9"/>
          <p:cNvSpPr/>
          <p:nvPr/>
        </p:nvSpPr>
        <p:spPr>
          <a:xfrm>
            <a:off x="6400800" y="2578608"/>
            <a:ext cx="1024128" cy="420624"/>
          </a:xfrm>
          <a:prstGeom prst="roundRect">
            <a:avLst>
              <a:gd name="adj" fmla="val 10870"/>
            </a:avLst>
          </a:prstGeom>
          <a:solidFill>
            <a:schemeClr val="tx2"/>
          </a:solidFill>
          <a:ln w="22225">
            <a:solidFill>
              <a:schemeClr val="accent1"/>
            </a:solidFill>
            <a:prstDash val="solid"/>
          </a:ln>
        </p:spPr>
      </p:sp>
      <p:sp>
        <p:nvSpPr>
          <p:cNvPr id="12" name="Text 10"/>
          <p:cNvSpPr txBox="1"/>
          <p:nvPr/>
        </p:nvSpPr>
        <p:spPr>
          <a:xfrm>
            <a:off x="6473952" y="2624328"/>
            <a:ext cx="877824" cy="219456"/>
          </a:xfrm>
          <a:prstGeom prst="rect">
            <a:avLst/>
          </a:prstGeom>
          <a:noFill/>
          <a:ln/>
        </p:spPr>
        <p:txBody>
          <a:bodyPr wrap="square" lIns="0" tIns="0" rIns="0" bIns="0" rtlCol="0" anchor="t"/>
          <a:lstStyle/>
          <a:p>
            <a:pPr indent="0" marL="0">
              <a:buNone/>
            </a:pPr>
            <a:r>
              <a:rPr lang="en-US" sz="1000" b="1" dirty="0">
                <a:solidFill>
                  <a:schemeClr val="bg1"/>
                </a:solidFill>
              </a:rPr>
              <a:t>Internet</a:t>
            </a:r>
            <a:endParaRPr lang="en-US" sz="1000" dirty="0"/>
          </a:p>
        </p:txBody>
      </p:sp>
      <p:sp>
        <p:nvSpPr>
          <p:cNvPr id="13" name="Text 11"/>
          <p:cNvSpPr txBox="1"/>
          <p:nvPr/>
        </p:nvSpPr>
        <p:spPr>
          <a:xfrm>
            <a:off x="6473952" y="2834640"/>
            <a:ext cx="877824" cy="164592"/>
          </a:xfrm>
          <a:prstGeom prst="rect">
            <a:avLst/>
          </a:prstGeom>
          <a:noFill/>
          <a:ln/>
        </p:spPr>
        <p:txBody>
          <a:bodyPr wrap="square" lIns="0" tIns="0" rIns="0" bIns="0" rtlCol="0" anchor="t"/>
          <a:lstStyle/>
          <a:p>
            <a:pPr indent="0" marL="0">
              <a:buNone/>
            </a:pPr>
            <a:r>
              <a:rPr lang="en-US" sz="800" dirty="0">
                <a:solidFill>
                  <a:schemeClr val="bg2"/>
                </a:solidFill>
                <a:latin typeface="Courier New" pitchFamily="34" charset="0"/>
                <a:ea typeface="Courier New" pitchFamily="34" charset="-122"/>
                <a:cs typeface="Courier New" pitchFamily="34" charset="-120"/>
              </a:rPr>
              <a:t>ENTRY</a:t>
            </a:r>
            <a:endParaRPr lang="en-US" sz="800" dirty="0"/>
          </a:p>
        </p:txBody>
      </p:sp>
      <p:sp>
        <p:nvSpPr>
          <p:cNvPr id="14" name="Shape 12"/>
          <p:cNvSpPr/>
          <p:nvPr/>
        </p:nvSpPr>
        <p:spPr>
          <a:xfrm>
            <a:off x="7493508" y="2578608"/>
            <a:ext cx="1024128" cy="420624"/>
          </a:xfrm>
          <a:prstGeom prst="roundRect">
            <a:avLst>
              <a:gd name="adj" fmla="val 10870"/>
            </a:avLst>
          </a:prstGeom>
          <a:solidFill>
            <a:schemeClr val="tx2"/>
          </a:solidFill>
          <a:ln w="22225">
            <a:solidFill>
              <a:schemeClr val="accent1"/>
            </a:solidFill>
            <a:prstDash val="solid"/>
          </a:ln>
        </p:spPr>
      </p:sp>
      <p:sp>
        <p:nvSpPr>
          <p:cNvPr id="15" name="Text 13"/>
          <p:cNvSpPr txBox="1"/>
          <p:nvPr/>
        </p:nvSpPr>
        <p:spPr>
          <a:xfrm>
            <a:off x="7566660" y="2624328"/>
            <a:ext cx="877824" cy="219456"/>
          </a:xfrm>
          <a:prstGeom prst="rect">
            <a:avLst/>
          </a:prstGeom>
          <a:noFill/>
          <a:ln/>
        </p:spPr>
        <p:txBody>
          <a:bodyPr wrap="square" lIns="0" tIns="0" rIns="0" bIns="0" rtlCol="0" anchor="t"/>
          <a:lstStyle/>
          <a:p>
            <a:pPr indent="0" marL="0">
              <a:buNone/>
            </a:pPr>
            <a:r>
              <a:rPr lang="en-US" sz="1000" b="1" dirty="0">
                <a:solidFill>
                  <a:schemeClr val="bg1"/>
                </a:solidFill>
              </a:rPr>
              <a:t>Web Server</a:t>
            </a:r>
            <a:endParaRPr lang="en-US" sz="1000" dirty="0"/>
          </a:p>
        </p:txBody>
      </p:sp>
      <p:sp>
        <p:nvSpPr>
          <p:cNvPr id="16" name="Text 14"/>
          <p:cNvSpPr txBox="1"/>
          <p:nvPr/>
        </p:nvSpPr>
        <p:spPr>
          <a:xfrm>
            <a:off x="7566660" y="2834640"/>
            <a:ext cx="877824" cy="164592"/>
          </a:xfrm>
          <a:prstGeom prst="rect">
            <a:avLst/>
          </a:prstGeom>
          <a:noFill/>
          <a:ln/>
        </p:spPr>
        <p:txBody>
          <a:bodyPr wrap="square" lIns="0" tIns="0" rIns="0" bIns="0" rtlCol="0" anchor="t"/>
          <a:lstStyle/>
          <a:p>
            <a:pPr indent="0" marL="0">
              <a:buNone/>
            </a:pPr>
            <a:r>
              <a:rPr lang="en-US" sz="800" dirty="0">
                <a:solidFill>
                  <a:schemeClr val="accent3"/>
                </a:solidFill>
                <a:latin typeface="Courier New" pitchFamily="34" charset="0"/>
                <a:ea typeface="Courier New" pitchFamily="34" charset="-122"/>
                <a:cs typeface="Courier New" pitchFamily="34" charset="-120"/>
              </a:rPr>
              <a:t>DECOY</a:t>
            </a:r>
            <a:endParaRPr lang="en-US" sz="800" dirty="0"/>
          </a:p>
        </p:txBody>
      </p:sp>
      <p:sp>
        <p:nvSpPr>
          <p:cNvPr id="17" name="Shape 15"/>
          <p:cNvSpPr/>
          <p:nvPr/>
        </p:nvSpPr>
        <p:spPr>
          <a:xfrm>
            <a:off x="8586216" y="1188720"/>
            <a:ext cx="1024128" cy="420624"/>
          </a:xfrm>
          <a:prstGeom prst="roundRect">
            <a:avLst>
              <a:gd name="adj" fmla="val 10870"/>
            </a:avLst>
          </a:prstGeom>
          <a:solidFill>
            <a:schemeClr val="tx2"/>
          </a:solidFill>
          <a:ln w="22225">
            <a:solidFill>
              <a:schemeClr val="accent1"/>
            </a:solidFill>
            <a:prstDash val="solid"/>
          </a:ln>
        </p:spPr>
      </p:sp>
      <p:sp>
        <p:nvSpPr>
          <p:cNvPr id="18" name="Text 16"/>
          <p:cNvSpPr txBox="1"/>
          <p:nvPr/>
        </p:nvSpPr>
        <p:spPr>
          <a:xfrm>
            <a:off x="8659368" y="1234440"/>
            <a:ext cx="877824" cy="219456"/>
          </a:xfrm>
          <a:prstGeom prst="rect">
            <a:avLst/>
          </a:prstGeom>
          <a:noFill/>
          <a:ln/>
        </p:spPr>
        <p:txBody>
          <a:bodyPr wrap="square" lIns="0" tIns="0" rIns="0" bIns="0" rtlCol="0" anchor="t"/>
          <a:lstStyle/>
          <a:p>
            <a:pPr indent="0" marL="0">
              <a:buNone/>
            </a:pPr>
            <a:r>
              <a:rPr lang="en-US" sz="1000" b="1" dirty="0">
                <a:solidFill>
                  <a:schemeClr val="bg1"/>
                </a:solidFill>
              </a:rPr>
              <a:t>App Server</a:t>
            </a:r>
            <a:endParaRPr lang="en-US" sz="1000" dirty="0"/>
          </a:p>
        </p:txBody>
      </p:sp>
      <p:sp>
        <p:nvSpPr>
          <p:cNvPr id="19" name="Text 17"/>
          <p:cNvSpPr txBox="1"/>
          <p:nvPr/>
        </p:nvSpPr>
        <p:spPr>
          <a:xfrm>
            <a:off x="8659368" y="1444752"/>
            <a:ext cx="877824" cy="164592"/>
          </a:xfrm>
          <a:prstGeom prst="rect">
            <a:avLst/>
          </a:prstGeom>
          <a:noFill/>
          <a:ln/>
        </p:spPr>
        <p:txBody>
          <a:bodyPr wrap="square" lIns="0" tIns="0" rIns="0" bIns="0" rtlCol="0" anchor="t"/>
          <a:lstStyle/>
          <a:p>
            <a:pPr indent="0" marL="0">
              <a:buNone/>
            </a:pPr>
            <a:r>
              <a:rPr lang="en-US" sz="800" dirty="0">
                <a:solidFill>
                  <a:schemeClr val="bg2"/>
                </a:solidFill>
                <a:latin typeface="Courier New" pitchFamily="34" charset="0"/>
                <a:ea typeface="Courier New" pitchFamily="34" charset="-122"/>
                <a:cs typeface="Courier New" pitchFamily="34" charset="-120"/>
              </a:rPr>
              <a:t>CANDIDATE</a:t>
            </a:r>
            <a:endParaRPr lang="en-US" sz="800" dirty="0"/>
          </a:p>
        </p:txBody>
      </p:sp>
      <p:sp>
        <p:nvSpPr>
          <p:cNvPr id="20" name="Shape 18"/>
          <p:cNvSpPr/>
          <p:nvPr/>
        </p:nvSpPr>
        <p:spPr>
          <a:xfrm>
            <a:off x="8586216" y="3968496"/>
            <a:ext cx="1024128" cy="420624"/>
          </a:xfrm>
          <a:prstGeom prst="roundRect">
            <a:avLst>
              <a:gd name="adj" fmla="val 10870"/>
            </a:avLst>
          </a:prstGeom>
          <a:solidFill>
            <a:schemeClr val="tx2"/>
          </a:solidFill>
          <a:ln w="22225">
            <a:solidFill>
              <a:schemeClr val="accent3"/>
            </a:solidFill>
            <a:prstDash val="solid"/>
          </a:ln>
        </p:spPr>
      </p:sp>
      <p:sp>
        <p:nvSpPr>
          <p:cNvPr id="21" name="Text 19"/>
          <p:cNvSpPr txBox="1"/>
          <p:nvPr/>
        </p:nvSpPr>
        <p:spPr>
          <a:xfrm>
            <a:off x="8659368" y="4014216"/>
            <a:ext cx="877824" cy="219456"/>
          </a:xfrm>
          <a:prstGeom prst="rect">
            <a:avLst/>
          </a:prstGeom>
          <a:noFill/>
          <a:ln/>
        </p:spPr>
        <p:txBody>
          <a:bodyPr wrap="square" lIns="0" tIns="0" rIns="0" bIns="0" rtlCol="0" anchor="t"/>
          <a:lstStyle/>
          <a:p>
            <a:pPr indent="0" marL="0">
              <a:buNone/>
            </a:pPr>
            <a:r>
              <a:rPr lang="en-US" sz="1000" b="1" dirty="0">
                <a:solidFill>
                  <a:schemeClr val="bg1"/>
                </a:solidFill>
              </a:rPr>
              <a:t>Employee PC</a:t>
            </a:r>
            <a:endParaRPr lang="en-US" sz="1000" dirty="0"/>
          </a:p>
        </p:txBody>
      </p:sp>
      <p:sp>
        <p:nvSpPr>
          <p:cNvPr id="22" name="Text 20"/>
          <p:cNvSpPr txBox="1"/>
          <p:nvPr/>
        </p:nvSpPr>
        <p:spPr>
          <a:xfrm>
            <a:off x="8659368" y="4224528"/>
            <a:ext cx="877824" cy="164592"/>
          </a:xfrm>
          <a:prstGeom prst="rect">
            <a:avLst/>
          </a:prstGeom>
          <a:noFill/>
          <a:ln/>
        </p:spPr>
        <p:txBody>
          <a:bodyPr wrap="square" lIns="0" tIns="0" rIns="0" bIns="0" rtlCol="0" anchor="t"/>
          <a:lstStyle/>
          <a:p>
            <a:pPr indent="0" marL="0">
              <a:buNone/>
            </a:pPr>
            <a:r>
              <a:rPr lang="en-US" sz="800" dirty="0">
                <a:solidFill>
                  <a:schemeClr val="accent3"/>
                </a:solidFill>
                <a:latin typeface="Courier New" pitchFamily="34" charset="0"/>
                <a:ea typeface="Courier New" pitchFamily="34" charset="-122"/>
                <a:cs typeface="Courier New" pitchFamily="34" charset="-120"/>
              </a:rPr>
              <a:t>DECOY</a:t>
            </a:r>
            <a:endParaRPr lang="en-US" sz="800" dirty="0"/>
          </a:p>
        </p:txBody>
      </p:sp>
      <p:sp>
        <p:nvSpPr>
          <p:cNvPr id="23" name="Shape 21"/>
          <p:cNvSpPr/>
          <p:nvPr/>
        </p:nvSpPr>
        <p:spPr>
          <a:xfrm>
            <a:off x="9678924" y="1188720"/>
            <a:ext cx="1024128" cy="420624"/>
          </a:xfrm>
          <a:prstGeom prst="roundRect">
            <a:avLst>
              <a:gd name="adj" fmla="val 10870"/>
            </a:avLst>
          </a:prstGeom>
          <a:solidFill>
            <a:schemeClr val="tx2"/>
          </a:solidFill>
          <a:ln w="12700">
            <a:solidFill>
              <a:schemeClr val="accent6"/>
            </a:solidFill>
            <a:prstDash val="solid"/>
          </a:ln>
        </p:spPr>
      </p:sp>
      <p:sp>
        <p:nvSpPr>
          <p:cNvPr id="24" name="Text 22"/>
          <p:cNvSpPr txBox="1"/>
          <p:nvPr/>
        </p:nvSpPr>
        <p:spPr>
          <a:xfrm>
            <a:off x="9752076" y="1234440"/>
            <a:ext cx="877824" cy="219456"/>
          </a:xfrm>
          <a:prstGeom prst="rect">
            <a:avLst/>
          </a:prstGeom>
          <a:noFill/>
          <a:ln/>
        </p:spPr>
        <p:txBody>
          <a:bodyPr wrap="square" lIns="0" tIns="0" rIns="0" bIns="0" rtlCol="0" anchor="t"/>
          <a:lstStyle/>
          <a:p>
            <a:pPr indent="0" marL="0">
              <a:buNone/>
            </a:pPr>
            <a:r>
              <a:rPr lang="en-US" sz="1000" b="1" dirty="0">
                <a:solidFill>
                  <a:schemeClr val="bg1"/>
                </a:solidFill>
              </a:rPr>
              <a:t>File Server</a:t>
            </a:r>
            <a:endParaRPr lang="en-US" sz="1000" dirty="0"/>
          </a:p>
        </p:txBody>
      </p:sp>
      <p:sp>
        <p:nvSpPr>
          <p:cNvPr id="25" name="Text 23"/>
          <p:cNvSpPr txBox="1"/>
          <p:nvPr/>
        </p:nvSpPr>
        <p:spPr>
          <a:xfrm>
            <a:off x="9752076" y="1444752"/>
            <a:ext cx="877824" cy="164592"/>
          </a:xfrm>
          <a:prstGeom prst="rect">
            <a:avLst/>
          </a:prstGeom>
          <a:noFill/>
          <a:ln/>
        </p:spPr>
        <p:txBody>
          <a:bodyPr wrap="square" lIns="0" tIns="0" rIns="0" bIns="0" rtlCol="0" anchor="t"/>
          <a:lstStyle/>
          <a:p>
            <a:pPr indent="0" marL="0">
              <a:buNone/>
            </a:pPr>
            <a:r>
              <a:rPr lang="en-US" sz="800" dirty="0">
                <a:solidFill>
                  <a:schemeClr val="bg2"/>
                </a:solidFill>
                <a:latin typeface="Courier New" pitchFamily="34" charset="0"/>
                <a:ea typeface="Courier New" pitchFamily="34" charset="-122"/>
                <a:cs typeface="Courier New" pitchFamily="34" charset="-120"/>
              </a:rPr>
              <a:t>CANDIDATE</a:t>
            </a:r>
            <a:endParaRPr lang="en-US" sz="800" dirty="0"/>
          </a:p>
        </p:txBody>
      </p:sp>
      <p:sp>
        <p:nvSpPr>
          <p:cNvPr id="26" name="Shape 24"/>
          <p:cNvSpPr/>
          <p:nvPr/>
        </p:nvSpPr>
        <p:spPr>
          <a:xfrm>
            <a:off x="9678924" y="3968496"/>
            <a:ext cx="1024128" cy="420624"/>
          </a:xfrm>
          <a:prstGeom prst="roundRect">
            <a:avLst>
              <a:gd name="adj" fmla="val 10870"/>
            </a:avLst>
          </a:prstGeom>
          <a:solidFill>
            <a:schemeClr val="tx2"/>
          </a:solidFill>
          <a:ln w="12700">
            <a:solidFill>
              <a:schemeClr val="accent6"/>
            </a:solidFill>
            <a:prstDash val="solid"/>
          </a:ln>
        </p:spPr>
      </p:sp>
      <p:sp>
        <p:nvSpPr>
          <p:cNvPr id="27" name="Text 25"/>
          <p:cNvSpPr txBox="1"/>
          <p:nvPr/>
        </p:nvSpPr>
        <p:spPr>
          <a:xfrm>
            <a:off x="9752076" y="4014216"/>
            <a:ext cx="877824" cy="219456"/>
          </a:xfrm>
          <a:prstGeom prst="rect">
            <a:avLst/>
          </a:prstGeom>
          <a:noFill/>
          <a:ln/>
        </p:spPr>
        <p:txBody>
          <a:bodyPr wrap="square" lIns="0" tIns="0" rIns="0" bIns="0" rtlCol="0" anchor="t"/>
          <a:lstStyle/>
          <a:p>
            <a:pPr indent="0" marL="0">
              <a:buNone/>
            </a:pPr>
            <a:r>
              <a:rPr lang="en-US" sz="1000" b="1" dirty="0">
                <a:solidFill>
                  <a:schemeClr val="bg1"/>
                </a:solidFill>
              </a:rPr>
              <a:t>Admin PC</a:t>
            </a:r>
            <a:endParaRPr lang="en-US" sz="1000" dirty="0"/>
          </a:p>
        </p:txBody>
      </p:sp>
      <p:sp>
        <p:nvSpPr>
          <p:cNvPr id="28" name="Text 26"/>
          <p:cNvSpPr txBox="1"/>
          <p:nvPr/>
        </p:nvSpPr>
        <p:spPr>
          <a:xfrm>
            <a:off x="9752076" y="4224528"/>
            <a:ext cx="877824" cy="164592"/>
          </a:xfrm>
          <a:prstGeom prst="rect">
            <a:avLst/>
          </a:prstGeom>
          <a:noFill/>
          <a:ln/>
        </p:spPr>
        <p:txBody>
          <a:bodyPr wrap="square" lIns="0" tIns="0" rIns="0" bIns="0" rtlCol="0" anchor="t"/>
          <a:lstStyle/>
          <a:p>
            <a:pPr indent="0" marL="0">
              <a:buNone/>
            </a:pPr>
            <a:r>
              <a:rPr lang="en-US" sz="800" dirty="0">
                <a:solidFill>
                  <a:schemeClr val="bg2"/>
                </a:solidFill>
                <a:latin typeface="Courier New" pitchFamily="34" charset="0"/>
                <a:ea typeface="Courier New" pitchFamily="34" charset="-122"/>
                <a:cs typeface="Courier New" pitchFamily="34" charset="-120"/>
              </a:rPr>
              <a:t>CANDIDATE</a:t>
            </a:r>
            <a:endParaRPr lang="en-US" sz="800" dirty="0"/>
          </a:p>
        </p:txBody>
      </p:sp>
      <p:sp>
        <p:nvSpPr>
          <p:cNvPr id="29" name="Shape 27"/>
          <p:cNvSpPr/>
          <p:nvPr/>
        </p:nvSpPr>
        <p:spPr>
          <a:xfrm>
            <a:off x="10771632" y="2578608"/>
            <a:ext cx="1024128" cy="420624"/>
          </a:xfrm>
          <a:prstGeom prst="roundRect">
            <a:avLst>
              <a:gd name="adj" fmla="val 10870"/>
            </a:avLst>
          </a:prstGeom>
          <a:solidFill>
            <a:schemeClr val="tx2"/>
          </a:solidFill>
          <a:ln w="22225">
            <a:solidFill>
              <a:schemeClr val="accent1"/>
            </a:solidFill>
            <a:prstDash val="solid"/>
          </a:ln>
        </p:spPr>
      </p:sp>
      <p:sp>
        <p:nvSpPr>
          <p:cNvPr id="30" name="Text 28"/>
          <p:cNvSpPr txBox="1"/>
          <p:nvPr/>
        </p:nvSpPr>
        <p:spPr>
          <a:xfrm>
            <a:off x="10844784" y="2624328"/>
            <a:ext cx="877824" cy="219456"/>
          </a:xfrm>
          <a:prstGeom prst="rect">
            <a:avLst/>
          </a:prstGeom>
          <a:noFill/>
          <a:ln/>
        </p:spPr>
        <p:txBody>
          <a:bodyPr wrap="square" lIns="0" tIns="0" rIns="0" bIns="0" rtlCol="0" anchor="t"/>
          <a:lstStyle/>
          <a:p>
            <a:pPr indent="0" marL="0">
              <a:buNone/>
            </a:pPr>
            <a:r>
              <a:rPr lang="en-US" sz="1000" b="1" dirty="0">
                <a:solidFill>
                  <a:schemeClr val="bg1"/>
                </a:solidFill>
              </a:rPr>
              <a:t>Database</a:t>
            </a:r>
            <a:endParaRPr lang="en-US" sz="1000" dirty="0"/>
          </a:p>
        </p:txBody>
      </p:sp>
      <p:sp>
        <p:nvSpPr>
          <p:cNvPr id="31" name="Text 29"/>
          <p:cNvSpPr txBox="1"/>
          <p:nvPr/>
        </p:nvSpPr>
        <p:spPr>
          <a:xfrm>
            <a:off x="10844784" y="2834640"/>
            <a:ext cx="877824" cy="164592"/>
          </a:xfrm>
          <a:prstGeom prst="rect">
            <a:avLst/>
          </a:prstGeom>
          <a:noFill/>
          <a:ln/>
        </p:spPr>
        <p:txBody>
          <a:bodyPr wrap="square" lIns="0" tIns="0" rIns="0" bIns="0" rtlCol="0" anchor="t"/>
          <a:lstStyle/>
          <a:p>
            <a:pPr indent="0" marL="0">
              <a:buNone/>
            </a:pPr>
            <a:r>
              <a:rPr lang="en-US" sz="800" dirty="0">
                <a:solidFill>
                  <a:schemeClr val="accent4"/>
                </a:solidFill>
                <a:latin typeface="Courier New" pitchFamily="34" charset="0"/>
                <a:ea typeface="Courier New" pitchFamily="34" charset="-122"/>
                <a:cs typeface="Courier New" pitchFamily="34" charset="-120"/>
              </a:rPr>
              <a:t>TARGET</a:t>
            </a:r>
            <a:endParaRPr lang="en-US" sz="800" dirty="0"/>
          </a:p>
        </p:txBody>
      </p:sp>
      <p:sp>
        <p:nvSpPr>
          <p:cNvPr id="32" name="Text 30"/>
          <p:cNvSpPr txBox="1"/>
          <p:nvPr/>
        </p:nvSpPr>
        <p:spPr>
          <a:xfrm>
            <a:off x="640080" y="1280160"/>
            <a:ext cx="5486400" cy="228600"/>
          </a:xfrm>
          <a:prstGeom prst="rect">
            <a:avLst/>
          </a:prstGeom>
          <a:noFill/>
          <a:ln/>
        </p:spPr>
        <p:txBody>
          <a:bodyPr wrap="square" lIns="0" tIns="0" rIns="0" bIns="0" rtlCol="0" anchor="t"/>
          <a:lstStyle/>
          <a:p>
            <a:pPr indent="0" marL="0">
              <a:buNone/>
            </a:pPr>
            <a:r>
              <a:rPr lang="en-US" sz="1000" b="1" spc="150" kern="0" dirty="0">
                <a:solidFill>
                  <a:schemeClr val="accent1"/>
                </a:solidFill>
                <a:latin typeface="Courier New" pitchFamily="34" charset="0"/>
                <a:ea typeface="Courier New" pitchFamily="34" charset="-122"/>
                <a:cs typeface="Courier New" pitchFamily="34" charset="-120"/>
              </a:rPr>
              <a:t>CYBERSECURITY · GRAPH ALGORITHMS · CYBER DECEPTION</a:t>
            </a:r>
            <a:endParaRPr lang="en-US" sz="1000" dirty="0"/>
          </a:p>
        </p:txBody>
      </p:sp>
      <p:sp>
        <p:nvSpPr>
          <p:cNvPr id="33" name="Text 31"/>
          <p:cNvSpPr txBox="1"/>
          <p:nvPr/>
        </p:nvSpPr>
        <p:spPr>
          <a:xfrm>
            <a:off x="640080" y="1645920"/>
            <a:ext cx="5760720" cy="1143000"/>
          </a:xfrm>
          <a:prstGeom prst="rect">
            <a:avLst/>
          </a:prstGeom>
          <a:noFill/>
          <a:ln/>
        </p:spPr>
        <p:txBody>
          <a:bodyPr wrap="square" lIns="0" tIns="0" rIns="0" bIns="0" rtlCol="0" anchor="t"/>
          <a:lstStyle/>
          <a:p>
            <a:pPr indent="0" marL="0">
              <a:buNone/>
            </a:pPr>
            <a:r>
              <a:rPr lang="en-US" sz="3200" b="1" dirty="0">
                <a:solidFill>
                  <a:schemeClr val="bg1"/>
                </a:solidFill>
              </a:rPr>
              <a:t>AI-Based Cyber Deception System</a:t>
            </a:r>
            <a:endParaRPr lang="en-US" sz="3200" dirty="0"/>
          </a:p>
        </p:txBody>
      </p:sp>
      <p:sp>
        <p:nvSpPr>
          <p:cNvPr id="34" name="Text 32"/>
          <p:cNvSpPr txBox="1"/>
          <p:nvPr/>
        </p:nvSpPr>
        <p:spPr>
          <a:xfrm>
            <a:off x="640080" y="2834640"/>
            <a:ext cx="5669280" cy="822960"/>
          </a:xfrm>
          <a:prstGeom prst="rect">
            <a:avLst/>
          </a:prstGeom>
          <a:noFill/>
          <a:ln/>
        </p:spPr>
        <p:txBody>
          <a:bodyPr wrap="square" lIns="0" tIns="0" rIns="0" bIns="0" rtlCol="0" anchor="t"/>
          <a:lstStyle/>
          <a:p>
            <a:pPr indent="0" marL="0">
              <a:buNone/>
            </a:pPr>
            <a:r>
              <a:rPr lang="en-US" sz="2000" dirty="0">
                <a:solidFill>
                  <a:schemeClr val="accent2"/>
                </a:solidFill>
              </a:rPr>
              <a:t>for Intelligent Honeypot Placement and Attacker Path Prediction</a:t>
            </a:r>
            <a:endParaRPr lang="en-US" sz="2000" dirty="0"/>
          </a:p>
        </p:txBody>
      </p:sp>
      <p:sp>
        <p:nvSpPr>
          <p:cNvPr id="35" name="Text 33"/>
          <p:cNvSpPr txBox="1"/>
          <p:nvPr/>
        </p:nvSpPr>
        <p:spPr>
          <a:xfrm>
            <a:off x="640080" y="3703320"/>
            <a:ext cx="5486400" cy="320040"/>
          </a:xfrm>
          <a:prstGeom prst="rect">
            <a:avLst/>
          </a:prstGeom>
          <a:noFill/>
          <a:ln/>
        </p:spPr>
        <p:txBody>
          <a:bodyPr wrap="square" lIns="0" tIns="0" rIns="0" bIns="0" rtlCol="0" anchor="t"/>
          <a:lstStyle/>
          <a:p>
            <a:pPr indent="0" marL="0">
              <a:buNone/>
            </a:pPr>
            <a:r>
              <a:rPr lang="en-US" sz="1500" dirty="0">
                <a:solidFill>
                  <a:schemeClr val="bg2"/>
                </a:solidFill>
              </a:rPr>
              <a:t>Project: Cyber Deception AI</a:t>
            </a:r>
            <a:endParaRPr lang="en-US" sz="1500" dirty="0"/>
          </a:p>
        </p:txBody>
      </p:sp>
      <p:sp>
        <p:nvSpPr>
          <p:cNvPr id="36" name="Text 34"/>
          <p:cNvSpPr txBox="1"/>
          <p:nvPr/>
        </p:nvSpPr>
        <p:spPr>
          <a:xfrm>
            <a:off x="640080" y="4434840"/>
            <a:ext cx="5486400" cy="365760"/>
          </a:xfrm>
          <a:prstGeom prst="rect">
            <a:avLst/>
          </a:prstGeom>
          <a:noFill/>
          <a:ln/>
        </p:spPr>
        <p:txBody>
          <a:bodyPr wrap="square" lIns="0" tIns="0" rIns="0" bIns="0" rtlCol="0" anchor="t"/>
          <a:lstStyle/>
          <a:p>
            <a:pPr indent="0" marL="0">
              <a:buNone/>
            </a:pPr>
            <a:r>
              <a:rPr lang="en-US" sz="1800" b="1" dirty="0">
                <a:solidFill>
                  <a:schemeClr val="bg1"/>
                </a:solidFill>
              </a:rPr>
              <a:t>Chidwilas Routhu  ·  24BYB0092</a:t>
            </a:r>
            <a:endParaRPr lang="en-US" sz="1800" dirty="0"/>
          </a:p>
        </p:txBody>
      </p:sp>
      <p:sp>
        <p:nvSpPr>
          <p:cNvPr id="37" name="Text 35"/>
          <p:cNvSpPr txBox="1"/>
          <p:nvPr/>
        </p:nvSpPr>
        <p:spPr>
          <a:xfrm>
            <a:off x="640080" y="4800600"/>
            <a:ext cx="5486400" cy="320040"/>
          </a:xfrm>
          <a:prstGeom prst="rect">
            <a:avLst/>
          </a:prstGeom>
          <a:noFill/>
          <a:ln/>
        </p:spPr>
        <p:txBody>
          <a:bodyPr wrap="square" lIns="0" tIns="0" rIns="0" bIns="0" rtlCol="0" anchor="t"/>
          <a:lstStyle/>
          <a:p>
            <a:pPr indent="0" marL="0">
              <a:buNone/>
            </a:pPr>
            <a:r>
              <a:rPr lang="en-US" sz="1500" dirty="0">
                <a:solidFill>
                  <a:schemeClr val="bg2"/>
                </a:solidFill>
              </a:rPr>
              <a:t>VIT Vellore</a:t>
            </a:r>
            <a:endParaRPr lang="en-US" sz="1500" dirty="0"/>
          </a:p>
        </p:txBody>
      </p:sp>
      <p:sp>
        <p:nvSpPr>
          <p:cNvPr id="38" name="Text 36"/>
          <p:cNvSpPr txBox="1"/>
          <p:nvPr/>
        </p:nvSpPr>
        <p:spPr>
          <a:xfrm>
            <a:off x="6400800" y="4572000"/>
            <a:ext cx="5394960" cy="274320"/>
          </a:xfrm>
          <a:prstGeom prst="rect">
            <a:avLst/>
          </a:prstGeom>
          <a:noFill/>
          <a:ln/>
        </p:spPr>
        <p:txBody>
          <a:bodyPr wrap="square" lIns="0" tIns="0" rIns="0" bIns="0" rtlCol="0" anchor="t"/>
          <a:lstStyle/>
          <a:p>
            <a:pPr indent="0" marL="0">
              <a:buNone/>
            </a:pPr>
            <a:r>
              <a:rPr lang="en-US" sz="1100" i="1" dirty="0">
                <a:solidFill>
                  <a:schemeClr val="bg2"/>
                </a:solidFill>
              </a:rPr>
              <a:t>Figure: the project’s simulated 7-host network. Gold = predicted A* route; amber = honeypots placed by the defender.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bg1"/>
                </a:solidFill>
                <a:latin typeface="Calibri" pitchFamily="34" charset="0"/>
                <a:ea typeface="Calibri" pitchFamily="34" charset="-122"/>
                <a:cs typeface="Calibri" pitchFamily="34" charset="-120"/>
              </a:rPr>
              <a:t>The problem: defenders rarely see the attacker’s route</a:t>
            </a:r>
            <a:endParaRPr lang="en-US" sz="3000" dirty="0"/>
          </a:p>
        </p:txBody>
      </p:sp>
      <p:sp>
        <p:nvSpPr>
          <p:cNvPr id="3" name="Shape 1"/>
          <p:cNvSpPr/>
          <p:nvPr/>
        </p:nvSpPr>
        <p:spPr>
          <a:xfrm>
            <a:off x="548640" y="1325880"/>
            <a:ext cx="5394960" cy="4754880"/>
          </a:xfrm>
          <a:prstGeom prst="roundRect">
            <a:avLst>
              <a:gd name="adj" fmla="val 1154"/>
            </a:avLst>
          </a:prstGeom>
          <a:solidFill>
            <a:schemeClr val="tx2"/>
          </a:solidFill>
          <a:ln w="9525">
            <a:solidFill>
              <a:schemeClr val="accent6"/>
            </a:solidFill>
            <a:prstDash val="solid"/>
          </a:ln>
        </p:spPr>
      </p:sp>
      <p:sp>
        <p:nvSpPr>
          <p:cNvPr id="4" name="Text 2"/>
          <p:cNvSpPr txBox="1"/>
          <p:nvPr/>
        </p:nvSpPr>
        <p:spPr>
          <a:xfrm>
            <a:off x="777240" y="1508760"/>
            <a:ext cx="4937760" cy="228600"/>
          </a:xfrm>
          <a:prstGeom prst="rect">
            <a:avLst/>
          </a:prstGeom>
          <a:noFill/>
          <a:ln/>
        </p:spPr>
        <p:txBody>
          <a:bodyPr wrap="square" lIns="0" tIns="0" rIns="0" bIns="0" rtlCol="0" anchor="t"/>
          <a:lstStyle/>
          <a:p>
            <a:pPr indent="0" marL="0">
              <a:buNone/>
            </a:pPr>
            <a:r>
              <a:rPr lang="en-US" sz="1000" b="1" spc="150" kern="0" dirty="0">
                <a:solidFill>
                  <a:schemeClr val="accent1"/>
                </a:solidFill>
                <a:latin typeface="Courier New" pitchFamily="34" charset="0"/>
                <a:ea typeface="Courier New" pitchFamily="34" charset="-122"/>
                <a:cs typeface="Courier New" pitchFamily="34" charset="-120"/>
              </a:rPr>
              <a:t>WHAT PREVENTION GIVES US</a:t>
            </a:r>
            <a:endParaRPr lang="en-US" sz="1000" dirty="0"/>
          </a:p>
        </p:txBody>
      </p:sp>
      <p:sp>
        <p:nvSpPr>
          <p:cNvPr id="5" name="Text 3"/>
          <p:cNvSpPr txBox="1"/>
          <p:nvPr/>
        </p:nvSpPr>
        <p:spPr>
          <a:xfrm>
            <a:off x="777240" y="1874520"/>
            <a:ext cx="4937760" cy="384048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bg1"/>
                </a:solidFill>
              </a:rPr>
              <a:t>Firewalls, access control and patching reduce the attack surface.</a:t>
            </a:r>
            <a:endParaRPr lang="en-US" sz="1500" dirty="0"/>
          </a:p>
          <a:p>
            <a:pPr marL="203200" indent="-203200">
              <a:spcAft>
                <a:spcPts val="800"/>
              </a:spcAft>
              <a:buSzPct val="100000"/>
              <a:buChar char="•"/>
            </a:pPr>
            <a:r>
              <a:rPr lang="en-US" sz="1500" dirty="0">
                <a:solidFill>
                  <a:schemeClr val="bg1"/>
                </a:solidFill>
              </a:rPr>
              <a:t>But once an attacker is inside, lateral movement is hard to observe.</a:t>
            </a:r>
            <a:endParaRPr lang="en-US" sz="1500" dirty="0"/>
          </a:p>
          <a:p>
            <a:pPr marL="203200" indent="-203200">
              <a:spcAft>
                <a:spcPts val="800"/>
              </a:spcAft>
              <a:buSzPct val="100000"/>
              <a:buChar char="•"/>
            </a:pPr>
            <a:r>
              <a:rPr lang="en-US" sz="1500" dirty="0">
                <a:solidFill>
                  <a:schemeClr val="bg1"/>
                </a:solidFill>
              </a:rPr>
              <a:t>Alerts are noisy; legitimate traffic and attacker traffic look similar.</a:t>
            </a:r>
            <a:endParaRPr lang="en-US" sz="1500" dirty="0"/>
          </a:p>
          <a:p>
            <a:pPr marL="203200" indent="-203200">
              <a:spcAft>
                <a:spcPts val="800"/>
              </a:spcAft>
              <a:buSzPct val="100000"/>
              <a:buChar char="•"/>
            </a:pPr>
            <a:r>
              <a:rPr lang="en-US" sz="1500" dirty="0">
                <a:solidFill>
                  <a:schemeClr val="bg1"/>
                </a:solidFill>
              </a:rPr>
              <a:t>Defenders have limited budget for extra monitoring and decoys.</a:t>
            </a:r>
            <a:endParaRPr lang="en-US" sz="1500" dirty="0"/>
          </a:p>
        </p:txBody>
      </p:sp>
      <p:sp>
        <p:nvSpPr>
          <p:cNvPr id="6" name="Shape 4"/>
          <p:cNvSpPr/>
          <p:nvPr/>
        </p:nvSpPr>
        <p:spPr>
          <a:xfrm>
            <a:off x="6263640" y="1325880"/>
            <a:ext cx="5394960" cy="4754880"/>
          </a:xfrm>
          <a:prstGeom prst="roundRect">
            <a:avLst>
              <a:gd name="adj" fmla="val 1154"/>
            </a:avLst>
          </a:prstGeom>
          <a:solidFill>
            <a:schemeClr val="tx2"/>
          </a:solidFill>
          <a:ln w="9525">
            <a:solidFill>
              <a:schemeClr val="accent1"/>
            </a:solidFill>
            <a:prstDash val="solid"/>
          </a:ln>
        </p:spPr>
      </p:sp>
      <p:sp>
        <p:nvSpPr>
          <p:cNvPr id="7" name="Text 5"/>
          <p:cNvSpPr txBox="1"/>
          <p:nvPr/>
        </p:nvSpPr>
        <p:spPr>
          <a:xfrm>
            <a:off x="6492240" y="1508760"/>
            <a:ext cx="4937760" cy="228600"/>
          </a:xfrm>
          <a:prstGeom prst="rect">
            <a:avLst/>
          </a:prstGeom>
          <a:noFill/>
          <a:ln/>
        </p:spPr>
        <p:txBody>
          <a:bodyPr wrap="square" lIns="0" tIns="0" rIns="0" bIns="0" rtlCol="0" anchor="t"/>
          <a:lstStyle/>
          <a:p>
            <a:pPr indent="0" marL="0">
              <a:buNone/>
            </a:pPr>
            <a:r>
              <a:rPr lang="en-US" sz="1000" b="1" spc="150" kern="0" dirty="0">
                <a:solidFill>
                  <a:schemeClr val="accent1"/>
                </a:solidFill>
                <a:latin typeface="Courier New" pitchFamily="34" charset="0"/>
                <a:ea typeface="Courier New" pitchFamily="34" charset="-122"/>
                <a:cs typeface="Courier New" pitchFamily="34" charset="-120"/>
              </a:rPr>
              <a:t>THE QUESTION THIS PROJECT ANSWERS</a:t>
            </a:r>
            <a:endParaRPr lang="en-US" sz="1000" dirty="0"/>
          </a:p>
        </p:txBody>
      </p:sp>
      <p:sp>
        <p:nvSpPr>
          <p:cNvPr id="8" name="Text 6"/>
          <p:cNvSpPr txBox="1"/>
          <p:nvPr/>
        </p:nvSpPr>
        <p:spPr>
          <a:xfrm>
            <a:off x="6492240" y="1874520"/>
            <a:ext cx="4937760" cy="1737360"/>
          </a:xfrm>
          <a:prstGeom prst="rect">
            <a:avLst/>
          </a:prstGeom>
          <a:noFill/>
          <a:ln/>
        </p:spPr>
        <p:txBody>
          <a:bodyPr wrap="square" lIns="0" tIns="0" rIns="0" bIns="0" rtlCol="0" anchor="t"/>
          <a:lstStyle/>
          <a:p>
            <a:pPr indent="0" marL="0">
              <a:buNone/>
            </a:pPr>
            <a:r>
              <a:rPr lang="en-US" sz="1800" dirty="0">
                <a:solidFill>
                  <a:schemeClr val="accent2"/>
                </a:solidFill>
              </a:rPr>
              <a:t>Given a network and a protected asset, which route would an attacker most plausibly take — and where should a limited number of honeypots go so that route is intercepted first?</a:t>
            </a:r>
            <a:endParaRPr lang="en-US" sz="1800" dirty="0"/>
          </a:p>
        </p:txBody>
      </p:sp>
      <p:sp>
        <p:nvSpPr>
          <p:cNvPr id="9" name="Text 7"/>
          <p:cNvSpPr txBox="1"/>
          <p:nvPr/>
        </p:nvSpPr>
        <p:spPr>
          <a:xfrm>
            <a:off x="6492240" y="3840480"/>
            <a:ext cx="4937760" cy="2011680"/>
          </a:xfrm>
          <a:prstGeom prst="rect">
            <a:avLst/>
          </a:prstGeom>
          <a:noFill/>
          <a:ln/>
        </p:spPr>
        <p:txBody>
          <a:bodyPr wrap="square" lIns="0" tIns="0" rIns="0" bIns="0" rtlCol="0" anchor="t"/>
          <a:lstStyle/>
          <a:p>
            <a:pPr marL="203200" indent="-203200">
              <a:spcAft>
                <a:spcPts val="800"/>
              </a:spcAft>
              <a:buSzPct val="100000"/>
              <a:buChar char="•"/>
            </a:pPr>
            <a:r>
              <a:rPr lang="en-US" sz="1500" b="1" dirty="0">
                <a:solidFill>
                  <a:schemeClr val="accent2"/>
                </a:solidFill>
              </a:rPr>
              <a:t>Input: </a:t>
            </a:r>
            <a:pPr indent="0" marL="0">
              <a:buNone/>
            </a:pPr>
            <a:r>
              <a:rPr lang="en-US" sz="1500" dirty="0">
                <a:solidFill>
                  <a:schemeClr val="bg1"/>
                </a:solidFill>
              </a:rPr>
              <a:t>weighted network graph, entry point, critical asset, honeypot budget</a:t>
            </a:r>
            <a:endParaRPr lang="en-US" sz="1500" dirty="0"/>
          </a:p>
          <a:p>
            <a:pPr marL="203200" indent="-203200">
              <a:spcAft>
                <a:spcPts val="800"/>
              </a:spcAft>
              <a:buSzPct val="100000"/>
              <a:buChar char="•"/>
            </a:pPr>
            <a:r>
              <a:rPr lang="en-US" sz="1500" b="1" dirty="0">
                <a:solidFill>
                  <a:schemeClr val="accent2"/>
                </a:solidFill>
              </a:rPr>
              <a:t>Output: </a:t>
            </a:r>
            <a:pPr indent="0" marL="0">
              <a:buNone/>
            </a:pPr>
            <a:r>
              <a:rPr lang="en-US" sz="1500" dirty="0">
                <a:solidFill>
                  <a:schemeClr val="bg1"/>
                </a:solidFill>
              </a:rPr>
              <a:t>predicted route, alternative routes, ranked honeypot locations, outcome and explanation</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bg1"/>
                </a:solidFill>
                <a:latin typeface="Calibri" pitchFamily="34" charset="0"/>
                <a:ea typeface="Calibri" pitchFamily="34" charset="-122"/>
                <a:cs typeface="Calibri" pitchFamily="34" charset="-120"/>
              </a:rPr>
              <a:t>Motivation and objectives</a:t>
            </a:r>
            <a:endParaRPr lang="en-US" sz="3000" dirty="0"/>
          </a:p>
        </p:txBody>
      </p:sp>
      <p:sp>
        <p:nvSpPr>
          <p:cNvPr id="3" name="Text 1"/>
          <p:cNvSpPr txBox="1"/>
          <p:nvPr/>
        </p:nvSpPr>
        <p:spPr>
          <a:xfrm>
            <a:off x="548640" y="1280160"/>
            <a:ext cx="11064240" cy="457200"/>
          </a:xfrm>
          <a:prstGeom prst="rect">
            <a:avLst/>
          </a:prstGeom>
          <a:noFill/>
          <a:ln/>
        </p:spPr>
        <p:txBody>
          <a:bodyPr wrap="square" lIns="0" tIns="0" rIns="0" bIns="0" rtlCol="0" anchor="t"/>
          <a:lstStyle/>
          <a:p>
            <a:pPr indent="0" marL="0">
              <a:buNone/>
            </a:pPr>
            <a:r>
              <a:rPr lang="en-US" sz="1700" i="1" dirty="0">
                <a:solidFill>
                  <a:schemeClr val="accent2"/>
                </a:solidFill>
              </a:rPr>
              <a:t>Turn honeypot placement from guesswork into a transparent, explainable, testable decision.</a:t>
            </a:r>
            <a:endParaRPr lang="en-US" sz="1700" dirty="0"/>
          </a:p>
        </p:txBody>
      </p:sp>
      <p:sp>
        <p:nvSpPr>
          <p:cNvPr id="4" name="Shape 2"/>
          <p:cNvSpPr/>
          <p:nvPr/>
        </p:nvSpPr>
        <p:spPr>
          <a:xfrm>
            <a:off x="548640" y="1965960"/>
            <a:ext cx="2103120" cy="2651760"/>
          </a:xfrm>
          <a:prstGeom prst="roundRect">
            <a:avLst>
              <a:gd name="adj" fmla="val 2609"/>
            </a:avLst>
          </a:prstGeom>
          <a:solidFill>
            <a:schemeClr val="tx2"/>
          </a:solidFill>
          <a:ln w="9525">
            <a:solidFill>
              <a:schemeClr val="accent6"/>
            </a:solidFill>
            <a:prstDash val="solid"/>
          </a:ln>
        </p:spPr>
      </p:sp>
      <p:sp>
        <p:nvSpPr>
          <p:cNvPr id="5" name="Text 3"/>
          <p:cNvSpPr txBox="1"/>
          <p:nvPr/>
        </p:nvSpPr>
        <p:spPr>
          <a:xfrm>
            <a:off x="731520" y="2103120"/>
            <a:ext cx="914400" cy="365760"/>
          </a:xfrm>
          <a:prstGeom prst="rect">
            <a:avLst/>
          </a:prstGeom>
          <a:noFill/>
          <a:ln/>
        </p:spPr>
        <p:txBody>
          <a:bodyPr wrap="square" lIns="0" tIns="0" rIns="0" bIns="0" rtlCol="0" anchor="t"/>
          <a:lstStyle/>
          <a:p>
            <a:pPr indent="0" marL="0">
              <a:buNone/>
            </a:pPr>
            <a:r>
              <a:rPr lang="en-US" sz="2000" b="1" dirty="0">
                <a:solidFill>
                  <a:schemeClr val="accent1"/>
                </a:solidFill>
                <a:latin typeface="Courier New" pitchFamily="34" charset="0"/>
                <a:ea typeface="Courier New" pitchFamily="34" charset="-122"/>
                <a:cs typeface="Courier New" pitchFamily="34" charset="-120"/>
              </a:rPr>
              <a:t>01</a:t>
            </a:r>
            <a:endParaRPr lang="en-US" sz="2000" dirty="0"/>
          </a:p>
        </p:txBody>
      </p:sp>
      <p:sp>
        <p:nvSpPr>
          <p:cNvPr id="6" name="Text 4"/>
          <p:cNvSpPr txBox="1"/>
          <p:nvPr/>
        </p:nvSpPr>
        <p:spPr>
          <a:xfrm>
            <a:off x="731520" y="2560320"/>
            <a:ext cx="1737360" cy="365760"/>
          </a:xfrm>
          <a:prstGeom prst="rect">
            <a:avLst/>
          </a:prstGeom>
          <a:noFill/>
          <a:ln/>
        </p:spPr>
        <p:txBody>
          <a:bodyPr wrap="square" lIns="0" tIns="0" rIns="0" bIns="0" rtlCol="0" anchor="t"/>
          <a:lstStyle/>
          <a:p>
            <a:pPr indent="0" marL="0">
              <a:buNone/>
            </a:pPr>
            <a:r>
              <a:rPr lang="en-US" sz="1700" b="1" dirty="0">
                <a:solidFill>
                  <a:schemeClr val="bg1"/>
                </a:solidFill>
              </a:rPr>
              <a:t>Model</a:t>
            </a:r>
            <a:endParaRPr lang="en-US" sz="1700" dirty="0"/>
          </a:p>
        </p:txBody>
      </p:sp>
      <p:sp>
        <p:nvSpPr>
          <p:cNvPr id="7" name="Text 5"/>
          <p:cNvSpPr txBox="1"/>
          <p:nvPr/>
        </p:nvSpPr>
        <p:spPr>
          <a:xfrm>
            <a:off x="731520" y="2971800"/>
            <a:ext cx="1783080" cy="1600200"/>
          </a:xfrm>
          <a:prstGeom prst="rect">
            <a:avLst/>
          </a:prstGeom>
          <a:noFill/>
          <a:ln/>
        </p:spPr>
        <p:txBody>
          <a:bodyPr wrap="square" lIns="0" tIns="0" rIns="0" bIns="0" rtlCol="0" anchor="t"/>
          <a:lstStyle/>
          <a:p>
            <a:pPr indent="0" marL="0">
              <a:buNone/>
            </a:pPr>
            <a:r>
              <a:rPr lang="en-US" sz="1300" dirty="0">
                <a:solidFill>
                  <a:schemeClr val="bg2"/>
                </a:solidFill>
              </a:rPr>
              <a:t>Represent a network as a weighted graph with roles: entry point, candidates, critical asset.</a:t>
            </a:r>
            <a:endParaRPr lang="en-US" sz="1300" dirty="0"/>
          </a:p>
        </p:txBody>
      </p:sp>
      <p:sp>
        <p:nvSpPr>
          <p:cNvPr id="8" name="Shape 6"/>
          <p:cNvSpPr/>
          <p:nvPr/>
        </p:nvSpPr>
        <p:spPr>
          <a:xfrm>
            <a:off x="2816352" y="1965960"/>
            <a:ext cx="2103120" cy="2651760"/>
          </a:xfrm>
          <a:prstGeom prst="roundRect">
            <a:avLst>
              <a:gd name="adj" fmla="val 2609"/>
            </a:avLst>
          </a:prstGeom>
          <a:solidFill>
            <a:schemeClr val="tx2"/>
          </a:solidFill>
          <a:ln w="9525">
            <a:solidFill>
              <a:schemeClr val="accent6"/>
            </a:solidFill>
            <a:prstDash val="solid"/>
          </a:ln>
        </p:spPr>
      </p:sp>
      <p:sp>
        <p:nvSpPr>
          <p:cNvPr id="9" name="Text 7"/>
          <p:cNvSpPr txBox="1"/>
          <p:nvPr/>
        </p:nvSpPr>
        <p:spPr>
          <a:xfrm>
            <a:off x="2999232" y="2103120"/>
            <a:ext cx="914400" cy="365760"/>
          </a:xfrm>
          <a:prstGeom prst="rect">
            <a:avLst/>
          </a:prstGeom>
          <a:noFill/>
          <a:ln/>
        </p:spPr>
        <p:txBody>
          <a:bodyPr wrap="square" lIns="0" tIns="0" rIns="0" bIns="0" rtlCol="0" anchor="t"/>
          <a:lstStyle/>
          <a:p>
            <a:pPr indent="0" marL="0">
              <a:buNone/>
            </a:pPr>
            <a:r>
              <a:rPr lang="en-US" sz="2000" b="1" dirty="0">
                <a:solidFill>
                  <a:schemeClr val="accent1"/>
                </a:solidFill>
                <a:latin typeface="Courier New" pitchFamily="34" charset="0"/>
                <a:ea typeface="Courier New" pitchFamily="34" charset="-122"/>
                <a:cs typeface="Courier New" pitchFamily="34" charset="-120"/>
              </a:rPr>
              <a:t>02</a:t>
            </a:r>
            <a:endParaRPr lang="en-US" sz="2000" dirty="0"/>
          </a:p>
        </p:txBody>
      </p:sp>
      <p:sp>
        <p:nvSpPr>
          <p:cNvPr id="10" name="Text 8"/>
          <p:cNvSpPr txBox="1"/>
          <p:nvPr/>
        </p:nvSpPr>
        <p:spPr>
          <a:xfrm>
            <a:off x="2999232" y="2560320"/>
            <a:ext cx="1737360" cy="365760"/>
          </a:xfrm>
          <a:prstGeom prst="rect">
            <a:avLst/>
          </a:prstGeom>
          <a:noFill/>
          <a:ln/>
        </p:spPr>
        <p:txBody>
          <a:bodyPr wrap="square" lIns="0" tIns="0" rIns="0" bIns="0" rtlCol="0" anchor="t"/>
          <a:lstStyle/>
          <a:p>
            <a:pPr indent="0" marL="0">
              <a:buNone/>
            </a:pPr>
            <a:r>
              <a:rPr lang="en-US" sz="1700" b="1" dirty="0">
                <a:solidFill>
                  <a:schemeClr val="bg1"/>
                </a:solidFill>
              </a:rPr>
              <a:t>Predict</a:t>
            </a:r>
            <a:endParaRPr lang="en-US" sz="1700" dirty="0"/>
          </a:p>
        </p:txBody>
      </p:sp>
      <p:sp>
        <p:nvSpPr>
          <p:cNvPr id="11" name="Text 9"/>
          <p:cNvSpPr txBox="1"/>
          <p:nvPr/>
        </p:nvSpPr>
        <p:spPr>
          <a:xfrm>
            <a:off x="2999232" y="2971800"/>
            <a:ext cx="1783080" cy="1600200"/>
          </a:xfrm>
          <a:prstGeom prst="rect">
            <a:avLst/>
          </a:prstGeom>
          <a:noFill/>
          <a:ln/>
        </p:spPr>
        <p:txBody>
          <a:bodyPr wrap="square" lIns="0" tIns="0" rIns="0" bIns="0" rtlCol="0" anchor="t"/>
          <a:lstStyle/>
          <a:p>
            <a:pPr indent="0" marL="0">
              <a:buNone/>
            </a:pPr>
            <a:r>
              <a:rPr lang="en-US" sz="1300" dirty="0">
                <a:solidFill>
                  <a:schemeClr val="bg2"/>
                </a:solidFill>
              </a:rPr>
              <a:t>Find the attacker route with BFS, DFS, UCS and A*, plus the 3 cheapest alternatives.</a:t>
            </a:r>
            <a:endParaRPr lang="en-US" sz="1300" dirty="0"/>
          </a:p>
        </p:txBody>
      </p:sp>
      <p:sp>
        <p:nvSpPr>
          <p:cNvPr id="12" name="Shape 10"/>
          <p:cNvSpPr/>
          <p:nvPr/>
        </p:nvSpPr>
        <p:spPr>
          <a:xfrm>
            <a:off x="5084064" y="1965960"/>
            <a:ext cx="2103120" cy="2651760"/>
          </a:xfrm>
          <a:prstGeom prst="roundRect">
            <a:avLst>
              <a:gd name="adj" fmla="val 2609"/>
            </a:avLst>
          </a:prstGeom>
          <a:solidFill>
            <a:schemeClr val="tx2"/>
          </a:solidFill>
          <a:ln w="9525">
            <a:solidFill>
              <a:schemeClr val="accent6"/>
            </a:solidFill>
            <a:prstDash val="solid"/>
          </a:ln>
        </p:spPr>
      </p:sp>
      <p:sp>
        <p:nvSpPr>
          <p:cNvPr id="13" name="Text 11"/>
          <p:cNvSpPr txBox="1"/>
          <p:nvPr/>
        </p:nvSpPr>
        <p:spPr>
          <a:xfrm>
            <a:off x="5266944" y="2103120"/>
            <a:ext cx="914400" cy="365760"/>
          </a:xfrm>
          <a:prstGeom prst="rect">
            <a:avLst/>
          </a:prstGeom>
          <a:noFill/>
          <a:ln/>
        </p:spPr>
        <p:txBody>
          <a:bodyPr wrap="square" lIns="0" tIns="0" rIns="0" bIns="0" rtlCol="0" anchor="t"/>
          <a:lstStyle/>
          <a:p>
            <a:pPr indent="0" marL="0">
              <a:buNone/>
            </a:pPr>
            <a:r>
              <a:rPr lang="en-US" sz="2000" b="1" dirty="0">
                <a:solidFill>
                  <a:schemeClr val="accent1"/>
                </a:solidFill>
                <a:latin typeface="Courier New" pitchFamily="34" charset="0"/>
                <a:ea typeface="Courier New" pitchFamily="34" charset="-122"/>
                <a:cs typeface="Courier New" pitchFamily="34" charset="-120"/>
              </a:rPr>
              <a:t>03</a:t>
            </a:r>
            <a:endParaRPr lang="en-US" sz="2000" dirty="0"/>
          </a:p>
        </p:txBody>
      </p:sp>
      <p:sp>
        <p:nvSpPr>
          <p:cNvPr id="14" name="Text 12"/>
          <p:cNvSpPr txBox="1"/>
          <p:nvPr/>
        </p:nvSpPr>
        <p:spPr>
          <a:xfrm>
            <a:off x="5266944" y="2560320"/>
            <a:ext cx="1737360" cy="365760"/>
          </a:xfrm>
          <a:prstGeom prst="rect">
            <a:avLst/>
          </a:prstGeom>
          <a:noFill/>
          <a:ln/>
        </p:spPr>
        <p:txBody>
          <a:bodyPr wrap="square" lIns="0" tIns="0" rIns="0" bIns="0" rtlCol="0" anchor="t"/>
          <a:lstStyle/>
          <a:p>
            <a:pPr indent="0" marL="0">
              <a:buNone/>
            </a:pPr>
            <a:r>
              <a:rPr lang="en-US" sz="1700" b="1" dirty="0">
                <a:solidFill>
                  <a:schemeClr val="bg1"/>
                </a:solidFill>
              </a:rPr>
              <a:t>Place</a:t>
            </a:r>
            <a:endParaRPr lang="en-US" sz="1700" dirty="0"/>
          </a:p>
        </p:txBody>
      </p:sp>
      <p:sp>
        <p:nvSpPr>
          <p:cNvPr id="15" name="Text 13"/>
          <p:cNvSpPr txBox="1"/>
          <p:nvPr/>
        </p:nvSpPr>
        <p:spPr>
          <a:xfrm>
            <a:off x="5266944" y="2971800"/>
            <a:ext cx="1783080" cy="1600200"/>
          </a:xfrm>
          <a:prstGeom prst="rect">
            <a:avLst/>
          </a:prstGeom>
          <a:noFill/>
          <a:ln/>
        </p:spPr>
        <p:txBody>
          <a:bodyPr wrap="square" lIns="0" tIns="0" rIns="0" bIns="0" rtlCol="0" anchor="t"/>
          <a:lstStyle/>
          <a:p>
            <a:pPr indent="0" marL="0">
              <a:buNone/>
            </a:pPr>
            <a:r>
              <a:rPr lang="en-US" sz="1300" dirty="0">
                <a:solidFill>
                  <a:schemeClr val="bg2"/>
                </a:solidFill>
              </a:rPr>
              <a:t>Score candidate hosts and choose honeypots within a budget; compare with optimisers.</a:t>
            </a:r>
            <a:endParaRPr lang="en-US" sz="1300" dirty="0"/>
          </a:p>
        </p:txBody>
      </p:sp>
      <p:sp>
        <p:nvSpPr>
          <p:cNvPr id="16" name="Shape 14"/>
          <p:cNvSpPr/>
          <p:nvPr/>
        </p:nvSpPr>
        <p:spPr>
          <a:xfrm>
            <a:off x="7351776" y="1965960"/>
            <a:ext cx="2103120" cy="2651760"/>
          </a:xfrm>
          <a:prstGeom prst="roundRect">
            <a:avLst>
              <a:gd name="adj" fmla="val 2609"/>
            </a:avLst>
          </a:prstGeom>
          <a:solidFill>
            <a:schemeClr val="tx2"/>
          </a:solidFill>
          <a:ln w="9525">
            <a:solidFill>
              <a:schemeClr val="accent6"/>
            </a:solidFill>
            <a:prstDash val="solid"/>
          </a:ln>
        </p:spPr>
      </p:sp>
      <p:sp>
        <p:nvSpPr>
          <p:cNvPr id="17" name="Text 15"/>
          <p:cNvSpPr txBox="1"/>
          <p:nvPr/>
        </p:nvSpPr>
        <p:spPr>
          <a:xfrm>
            <a:off x="7534656" y="2103120"/>
            <a:ext cx="914400" cy="365760"/>
          </a:xfrm>
          <a:prstGeom prst="rect">
            <a:avLst/>
          </a:prstGeom>
          <a:noFill/>
          <a:ln/>
        </p:spPr>
        <p:txBody>
          <a:bodyPr wrap="square" lIns="0" tIns="0" rIns="0" bIns="0" rtlCol="0" anchor="t"/>
          <a:lstStyle/>
          <a:p>
            <a:pPr indent="0" marL="0">
              <a:buNone/>
            </a:pPr>
            <a:r>
              <a:rPr lang="en-US" sz="2000" b="1" dirty="0">
                <a:solidFill>
                  <a:schemeClr val="accent1"/>
                </a:solidFill>
                <a:latin typeface="Courier New" pitchFamily="34" charset="0"/>
                <a:ea typeface="Courier New" pitchFamily="34" charset="-122"/>
                <a:cs typeface="Courier New" pitchFamily="34" charset="-120"/>
              </a:rPr>
              <a:t>04</a:t>
            </a:r>
            <a:endParaRPr lang="en-US" sz="2000" dirty="0"/>
          </a:p>
        </p:txBody>
      </p:sp>
      <p:sp>
        <p:nvSpPr>
          <p:cNvPr id="18" name="Text 16"/>
          <p:cNvSpPr txBox="1"/>
          <p:nvPr/>
        </p:nvSpPr>
        <p:spPr>
          <a:xfrm>
            <a:off x="7534656" y="2560320"/>
            <a:ext cx="1737360" cy="365760"/>
          </a:xfrm>
          <a:prstGeom prst="rect">
            <a:avLst/>
          </a:prstGeom>
          <a:noFill/>
          <a:ln/>
        </p:spPr>
        <p:txBody>
          <a:bodyPr wrap="square" lIns="0" tIns="0" rIns="0" bIns="0" rtlCol="0" anchor="t"/>
          <a:lstStyle/>
          <a:p>
            <a:pPr indent="0" marL="0">
              <a:buNone/>
            </a:pPr>
            <a:r>
              <a:rPr lang="en-US" sz="1700" b="1" dirty="0">
                <a:solidFill>
                  <a:schemeClr val="bg1"/>
                </a:solidFill>
              </a:rPr>
              <a:t>Explain</a:t>
            </a:r>
            <a:endParaRPr lang="en-US" sz="1700" dirty="0"/>
          </a:p>
        </p:txBody>
      </p:sp>
      <p:sp>
        <p:nvSpPr>
          <p:cNvPr id="19" name="Text 17"/>
          <p:cNvSpPr txBox="1"/>
          <p:nvPr/>
        </p:nvSpPr>
        <p:spPr>
          <a:xfrm>
            <a:off x="7534656" y="2971800"/>
            <a:ext cx="1783080" cy="1600200"/>
          </a:xfrm>
          <a:prstGeom prst="rect">
            <a:avLst/>
          </a:prstGeom>
          <a:noFill/>
          <a:ln/>
        </p:spPr>
        <p:txBody>
          <a:bodyPr wrap="square" lIns="0" tIns="0" rIns="0" bIns="0" rtlCol="0" anchor="t"/>
          <a:lstStyle/>
          <a:p>
            <a:pPr indent="0" marL="0">
              <a:buNone/>
            </a:pPr>
            <a:r>
              <a:rPr lang="en-US" sz="1300" dirty="0">
                <a:solidFill>
                  <a:schemeClr val="bg2"/>
                </a:solidFill>
              </a:rPr>
              <a:t>Return every score and a plain-language reason with each result.</a:t>
            </a:r>
            <a:endParaRPr lang="en-US" sz="1300" dirty="0"/>
          </a:p>
        </p:txBody>
      </p:sp>
      <p:sp>
        <p:nvSpPr>
          <p:cNvPr id="20" name="Shape 18"/>
          <p:cNvSpPr/>
          <p:nvPr/>
        </p:nvSpPr>
        <p:spPr>
          <a:xfrm>
            <a:off x="9619488" y="1965960"/>
            <a:ext cx="2103120" cy="2651760"/>
          </a:xfrm>
          <a:prstGeom prst="roundRect">
            <a:avLst>
              <a:gd name="adj" fmla="val 2609"/>
            </a:avLst>
          </a:prstGeom>
          <a:solidFill>
            <a:schemeClr val="tx2"/>
          </a:solidFill>
          <a:ln w="9525">
            <a:solidFill>
              <a:schemeClr val="accent6"/>
            </a:solidFill>
            <a:prstDash val="solid"/>
          </a:ln>
        </p:spPr>
      </p:sp>
      <p:sp>
        <p:nvSpPr>
          <p:cNvPr id="21" name="Text 19"/>
          <p:cNvSpPr txBox="1"/>
          <p:nvPr/>
        </p:nvSpPr>
        <p:spPr>
          <a:xfrm>
            <a:off x="9802368" y="2103120"/>
            <a:ext cx="914400" cy="365760"/>
          </a:xfrm>
          <a:prstGeom prst="rect">
            <a:avLst/>
          </a:prstGeom>
          <a:noFill/>
          <a:ln/>
        </p:spPr>
        <p:txBody>
          <a:bodyPr wrap="square" lIns="0" tIns="0" rIns="0" bIns="0" rtlCol="0" anchor="t"/>
          <a:lstStyle/>
          <a:p>
            <a:pPr indent="0" marL="0">
              <a:buNone/>
            </a:pPr>
            <a:r>
              <a:rPr lang="en-US" sz="2000" b="1" dirty="0">
                <a:solidFill>
                  <a:schemeClr val="accent1"/>
                </a:solidFill>
                <a:latin typeface="Courier New" pitchFamily="34" charset="0"/>
                <a:ea typeface="Courier New" pitchFamily="34" charset="-122"/>
                <a:cs typeface="Courier New" pitchFamily="34" charset="-120"/>
              </a:rPr>
              <a:t>05</a:t>
            </a:r>
            <a:endParaRPr lang="en-US" sz="2000" dirty="0"/>
          </a:p>
        </p:txBody>
      </p:sp>
      <p:sp>
        <p:nvSpPr>
          <p:cNvPr id="22" name="Text 20"/>
          <p:cNvSpPr txBox="1"/>
          <p:nvPr/>
        </p:nvSpPr>
        <p:spPr>
          <a:xfrm>
            <a:off x="9802368" y="2560320"/>
            <a:ext cx="1737360" cy="365760"/>
          </a:xfrm>
          <a:prstGeom prst="rect">
            <a:avLst/>
          </a:prstGeom>
          <a:noFill/>
          <a:ln/>
        </p:spPr>
        <p:txBody>
          <a:bodyPr wrap="square" lIns="0" tIns="0" rIns="0" bIns="0" rtlCol="0" anchor="t"/>
          <a:lstStyle/>
          <a:p>
            <a:pPr indent="0" marL="0">
              <a:buNone/>
            </a:pPr>
            <a:r>
              <a:rPr lang="en-US" sz="1700" b="1" dirty="0">
                <a:solidFill>
                  <a:schemeClr val="bg1"/>
                </a:solidFill>
              </a:rPr>
              <a:t>Evaluate</a:t>
            </a:r>
            <a:endParaRPr lang="en-US" sz="1700" dirty="0"/>
          </a:p>
        </p:txBody>
      </p:sp>
      <p:sp>
        <p:nvSpPr>
          <p:cNvPr id="23" name="Text 21"/>
          <p:cNvSpPr txBox="1"/>
          <p:nvPr/>
        </p:nvSpPr>
        <p:spPr>
          <a:xfrm>
            <a:off x="9802368" y="2971800"/>
            <a:ext cx="1783080" cy="1600200"/>
          </a:xfrm>
          <a:prstGeom prst="rect">
            <a:avLst/>
          </a:prstGeom>
          <a:noFill/>
          <a:ln/>
        </p:spPr>
        <p:txBody>
          <a:bodyPr wrap="square" lIns="0" tIns="0" rIns="0" bIns="0" rtlCol="0" anchor="t"/>
          <a:lstStyle/>
          <a:p>
            <a:pPr indent="0" marL="0">
              <a:buNone/>
            </a:pPr>
            <a:r>
              <a:rPr lang="en-US" sz="1300" dirty="0">
                <a:solidFill>
                  <a:schemeClr val="bg2"/>
                </a:solidFill>
              </a:rPr>
              <a:t>Repeat runs and compare placement strategies; automated tests for correctness.</a:t>
            </a:r>
            <a:endParaRPr lang="en-US" sz="1300" dirty="0"/>
          </a:p>
        </p:txBody>
      </p:sp>
      <p:sp>
        <p:nvSpPr>
          <p:cNvPr id="24" name="Shape 22"/>
          <p:cNvSpPr/>
          <p:nvPr/>
        </p:nvSpPr>
        <p:spPr>
          <a:xfrm>
            <a:off x="548640" y="4892040"/>
            <a:ext cx="11064240" cy="1188720"/>
          </a:xfrm>
          <a:prstGeom prst="roundRect">
            <a:avLst>
              <a:gd name="adj" fmla="val 4615"/>
            </a:avLst>
          </a:prstGeom>
          <a:solidFill>
            <a:schemeClr val="tx2"/>
          </a:solidFill>
          <a:ln w="9525">
            <a:solidFill>
              <a:schemeClr val="accent6"/>
            </a:solidFill>
            <a:prstDash val="solid"/>
          </a:ln>
        </p:spPr>
      </p:sp>
      <p:sp>
        <p:nvSpPr>
          <p:cNvPr id="25" name="Text 23"/>
          <p:cNvSpPr txBox="1"/>
          <p:nvPr/>
        </p:nvSpPr>
        <p:spPr>
          <a:xfrm>
            <a:off x="777240" y="5029200"/>
            <a:ext cx="7315200" cy="228600"/>
          </a:xfrm>
          <a:prstGeom prst="rect">
            <a:avLst/>
          </a:prstGeom>
          <a:noFill/>
          <a:ln/>
        </p:spPr>
        <p:txBody>
          <a:bodyPr wrap="square" lIns="0" tIns="0" rIns="0" bIns="0" rtlCol="0" anchor="t"/>
          <a:lstStyle/>
          <a:p>
            <a:pPr indent="0" marL="0">
              <a:buNone/>
            </a:pPr>
            <a:r>
              <a:rPr lang="en-US" sz="1000" b="1" spc="150" kern="0" dirty="0">
                <a:solidFill>
                  <a:schemeClr val="bg2"/>
                </a:solidFill>
                <a:latin typeface="Courier New" pitchFamily="34" charset="0"/>
                <a:ea typeface="Courier New" pitchFamily="34" charset="-122"/>
                <a:cs typeface="Courier New" pitchFamily="34" charset="-120"/>
              </a:rPr>
              <a:t>FUTURE OBJECTIVES — NOT IMPLEMENTED</a:t>
            </a:r>
            <a:endParaRPr lang="en-US" sz="1000" dirty="0"/>
          </a:p>
        </p:txBody>
      </p:sp>
      <p:sp>
        <p:nvSpPr>
          <p:cNvPr id="26" name="Text 24"/>
          <p:cNvSpPr txBox="1"/>
          <p:nvPr/>
        </p:nvSpPr>
        <p:spPr>
          <a:xfrm>
            <a:off x="777240" y="5349240"/>
            <a:ext cx="10607040" cy="548640"/>
          </a:xfrm>
          <a:prstGeom prst="rect">
            <a:avLst/>
          </a:prstGeom>
          <a:noFill/>
          <a:ln/>
        </p:spPr>
        <p:txBody>
          <a:bodyPr wrap="square" lIns="0" tIns="0" rIns="0" bIns="0" rtlCol="0" anchor="t"/>
          <a:lstStyle/>
          <a:p>
            <a:pPr indent="0" marL="0">
              <a:buNone/>
            </a:pPr>
            <a:r>
              <a:rPr lang="en-US" sz="1400" dirty="0">
                <a:solidFill>
                  <a:schemeClr val="bg2"/>
                </a:solidFill>
              </a:rPr>
              <a:t>Real network import · authorised telemetry · learned attacker models trained on real data · directed / vulnerability-aware graphs</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bg1"/>
                </a:solidFill>
                <a:latin typeface="Calibri" pitchFamily="34" charset="0"/>
                <a:ea typeface="Calibri" pitchFamily="34" charset="-122"/>
                <a:cs typeface="Calibri" pitchFamily="34" charset="-120"/>
              </a:rPr>
              <a:t>Cyber deception fundamentals</a:t>
            </a:r>
            <a:endParaRPr lang="en-US" sz="3000" dirty="0"/>
          </a:p>
        </p:txBody>
      </p:sp>
      <p:sp>
        <p:nvSpPr>
          <p:cNvPr id="3" name="Shape 1"/>
          <p:cNvSpPr/>
          <p:nvPr/>
        </p:nvSpPr>
        <p:spPr>
          <a:xfrm>
            <a:off x="548640" y="1371600"/>
            <a:ext cx="5120640" cy="1024128"/>
          </a:xfrm>
          <a:prstGeom prst="roundRect">
            <a:avLst>
              <a:gd name="adj" fmla="val 5357"/>
            </a:avLst>
          </a:prstGeom>
          <a:solidFill>
            <a:schemeClr val="tx2"/>
          </a:solidFill>
          <a:ln w="9525">
            <a:solidFill>
              <a:schemeClr val="accent6"/>
            </a:solidFill>
            <a:prstDash val="solid"/>
          </a:ln>
        </p:spPr>
      </p:sp>
      <p:sp>
        <p:nvSpPr>
          <p:cNvPr id="4" name="Text 2"/>
          <p:cNvSpPr txBox="1"/>
          <p:nvPr/>
        </p:nvSpPr>
        <p:spPr>
          <a:xfrm>
            <a:off x="777240" y="1499616"/>
            <a:ext cx="4754880" cy="320040"/>
          </a:xfrm>
          <a:prstGeom prst="rect">
            <a:avLst/>
          </a:prstGeom>
          <a:noFill/>
          <a:ln/>
        </p:spPr>
        <p:txBody>
          <a:bodyPr wrap="square" lIns="0" tIns="0" rIns="0" bIns="0" rtlCol="0" anchor="t"/>
          <a:lstStyle/>
          <a:p>
            <a:pPr indent="0" marL="0">
              <a:buNone/>
            </a:pPr>
            <a:r>
              <a:rPr lang="en-US" sz="1600" b="1" dirty="0">
                <a:solidFill>
                  <a:schemeClr val="accent2"/>
                </a:solidFill>
              </a:rPr>
              <a:t>Cyber deception</a:t>
            </a:r>
            <a:endParaRPr lang="en-US" sz="1600" dirty="0"/>
          </a:p>
        </p:txBody>
      </p:sp>
      <p:sp>
        <p:nvSpPr>
          <p:cNvPr id="5" name="Text 3"/>
          <p:cNvSpPr txBox="1"/>
          <p:nvPr/>
        </p:nvSpPr>
        <p:spPr>
          <a:xfrm>
            <a:off x="777240" y="1828800"/>
            <a:ext cx="4754880" cy="548640"/>
          </a:xfrm>
          <a:prstGeom prst="rect">
            <a:avLst/>
          </a:prstGeom>
          <a:noFill/>
          <a:ln/>
        </p:spPr>
        <p:txBody>
          <a:bodyPr wrap="square" lIns="0" tIns="0" rIns="0" bIns="0" rtlCol="0" anchor="t"/>
          <a:lstStyle/>
          <a:p>
            <a:pPr indent="0" marL="0">
              <a:buNone/>
            </a:pPr>
            <a:r>
              <a:rPr lang="en-US" sz="1300" dirty="0">
                <a:solidFill>
                  <a:schemeClr val="bg1"/>
                </a:solidFill>
              </a:rPr>
              <a:t>Deliberately misleading attackers with false assets or information to detect, delay or study them.</a:t>
            </a:r>
            <a:endParaRPr lang="en-US" sz="1300" dirty="0"/>
          </a:p>
        </p:txBody>
      </p:sp>
      <p:sp>
        <p:nvSpPr>
          <p:cNvPr id="6" name="Shape 4"/>
          <p:cNvSpPr/>
          <p:nvPr/>
        </p:nvSpPr>
        <p:spPr>
          <a:xfrm>
            <a:off x="548640" y="2542032"/>
            <a:ext cx="5120640" cy="1024128"/>
          </a:xfrm>
          <a:prstGeom prst="roundRect">
            <a:avLst>
              <a:gd name="adj" fmla="val 5357"/>
            </a:avLst>
          </a:prstGeom>
          <a:solidFill>
            <a:schemeClr val="tx2"/>
          </a:solidFill>
          <a:ln w="9525">
            <a:solidFill>
              <a:schemeClr val="accent6"/>
            </a:solidFill>
            <a:prstDash val="solid"/>
          </a:ln>
        </p:spPr>
      </p:sp>
      <p:sp>
        <p:nvSpPr>
          <p:cNvPr id="7" name="Text 5"/>
          <p:cNvSpPr txBox="1"/>
          <p:nvPr/>
        </p:nvSpPr>
        <p:spPr>
          <a:xfrm>
            <a:off x="777240" y="2670048"/>
            <a:ext cx="4754880" cy="320040"/>
          </a:xfrm>
          <a:prstGeom prst="rect">
            <a:avLst/>
          </a:prstGeom>
          <a:noFill/>
          <a:ln/>
        </p:spPr>
        <p:txBody>
          <a:bodyPr wrap="square" lIns="0" tIns="0" rIns="0" bIns="0" rtlCol="0" anchor="t"/>
          <a:lstStyle/>
          <a:p>
            <a:pPr indent="0" marL="0">
              <a:buNone/>
            </a:pPr>
            <a:r>
              <a:rPr lang="en-US" sz="1600" b="1" dirty="0">
                <a:solidFill>
                  <a:schemeClr val="accent2"/>
                </a:solidFill>
              </a:rPr>
              <a:t>Honeypot</a:t>
            </a:r>
            <a:endParaRPr lang="en-US" sz="1600" dirty="0"/>
          </a:p>
        </p:txBody>
      </p:sp>
      <p:sp>
        <p:nvSpPr>
          <p:cNvPr id="8" name="Text 6"/>
          <p:cNvSpPr txBox="1"/>
          <p:nvPr/>
        </p:nvSpPr>
        <p:spPr>
          <a:xfrm>
            <a:off x="777240" y="2999232"/>
            <a:ext cx="4754880" cy="548640"/>
          </a:xfrm>
          <a:prstGeom prst="rect">
            <a:avLst/>
          </a:prstGeom>
          <a:noFill/>
          <a:ln/>
        </p:spPr>
        <p:txBody>
          <a:bodyPr wrap="square" lIns="0" tIns="0" rIns="0" bIns="0" rtlCol="0" anchor="t"/>
          <a:lstStyle/>
          <a:p>
            <a:pPr indent="0" marL="0">
              <a:buNone/>
            </a:pPr>
            <a:r>
              <a:rPr lang="en-US" sz="1300" dirty="0">
                <a:solidFill>
                  <a:schemeClr val="bg1"/>
                </a:solidFill>
              </a:rPr>
              <a:t>A decoy system with no production purpose — any interaction with it is suspicious by definition.</a:t>
            </a:r>
            <a:endParaRPr lang="en-US" sz="1300" dirty="0"/>
          </a:p>
        </p:txBody>
      </p:sp>
      <p:sp>
        <p:nvSpPr>
          <p:cNvPr id="9" name="Shape 7"/>
          <p:cNvSpPr/>
          <p:nvPr/>
        </p:nvSpPr>
        <p:spPr>
          <a:xfrm>
            <a:off x="548640" y="3712464"/>
            <a:ext cx="5120640" cy="1024128"/>
          </a:xfrm>
          <a:prstGeom prst="roundRect">
            <a:avLst>
              <a:gd name="adj" fmla="val 5357"/>
            </a:avLst>
          </a:prstGeom>
          <a:solidFill>
            <a:schemeClr val="tx2"/>
          </a:solidFill>
          <a:ln w="9525">
            <a:solidFill>
              <a:schemeClr val="accent6"/>
            </a:solidFill>
            <a:prstDash val="solid"/>
          </a:ln>
        </p:spPr>
      </p:sp>
      <p:sp>
        <p:nvSpPr>
          <p:cNvPr id="10" name="Text 8"/>
          <p:cNvSpPr txBox="1"/>
          <p:nvPr/>
        </p:nvSpPr>
        <p:spPr>
          <a:xfrm>
            <a:off x="777240" y="3840480"/>
            <a:ext cx="4754880" cy="320040"/>
          </a:xfrm>
          <a:prstGeom prst="rect">
            <a:avLst/>
          </a:prstGeom>
          <a:noFill/>
          <a:ln/>
        </p:spPr>
        <p:txBody>
          <a:bodyPr wrap="square" lIns="0" tIns="0" rIns="0" bIns="0" rtlCol="0" anchor="t"/>
          <a:lstStyle/>
          <a:p>
            <a:pPr indent="0" marL="0">
              <a:buNone/>
            </a:pPr>
            <a:r>
              <a:rPr lang="en-US" sz="1600" b="1" dirty="0">
                <a:solidFill>
                  <a:schemeClr val="accent2"/>
                </a:solidFill>
              </a:rPr>
              <a:t>Honeynet</a:t>
            </a:r>
            <a:endParaRPr lang="en-US" sz="1600" dirty="0"/>
          </a:p>
        </p:txBody>
      </p:sp>
      <p:sp>
        <p:nvSpPr>
          <p:cNvPr id="11" name="Text 9"/>
          <p:cNvSpPr txBox="1"/>
          <p:nvPr/>
        </p:nvSpPr>
        <p:spPr>
          <a:xfrm>
            <a:off x="777240" y="4169664"/>
            <a:ext cx="4754880" cy="548640"/>
          </a:xfrm>
          <a:prstGeom prst="rect">
            <a:avLst/>
          </a:prstGeom>
          <a:noFill/>
          <a:ln/>
        </p:spPr>
        <p:txBody>
          <a:bodyPr wrap="square" lIns="0" tIns="0" rIns="0" bIns="0" rtlCol="0" anchor="t"/>
          <a:lstStyle/>
          <a:p>
            <a:pPr indent="0" marL="0">
              <a:buNone/>
            </a:pPr>
            <a:r>
              <a:rPr lang="en-US" sz="1300" dirty="0">
                <a:solidFill>
                  <a:schemeClr val="bg1"/>
                </a:solidFill>
              </a:rPr>
              <a:t>A network of honeypots that imitates a realistic environment.</a:t>
            </a:r>
            <a:endParaRPr lang="en-US" sz="1300" dirty="0"/>
          </a:p>
        </p:txBody>
      </p:sp>
      <p:sp>
        <p:nvSpPr>
          <p:cNvPr id="12" name="Shape 10"/>
          <p:cNvSpPr/>
          <p:nvPr/>
        </p:nvSpPr>
        <p:spPr>
          <a:xfrm>
            <a:off x="548640" y="4882896"/>
            <a:ext cx="5120640" cy="1024128"/>
          </a:xfrm>
          <a:prstGeom prst="roundRect">
            <a:avLst>
              <a:gd name="adj" fmla="val 5357"/>
            </a:avLst>
          </a:prstGeom>
          <a:solidFill>
            <a:schemeClr val="tx2"/>
          </a:solidFill>
          <a:ln w="9525">
            <a:solidFill>
              <a:schemeClr val="accent6"/>
            </a:solidFill>
            <a:prstDash val="solid"/>
          </a:ln>
        </p:spPr>
      </p:sp>
      <p:sp>
        <p:nvSpPr>
          <p:cNvPr id="13" name="Text 11"/>
          <p:cNvSpPr txBox="1"/>
          <p:nvPr/>
        </p:nvSpPr>
        <p:spPr>
          <a:xfrm>
            <a:off x="777240" y="5010912"/>
            <a:ext cx="4754880" cy="320040"/>
          </a:xfrm>
          <a:prstGeom prst="rect">
            <a:avLst/>
          </a:prstGeom>
          <a:noFill/>
          <a:ln/>
        </p:spPr>
        <p:txBody>
          <a:bodyPr wrap="square" lIns="0" tIns="0" rIns="0" bIns="0" rtlCol="0" anchor="t"/>
          <a:lstStyle/>
          <a:p>
            <a:pPr indent="0" marL="0">
              <a:buNone/>
            </a:pPr>
            <a:r>
              <a:rPr lang="en-US" sz="1600" b="1" dirty="0">
                <a:solidFill>
                  <a:schemeClr val="accent2"/>
                </a:solidFill>
              </a:rPr>
              <a:t>Decoy asset</a:t>
            </a:r>
            <a:endParaRPr lang="en-US" sz="1600" dirty="0"/>
          </a:p>
        </p:txBody>
      </p:sp>
      <p:sp>
        <p:nvSpPr>
          <p:cNvPr id="14" name="Text 12"/>
          <p:cNvSpPr txBox="1"/>
          <p:nvPr/>
        </p:nvSpPr>
        <p:spPr>
          <a:xfrm>
            <a:off x="777240" y="5340096"/>
            <a:ext cx="4754880" cy="548640"/>
          </a:xfrm>
          <a:prstGeom prst="rect">
            <a:avLst/>
          </a:prstGeom>
          <a:noFill/>
          <a:ln/>
        </p:spPr>
        <p:txBody>
          <a:bodyPr wrap="square" lIns="0" tIns="0" rIns="0" bIns="0" rtlCol="0" anchor="t"/>
          <a:lstStyle/>
          <a:p>
            <a:pPr indent="0" marL="0">
              <a:buNone/>
            </a:pPr>
            <a:r>
              <a:rPr lang="en-US" sz="1300" dirty="0">
                <a:solidFill>
                  <a:schemeClr val="bg1"/>
                </a:solidFill>
              </a:rPr>
              <a:t>Any fake credential, file, service or host planted to attract an attacker.</a:t>
            </a:r>
            <a:endParaRPr lang="en-US" sz="1300" dirty="0"/>
          </a:p>
        </p:txBody>
      </p:sp>
      <p:sp>
        <p:nvSpPr>
          <p:cNvPr id="15" name="Shape 13"/>
          <p:cNvSpPr/>
          <p:nvPr/>
        </p:nvSpPr>
        <p:spPr>
          <a:xfrm>
            <a:off x="6035040" y="1371600"/>
            <a:ext cx="5577840" cy="4572000"/>
          </a:xfrm>
          <a:prstGeom prst="roundRect">
            <a:avLst>
              <a:gd name="adj" fmla="val 1200"/>
            </a:avLst>
          </a:prstGeom>
          <a:solidFill>
            <a:schemeClr val="tx2"/>
          </a:solidFill>
          <a:ln w="9525">
            <a:solidFill>
              <a:schemeClr val="accent6"/>
            </a:solidFill>
            <a:prstDash val="solid"/>
          </a:ln>
        </p:spPr>
      </p:sp>
      <p:sp>
        <p:nvSpPr>
          <p:cNvPr id="16" name="Text 14"/>
          <p:cNvSpPr txBox="1"/>
          <p:nvPr/>
        </p:nvSpPr>
        <p:spPr>
          <a:xfrm>
            <a:off x="6263640" y="1508760"/>
            <a:ext cx="4572000" cy="228600"/>
          </a:xfrm>
          <a:prstGeom prst="rect">
            <a:avLst/>
          </a:prstGeom>
          <a:noFill/>
          <a:ln/>
        </p:spPr>
        <p:txBody>
          <a:bodyPr wrap="square" lIns="0" tIns="0" rIns="0" bIns="0" rtlCol="0" anchor="t"/>
          <a:lstStyle/>
          <a:p>
            <a:pPr indent="0" marL="0">
              <a:buNone/>
            </a:pPr>
            <a:r>
              <a:rPr lang="en-US" sz="1000" b="1" spc="150" kern="0" dirty="0">
                <a:solidFill>
                  <a:schemeClr val="accent1"/>
                </a:solidFill>
                <a:latin typeface="Courier New" pitchFamily="34" charset="0"/>
                <a:ea typeface="Courier New" pitchFamily="34" charset="-122"/>
                <a:cs typeface="Courier New" pitchFamily="34" charset="-120"/>
              </a:rPr>
              <a:t>REAL ASSET VS DECOY</a:t>
            </a:r>
            <a:endParaRPr lang="en-US" sz="1000" dirty="0"/>
          </a:p>
        </p:txBody>
      </p:sp>
      <p:sp>
        <p:nvSpPr>
          <p:cNvPr id="17" name="Shape 15"/>
          <p:cNvSpPr/>
          <p:nvPr/>
        </p:nvSpPr>
        <p:spPr>
          <a:xfrm>
            <a:off x="6309360" y="3200400"/>
            <a:ext cx="1463040" cy="868680"/>
          </a:xfrm>
          <a:prstGeom prst="roundRect">
            <a:avLst>
              <a:gd name="adj" fmla="val 5263"/>
            </a:avLst>
          </a:prstGeom>
          <a:solidFill>
            <a:schemeClr val="tx1"/>
          </a:solidFill>
          <a:ln w="19050">
            <a:solidFill>
              <a:schemeClr val="accent6"/>
            </a:solidFill>
            <a:prstDash val="solid"/>
          </a:ln>
        </p:spPr>
      </p:sp>
      <p:sp>
        <p:nvSpPr>
          <p:cNvPr id="18" name="Text 16"/>
          <p:cNvSpPr txBox="1"/>
          <p:nvPr/>
        </p:nvSpPr>
        <p:spPr>
          <a:xfrm>
            <a:off x="6419088" y="3291840"/>
            <a:ext cx="1243584" cy="274320"/>
          </a:xfrm>
          <a:prstGeom prst="rect">
            <a:avLst/>
          </a:prstGeom>
          <a:noFill/>
          <a:ln/>
        </p:spPr>
        <p:txBody>
          <a:bodyPr wrap="square" lIns="0" tIns="0" rIns="0" bIns="0" rtlCol="0" anchor="t"/>
          <a:lstStyle/>
          <a:p>
            <a:pPr indent="0" marL="0">
              <a:buNone/>
            </a:pPr>
            <a:r>
              <a:rPr lang="en-US" sz="1400" b="1" dirty="0">
                <a:solidFill>
                  <a:schemeClr val="bg1"/>
                </a:solidFill>
              </a:rPr>
              <a:t>Attacker</a:t>
            </a:r>
            <a:endParaRPr lang="en-US" sz="1400" dirty="0"/>
          </a:p>
        </p:txBody>
      </p:sp>
      <p:sp>
        <p:nvSpPr>
          <p:cNvPr id="19" name="Text 17"/>
          <p:cNvSpPr txBox="1"/>
          <p:nvPr/>
        </p:nvSpPr>
        <p:spPr>
          <a:xfrm>
            <a:off x="6419088" y="3584448"/>
            <a:ext cx="1243584" cy="411480"/>
          </a:xfrm>
          <a:prstGeom prst="rect">
            <a:avLst/>
          </a:prstGeom>
          <a:noFill/>
          <a:ln/>
        </p:spPr>
        <p:txBody>
          <a:bodyPr wrap="square" lIns="0" tIns="0" rIns="0" bIns="0" rtlCol="0" anchor="t"/>
          <a:lstStyle/>
          <a:p>
            <a:pPr indent="0" marL="0">
              <a:buNone/>
            </a:pPr>
            <a:r>
              <a:rPr lang="en-US" sz="1100" dirty="0">
                <a:solidFill>
                  <a:schemeClr val="bg2"/>
                </a:solidFill>
              </a:rPr>
              <a:t>foothold on a host</a:t>
            </a:r>
            <a:endParaRPr lang="en-US" sz="1100" dirty="0"/>
          </a:p>
        </p:txBody>
      </p:sp>
      <p:sp>
        <p:nvSpPr>
          <p:cNvPr id="20" name="Shape 18"/>
          <p:cNvSpPr/>
          <p:nvPr/>
        </p:nvSpPr>
        <p:spPr>
          <a:xfrm>
            <a:off x="8183880" y="1920240"/>
            <a:ext cx="1463040" cy="868680"/>
          </a:xfrm>
          <a:prstGeom prst="roundRect">
            <a:avLst>
              <a:gd name="adj" fmla="val 5263"/>
            </a:avLst>
          </a:prstGeom>
          <a:solidFill>
            <a:schemeClr val="tx1"/>
          </a:solidFill>
          <a:ln w="19050">
            <a:solidFill>
              <a:schemeClr val="accent1"/>
            </a:solidFill>
            <a:prstDash val="solid"/>
          </a:ln>
        </p:spPr>
      </p:sp>
      <p:sp>
        <p:nvSpPr>
          <p:cNvPr id="21" name="Text 19"/>
          <p:cNvSpPr txBox="1"/>
          <p:nvPr/>
        </p:nvSpPr>
        <p:spPr>
          <a:xfrm>
            <a:off x="8293608" y="2011680"/>
            <a:ext cx="1243584" cy="274320"/>
          </a:xfrm>
          <a:prstGeom prst="rect">
            <a:avLst/>
          </a:prstGeom>
          <a:noFill/>
          <a:ln/>
        </p:spPr>
        <p:txBody>
          <a:bodyPr wrap="square" lIns="0" tIns="0" rIns="0" bIns="0" rtlCol="0" anchor="t"/>
          <a:lstStyle/>
          <a:p>
            <a:pPr indent="0" marL="0">
              <a:buNone/>
            </a:pPr>
            <a:r>
              <a:rPr lang="en-US" sz="1400" b="1" dirty="0">
                <a:solidFill>
                  <a:schemeClr val="bg1"/>
                </a:solidFill>
              </a:rPr>
              <a:t>Web Server</a:t>
            </a:r>
            <a:endParaRPr lang="en-US" sz="1400" dirty="0"/>
          </a:p>
        </p:txBody>
      </p:sp>
      <p:sp>
        <p:nvSpPr>
          <p:cNvPr id="22" name="Text 20"/>
          <p:cNvSpPr txBox="1"/>
          <p:nvPr/>
        </p:nvSpPr>
        <p:spPr>
          <a:xfrm>
            <a:off x="8293608" y="2304288"/>
            <a:ext cx="1243584" cy="411480"/>
          </a:xfrm>
          <a:prstGeom prst="rect">
            <a:avLst/>
          </a:prstGeom>
          <a:noFill/>
          <a:ln/>
        </p:spPr>
        <p:txBody>
          <a:bodyPr wrap="square" lIns="0" tIns="0" rIns="0" bIns="0" rtlCol="0" anchor="t"/>
          <a:lstStyle/>
          <a:p>
            <a:pPr indent="0" marL="0">
              <a:buNone/>
            </a:pPr>
            <a:r>
              <a:rPr lang="en-US" sz="1100" dirty="0">
                <a:solidFill>
                  <a:schemeClr val="bg2"/>
                </a:solidFill>
              </a:rPr>
              <a:t>reachable hop</a:t>
            </a:r>
            <a:endParaRPr lang="en-US" sz="1100" dirty="0"/>
          </a:p>
        </p:txBody>
      </p:sp>
      <p:sp>
        <p:nvSpPr>
          <p:cNvPr id="23" name="Shape 21"/>
          <p:cNvSpPr/>
          <p:nvPr/>
        </p:nvSpPr>
        <p:spPr>
          <a:xfrm>
            <a:off x="10104120" y="1920240"/>
            <a:ext cx="1371600" cy="868680"/>
          </a:xfrm>
          <a:prstGeom prst="roundRect">
            <a:avLst>
              <a:gd name="adj" fmla="val 5263"/>
            </a:avLst>
          </a:prstGeom>
          <a:solidFill>
            <a:schemeClr val="tx1"/>
          </a:solidFill>
          <a:ln w="19050">
            <a:solidFill>
              <a:schemeClr val="accent4"/>
            </a:solidFill>
            <a:prstDash val="solid"/>
          </a:ln>
        </p:spPr>
      </p:sp>
      <p:sp>
        <p:nvSpPr>
          <p:cNvPr id="24" name="Text 22"/>
          <p:cNvSpPr txBox="1"/>
          <p:nvPr/>
        </p:nvSpPr>
        <p:spPr>
          <a:xfrm>
            <a:off x="10213848" y="2011680"/>
            <a:ext cx="1152144" cy="274320"/>
          </a:xfrm>
          <a:prstGeom prst="rect">
            <a:avLst/>
          </a:prstGeom>
          <a:noFill/>
          <a:ln/>
        </p:spPr>
        <p:txBody>
          <a:bodyPr wrap="square" lIns="0" tIns="0" rIns="0" bIns="0" rtlCol="0" anchor="t"/>
          <a:lstStyle/>
          <a:p>
            <a:pPr indent="0" marL="0">
              <a:buNone/>
            </a:pPr>
            <a:r>
              <a:rPr lang="en-US" sz="1400" b="1" dirty="0">
                <a:solidFill>
                  <a:schemeClr val="bg1"/>
                </a:solidFill>
              </a:rPr>
              <a:t>Database</a:t>
            </a:r>
            <a:endParaRPr lang="en-US" sz="1400" dirty="0"/>
          </a:p>
        </p:txBody>
      </p:sp>
      <p:sp>
        <p:nvSpPr>
          <p:cNvPr id="25" name="Text 23"/>
          <p:cNvSpPr txBox="1"/>
          <p:nvPr/>
        </p:nvSpPr>
        <p:spPr>
          <a:xfrm>
            <a:off x="10213848" y="2304288"/>
            <a:ext cx="1152144" cy="411480"/>
          </a:xfrm>
          <a:prstGeom prst="rect">
            <a:avLst/>
          </a:prstGeom>
          <a:noFill/>
          <a:ln/>
        </p:spPr>
        <p:txBody>
          <a:bodyPr wrap="square" lIns="0" tIns="0" rIns="0" bIns="0" rtlCol="0" anchor="t"/>
          <a:lstStyle/>
          <a:p>
            <a:pPr indent="0" marL="0">
              <a:buNone/>
            </a:pPr>
            <a:r>
              <a:rPr lang="en-US" sz="1100" dirty="0">
                <a:solidFill>
                  <a:schemeClr val="bg2"/>
                </a:solidFill>
              </a:rPr>
              <a:t>real critical asset</a:t>
            </a:r>
            <a:endParaRPr lang="en-US" sz="1100" dirty="0"/>
          </a:p>
        </p:txBody>
      </p:sp>
      <p:sp>
        <p:nvSpPr>
          <p:cNvPr id="26" name="Shape 24"/>
          <p:cNvSpPr/>
          <p:nvPr/>
        </p:nvSpPr>
        <p:spPr>
          <a:xfrm>
            <a:off x="9829800" y="3931920"/>
            <a:ext cx="1645920" cy="960120"/>
          </a:xfrm>
          <a:prstGeom prst="roundRect">
            <a:avLst>
              <a:gd name="adj" fmla="val 4762"/>
            </a:avLst>
          </a:prstGeom>
          <a:solidFill>
            <a:schemeClr val="tx1"/>
          </a:solidFill>
          <a:ln w="19050">
            <a:solidFill>
              <a:schemeClr val="accent3"/>
            </a:solidFill>
            <a:prstDash val="solid"/>
          </a:ln>
        </p:spPr>
      </p:sp>
      <p:sp>
        <p:nvSpPr>
          <p:cNvPr id="27" name="Text 25"/>
          <p:cNvSpPr txBox="1"/>
          <p:nvPr/>
        </p:nvSpPr>
        <p:spPr>
          <a:xfrm>
            <a:off x="9939528" y="4023360"/>
            <a:ext cx="1426464" cy="274320"/>
          </a:xfrm>
          <a:prstGeom prst="rect">
            <a:avLst/>
          </a:prstGeom>
          <a:noFill/>
          <a:ln/>
        </p:spPr>
        <p:txBody>
          <a:bodyPr wrap="square" lIns="0" tIns="0" rIns="0" bIns="0" rtlCol="0" anchor="t"/>
          <a:lstStyle/>
          <a:p>
            <a:pPr indent="0" marL="0">
              <a:buNone/>
            </a:pPr>
            <a:r>
              <a:rPr lang="en-US" sz="1400" b="1" dirty="0">
                <a:solidFill>
                  <a:schemeClr val="bg1"/>
                </a:solidFill>
              </a:rPr>
              <a:t>Decoy host</a:t>
            </a:r>
            <a:endParaRPr lang="en-US" sz="1400" dirty="0"/>
          </a:p>
        </p:txBody>
      </p:sp>
      <p:sp>
        <p:nvSpPr>
          <p:cNvPr id="28" name="Text 26"/>
          <p:cNvSpPr txBox="1"/>
          <p:nvPr/>
        </p:nvSpPr>
        <p:spPr>
          <a:xfrm>
            <a:off x="9939528" y="4315968"/>
            <a:ext cx="1426464" cy="502920"/>
          </a:xfrm>
          <a:prstGeom prst="rect">
            <a:avLst/>
          </a:prstGeom>
          <a:noFill/>
          <a:ln/>
        </p:spPr>
        <p:txBody>
          <a:bodyPr wrap="square" lIns="0" tIns="0" rIns="0" bIns="0" rtlCol="0" anchor="t"/>
          <a:lstStyle/>
          <a:p>
            <a:pPr indent="0" marL="0">
              <a:buNone/>
            </a:pPr>
            <a:r>
              <a:rPr lang="en-US" sz="1100" dirty="0">
                <a:solidFill>
                  <a:schemeClr val="bg2"/>
                </a:solidFill>
              </a:rPr>
              <a:t>fake service, alerts on touch</a:t>
            </a:r>
            <a:endParaRPr lang="en-US" sz="1100" dirty="0"/>
          </a:p>
        </p:txBody>
      </p:sp>
      <p:sp>
        <p:nvSpPr>
          <p:cNvPr id="29" name="Shape 27"/>
          <p:cNvSpPr/>
          <p:nvPr/>
        </p:nvSpPr>
        <p:spPr>
          <a:xfrm flipV="1">
            <a:off x="7772400" y="2651760"/>
            <a:ext cx="411480" cy="640080"/>
          </a:xfrm>
          <a:prstGeom prst="line">
            <a:avLst/>
          </a:prstGeom>
          <a:noFill/>
          <a:ln w="25400">
            <a:solidFill>
              <a:schemeClr val="accent1"/>
            </a:solidFill>
            <a:prstDash val="solid"/>
            <a:tailEnd type="triangle"/>
          </a:ln>
        </p:spPr>
      </p:sp>
      <p:sp>
        <p:nvSpPr>
          <p:cNvPr id="30" name="Shape 28"/>
          <p:cNvSpPr/>
          <p:nvPr/>
        </p:nvSpPr>
        <p:spPr>
          <a:xfrm>
            <a:off x="9646920" y="2350008"/>
            <a:ext cx="457200" cy="914"/>
          </a:xfrm>
          <a:prstGeom prst="line">
            <a:avLst/>
          </a:prstGeom>
          <a:noFill/>
          <a:ln w="25400">
            <a:solidFill>
              <a:schemeClr val="accent1"/>
            </a:solidFill>
            <a:prstDash val="solid"/>
            <a:tailEnd type="triangle"/>
          </a:ln>
        </p:spPr>
      </p:sp>
      <p:sp>
        <p:nvSpPr>
          <p:cNvPr id="31" name="Shape 29"/>
          <p:cNvSpPr/>
          <p:nvPr/>
        </p:nvSpPr>
        <p:spPr>
          <a:xfrm>
            <a:off x="9235440" y="2788920"/>
            <a:ext cx="1097280" cy="1143000"/>
          </a:xfrm>
          <a:prstGeom prst="line">
            <a:avLst/>
          </a:prstGeom>
          <a:noFill/>
          <a:ln w="25400">
            <a:solidFill>
              <a:schemeClr val="accent3"/>
            </a:solidFill>
            <a:prstDash val="dash"/>
            <a:tailEnd type="triangle"/>
          </a:ln>
        </p:spPr>
      </p:sp>
      <p:sp>
        <p:nvSpPr>
          <p:cNvPr id="32" name="Text 30"/>
          <p:cNvSpPr txBox="1"/>
          <p:nvPr/>
        </p:nvSpPr>
        <p:spPr>
          <a:xfrm>
            <a:off x="6263640" y="5349240"/>
            <a:ext cx="5212080" cy="548640"/>
          </a:xfrm>
          <a:prstGeom prst="rect">
            <a:avLst/>
          </a:prstGeom>
          <a:noFill/>
          <a:ln/>
        </p:spPr>
        <p:txBody>
          <a:bodyPr wrap="square" lIns="0" tIns="0" rIns="0" bIns="0" rtlCol="0" anchor="t"/>
          <a:lstStyle/>
          <a:p>
            <a:pPr indent="0" marL="0">
              <a:buNone/>
            </a:pPr>
            <a:r>
              <a:rPr lang="en-US" sz="1200" i="1" dirty="0">
                <a:solidFill>
                  <a:schemeClr val="accent2"/>
                </a:solidFill>
              </a:rPr>
              <a:t>If the decoy sits on the route the attacker is most likely to take, the attacker is detected before reaching the database.</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bg1"/>
                </a:solidFill>
                <a:latin typeface="Calibri" pitchFamily="34" charset="0"/>
                <a:ea typeface="Calibri" pitchFamily="34" charset="-122"/>
                <a:cs typeface="Calibri" pitchFamily="34" charset="-120"/>
              </a:rPr>
              <a:t>Existing approaches and the proposed approach</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377440"/>
                <a:gridCol w="2194560"/>
                <a:gridCol w="2834640"/>
                <a:gridCol w="3657600"/>
              </a:tblGrid>
              <a:tr h="475488">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Aspect</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Prevention only</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Manual honeypot placement</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This project (implemented)</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475488">
                <a:tc>
                  <a:txBody>
                    <a:bodyPr/>
                    <a:lstStyle/>
                    <a:p>
                      <a:pPr algn="l" indent="0" marL="0">
                        <a:buNone/>
                      </a:pPr>
                      <a:r>
                        <a:rPr lang="en-US" sz="1300" dirty="0">
                          <a:solidFill>
                            <a:schemeClr val="bg1"/>
                          </a:solidFill>
                        </a:rPr>
                        <a:t>Visibility after a breach</a:t>
                      </a:r>
                      <a:endParaRPr lang="en-US" sz="13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300" dirty="0">
                          <a:solidFill>
                            <a:schemeClr val="bg1"/>
                          </a:solidFill>
                        </a:rPr>
                        <a:t>Limited</a:t>
                      </a:r>
                      <a:endParaRPr lang="en-US" sz="13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300" dirty="0">
                          <a:solidFill>
                            <a:schemeClr val="bg1"/>
                          </a:solidFill>
                        </a:rPr>
                        <a:t>Only where decoys happen to be</a:t>
                      </a:r>
                      <a:endParaRPr lang="en-US" sz="13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300" dirty="0">
                          <a:solidFill>
                            <a:schemeClr val="bg1"/>
                          </a:solidFill>
                        </a:rPr>
                        <a:t>Decoys chosen on predicted routes</a:t>
                      </a:r>
                      <a:endParaRPr lang="en-US" sz="13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475488">
                <a:tc>
                  <a:txBody>
                    <a:bodyPr/>
                    <a:lstStyle/>
                    <a:p>
                      <a:pPr algn="l" indent="0" marL="0">
                        <a:buNone/>
                      </a:pPr>
                      <a:r>
                        <a:rPr lang="en-US" sz="1300" dirty="0">
                          <a:solidFill>
                            <a:schemeClr val="bg1"/>
                          </a:solidFill>
                        </a:rPr>
                        <a:t>How placement is decided</a:t>
                      </a:r>
                      <a:endParaRPr lang="en-US" sz="13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300" dirty="0">
                          <a:solidFill>
                            <a:schemeClr val="bg1"/>
                          </a:solidFill>
                        </a:rPr>
                        <a:t>—</a:t>
                      </a:r>
                      <a:endParaRPr lang="en-US" sz="13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300" dirty="0">
                          <a:solidFill>
                            <a:schemeClr val="bg1"/>
                          </a:solidFill>
                        </a:rPr>
                        <a:t>Experience / intuition</a:t>
                      </a:r>
                      <a:endParaRPr lang="en-US" sz="13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300" dirty="0">
                          <a:solidFill>
                            <a:schemeClr val="bg1"/>
                          </a:solidFill>
                        </a:rPr>
                        <a:t>Documented score + optimisers</a:t>
                      </a:r>
                      <a:endParaRPr lang="en-US" sz="13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475488">
                <a:tc>
                  <a:txBody>
                    <a:bodyPr/>
                    <a:lstStyle/>
                    <a:p>
                      <a:pPr algn="l" indent="0" marL="0">
                        <a:buNone/>
                      </a:pPr>
                      <a:r>
                        <a:rPr lang="en-US" sz="1300" dirty="0">
                          <a:solidFill>
                            <a:schemeClr val="bg1"/>
                          </a:solidFill>
                        </a:rPr>
                        <a:t>Accounts for attacker routes</a:t>
                      </a:r>
                      <a:endParaRPr lang="en-US" sz="13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300" dirty="0">
                          <a:solidFill>
                            <a:schemeClr val="bg1"/>
                          </a:solidFill>
                        </a:rPr>
                        <a:t>No</a:t>
                      </a:r>
                      <a:endParaRPr lang="en-US" sz="13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300" dirty="0">
                          <a:solidFill>
                            <a:schemeClr val="bg1"/>
                          </a:solidFill>
                        </a:rPr>
                        <a:t>Implicitly, if at all</a:t>
                      </a:r>
                      <a:endParaRPr lang="en-US" sz="13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300" dirty="0">
                          <a:solidFill>
                            <a:schemeClr val="bg1"/>
                          </a:solidFill>
                        </a:rPr>
                        <a:t>Yes — BFS, DFS, UCS, A* + 3 alternatives</a:t>
                      </a:r>
                      <a:endParaRPr lang="en-US" sz="13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475488">
                <a:tc>
                  <a:txBody>
                    <a:bodyPr/>
                    <a:lstStyle/>
                    <a:p>
                      <a:pPr algn="l" indent="0" marL="0">
                        <a:buNone/>
                      </a:pPr>
                      <a:r>
                        <a:rPr lang="en-US" sz="1300" dirty="0">
                          <a:solidFill>
                            <a:schemeClr val="bg1"/>
                          </a:solidFill>
                        </a:rPr>
                        <a:t>Budget-aware</a:t>
                      </a:r>
                      <a:endParaRPr lang="en-US" sz="13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300" dirty="0">
                          <a:solidFill>
                            <a:schemeClr val="bg1"/>
                          </a:solidFill>
                        </a:rPr>
                        <a:t>—</a:t>
                      </a:r>
                      <a:endParaRPr lang="en-US" sz="13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300" dirty="0">
                          <a:solidFill>
                            <a:schemeClr val="bg1"/>
                          </a:solidFill>
                        </a:rPr>
                        <a:t>Informally</a:t>
                      </a:r>
                      <a:endParaRPr lang="en-US" sz="13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300" dirty="0">
                          <a:solidFill>
                            <a:schemeClr val="bg1"/>
                          </a:solidFill>
                        </a:rPr>
                        <a:t>Yes — honeypot budget k, deployment cost</a:t>
                      </a:r>
                      <a:endParaRPr lang="en-US" sz="13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475488">
                <a:tc>
                  <a:txBody>
                    <a:bodyPr/>
                    <a:lstStyle/>
                    <a:p>
                      <a:pPr algn="l" indent="0" marL="0">
                        <a:buNone/>
                      </a:pPr>
                      <a:r>
                        <a:rPr lang="en-US" sz="1300" dirty="0">
                          <a:solidFill>
                            <a:schemeClr val="bg1"/>
                          </a:solidFill>
                        </a:rPr>
                        <a:t>Explainable</a:t>
                      </a:r>
                      <a:endParaRPr lang="en-US" sz="13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300" dirty="0">
                          <a:solidFill>
                            <a:schemeClr val="bg1"/>
                          </a:solidFill>
                        </a:rPr>
                        <a:t>Rule-based</a:t>
                      </a:r>
                      <a:endParaRPr lang="en-US" sz="13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300" dirty="0">
                          <a:solidFill>
                            <a:schemeClr val="bg1"/>
                          </a:solidFill>
                        </a:rPr>
                        <a:t>Depends on the analyst</a:t>
                      </a:r>
                      <a:endParaRPr lang="en-US" sz="13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300" dirty="0">
                          <a:solidFill>
                            <a:schemeClr val="bg1"/>
                          </a:solidFill>
                        </a:rPr>
                        <a:t>Every score and reason returned</a:t>
                      </a:r>
                      <a:endParaRPr lang="en-US" sz="13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475488">
                <a:tc>
                  <a:txBody>
                    <a:bodyPr/>
                    <a:lstStyle/>
                    <a:p>
                      <a:pPr algn="l" indent="0" marL="0">
                        <a:buNone/>
                      </a:pPr>
                      <a:r>
                        <a:rPr lang="en-US" sz="1300" dirty="0">
                          <a:solidFill>
                            <a:schemeClr val="bg1"/>
                          </a:solidFill>
                        </a:rPr>
                        <a:t>Evaluated</a:t>
                      </a:r>
                      <a:endParaRPr lang="en-US" sz="13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300" dirty="0">
                          <a:solidFill>
                            <a:schemeClr val="bg1"/>
                          </a:solidFill>
                        </a:rPr>
                        <a:t>In production</a:t>
                      </a:r>
                      <a:endParaRPr lang="en-US" sz="13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300" dirty="0">
                          <a:solidFill>
                            <a:schemeClr val="bg1"/>
                          </a:solidFill>
                        </a:rPr>
                        <a:t>Rarely</a:t>
                      </a:r>
                      <a:endParaRPr lang="en-US" sz="13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300" dirty="0">
                          <a:solidFill>
                            <a:schemeClr val="bg1"/>
                          </a:solidFill>
                        </a:rPr>
                        <a:t>Repeated simulated runs, 5 strategies</a:t>
                      </a:r>
                      <a:endParaRPr lang="en-US" sz="13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bl>
          </a:graphicData>
        </a:graphic>
      </p:graphicFrame>
      <p:sp>
        <p:nvSpPr>
          <p:cNvPr id="4" name="Shape 1"/>
          <p:cNvSpPr/>
          <p:nvPr/>
        </p:nvSpPr>
        <p:spPr>
          <a:xfrm>
            <a:off x="548640" y="4892040"/>
            <a:ext cx="11064240" cy="1188720"/>
          </a:xfrm>
          <a:prstGeom prst="roundRect">
            <a:avLst>
              <a:gd name="adj" fmla="val 4615"/>
            </a:avLst>
          </a:prstGeom>
          <a:solidFill>
            <a:schemeClr val="tx2"/>
          </a:solidFill>
          <a:ln w="9525">
            <a:solidFill>
              <a:schemeClr val="accent1"/>
            </a:solidFill>
            <a:prstDash val="solid"/>
          </a:ln>
        </p:spPr>
      </p:sp>
      <p:sp>
        <p:nvSpPr>
          <p:cNvPr id="5" name="Text 2"/>
          <p:cNvSpPr txBox="1"/>
          <p:nvPr/>
        </p:nvSpPr>
        <p:spPr>
          <a:xfrm>
            <a:off x="777240" y="5074920"/>
            <a:ext cx="10607040" cy="822960"/>
          </a:xfrm>
          <a:prstGeom prst="rect">
            <a:avLst/>
          </a:prstGeom>
          <a:noFill/>
          <a:ln/>
        </p:spPr>
        <p:txBody>
          <a:bodyPr wrap="square" lIns="0" tIns="0" rIns="0" bIns="0" rtlCol="0" anchor="t"/>
          <a:lstStyle/>
          <a:p>
            <a:pPr indent="0" marL="0">
              <a:buNone/>
            </a:pPr>
            <a:r>
              <a:rPr lang="en-US" sz="1400" dirty="0">
                <a:solidFill>
                  <a:schemeClr val="accent2"/>
                </a:solidFill>
              </a:rPr>
              <a:t>Scope note: the comparison is conceptual. No experiment here shows this approach beats a production deception product — it is evaluated only on a simulated network.</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bg1"/>
                </a:solidFill>
                <a:latin typeface="Calibri" pitchFamily="34" charset="0"/>
                <a:ea typeface="Calibri" pitchFamily="34" charset="-122"/>
                <a:cs typeface="Calibri" pitchFamily="34" charset="-120"/>
              </a:rPr>
              <a:t>System architecture</a:t>
            </a:r>
            <a:endParaRPr lang="en-US" sz="3000" dirty="0"/>
          </a:p>
        </p:txBody>
      </p:sp>
      <p:sp>
        <p:nvSpPr>
          <p:cNvPr id="3" name="Shape 1"/>
          <p:cNvSpPr/>
          <p:nvPr/>
        </p:nvSpPr>
        <p:spPr>
          <a:xfrm>
            <a:off x="548640" y="1371600"/>
            <a:ext cx="2926080" cy="3383280"/>
          </a:xfrm>
          <a:prstGeom prst="roundRect">
            <a:avLst>
              <a:gd name="adj" fmla="val 1875"/>
            </a:avLst>
          </a:prstGeom>
          <a:solidFill>
            <a:schemeClr val="tx2"/>
          </a:solidFill>
          <a:ln w="9525">
            <a:solidFill>
              <a:schemeClr val="accent1"/>
            </a:solidFill>
            <a:prstDash val="solid"/>
          </a:ln>
        </p:spPr>
      </p:sp>
      <p:sp>
        <p:nvSpPr>
          <p:cNvPr id="4" name="Text 2"/>
          <p:cNvSpPr txBox="1"/>
          <p:nvPr/>
        </p:nvSpPr>
        <p:spPr>
          <a:xfrm>
            <a:off x="713232" y="1481328"/>
            <a:ext cx="2596896" cy="320040"/>
          </a:xfrm>
          <a:prstGeom prst="rect">
            <a:avLst/>
          </a:prstGeom>
          <a:noFill/>
          <a:ln/>
        </p:spPr>
        <p:txBody>
          <a:bodyPr wrap="square" lIns="0" tIns="0" rIns="0" bIns="0" rtlCol="0" anchor="t"/>
          <a:lstStyle/>
          <a:p>
            <a:pPr indent="0" marL="0">
              <a:buNone/>
            </a:pPr>
            <a:r>
              <a:rPr lang="en-US" sz="1500" b="1" dirty="0">
                <a:solidFill>
                  <a:schemeClr val="accent2"/>
                </a:solidFill>
              </a:rPr>
              <a:t>Frontend (browser)</a:t>
            </a:r>
            <a:endParaRPr lang="en-US" sz="1500" dirty="0"/>
          </a:p>
        </p:txBody>
      </p:sp>
      <p:sp>
        <p:nvSpPr>
          <p:cNvPr id="5" name="Text 3"/>
          <p:cNvSpPr txBox="1"/>
          <p:nvPr/>
        </p:nvSpPr>
        <p:spPr>
          <a:xfrm>
            <a:off x="713232" y="1828800"/>
            <a:ext cx="2596896" cy="2834640"/>
          </a:xfrm>
          <a:prstGeom prst="rect">
            <a:avLst/>
          </a:prstGeom>
          <a:noFill/>
          <a:ln/>
        </p:spPr>
        <p:txBody>
          <a:bodyPr wrap="square" lIns="0" tIns="0" rIns="0" bIns="0" rtlCol="0" anchor="t"/>
          <a:lstStyle/>
          <a:p>
            <a:pPr indent="0" marL="0">
              <a:buNone/>
            </a:pPr>
            <a:r>
              <a:rPr lang="en-US" sz="1200" dirty="0">
                <a:solidFill>
                  <a:schemeClr val="bg1"/>
                </a:solidFill>
              </a:rPr>
              <a:t>React 18 + TypeScript + Vite</a:t>
            </a:r>
            <a:endParaRPr lang="en-US" sz="1200" dirty="0"/>
          </a:p>
          <a:p>
            <a:pPr indent="0" marL="0">
              <a:buNone/>
            </a:pPr>
            <a:r>
              <a:rPr lang="en-US" sz="1200" dirty="0">
                <a:solidFill>
                  <a:schemeClr val="bg1"/>
                </a:solidFill>
              </a:rPr>
              <a:t>Tailwind CSS design tokens</a:t>
            </a:r>
            <a:endParaRPr lang="en-US" sz="1200" dirty="0"/>
          </a:p>
          <a:p>
            <a:pPr indent="0" marL="0">
              <a:buNone/>
            </a:pPr>
            <a:r>
              <a:rPr lang="en-US" sz="1200" dirty="0">
                <a:solidFill>
                  <a:schemeClr val="bg1"/>
                </a:solidFill>
              </a:rPr>
              <a:t>React Flow network graph</a:t>
            </a:r>
            <a:endParaRPr lang="en-US" sz="1200" dirty="0"/>
          </a:p>
          <a:p>
            <a:pPr indent="0" marL="0">
              <a:buNone/>
            </a:pPr>
            <a:r>
              <a:rPr lang="en-US" sz="1200" dirty="0">
                <a:solidFill>
                  <a:schemeClr val="bg1"/>
                </a:solidFill>
              </a:rPr>
              <a:t>pages/ · components/</a:t>
            </a:r>
            <a:endParaRPr lang="en-US" sz="1200" dirty="0"/>
          </a:p>
          <a:p>
            <a:pPr indent="0" marL="0">
              <a:buNone/>
            </a:pPr>
            <a:r>
              <a:rPr lang="en-US" sz="1200" dirty="0">
                <a:solidFill>
                  <a:schemeClr val="bg1"/>
                </a:solidFill>
              </a:rPr>
              <a:t>api/client.ts (typed fetch)</a:t>
            </a:r>
            <a:endParaRPr lang="en-US" sz="1200" dirty="0"/>
          </a:p>
        </p:txBody>
      </p:sp>
      <p:sp>
        <p:nvSpPr>
          <p:cNvPr id="6" name="Shape 4"/>
          <p:cNvSpPr/>
          <p:nvPr/>
        </p:nvSpPr>
        <p:spPr>
          <a:xfrm>
            <a:off x="4160520" y="1371600"/>
            <a:ext cx="3200400" cy="3383280"/>
          </a:xfrm>
          <a:prstGeom prst="roundRect">
            <a:avLst>
              <a:gd name="adj" fmla="val 1714"/>
            </a:avLst>
          </a:prstGeom>
          <a:solidFill>
            <a:schemeClr val="tx2"/>
          </a:solidFill>
          <a:ln w="9525">
            <a:solidFill>
              <a:schemeClr val="accent1"/>
            </a:solidFill>
            <a:prstDash val="solid"/>
          </a:ln>
        </p:spPr>
      </p:sp>
      <p:sp>
        <p:nvSpPr>
          <p:cNvPr id="7" name="Text 5"/>
          <p:cNvSpPr txBox="1"/>
          <p:nvPr/>
        </p:nvSpPr>
        <p:spPr>
          <a:xfrm>
            <a:off x="4325112" y="1481328"/>
            <a:ext cx="2871216" cy="320040"/>
          </a:xfrm>
          <a:prstGeom prst="rect">
            <a:avLst/>
          </a:prstGeom>
          <a:noFill/>
          <a:ln/>
        </p:spPr>
        <p:txBody>
          <a:bodyPr wrap="square" lIns="0" tIns="0" rIns="0" bIns="0" rtlCol="0" anchor="t"/>
          <a:lstStyle/>
          <a:p>
            <a:pPr indent="0" marL="0">
              <a:buNone/>
            </a:pPr>
            <a:r>
              <a:rPr lang="en-US" sz="1500" b="1" dirty="0">
                <a:solidFill>
                  <a:schemeClr val="accent2"/>
                </a:solidFill>
              </a:rPr>
              <a:t>API — FastAPI</a:t>
            </a:r>
            <a:endParaRPr lang="en-US" sz="1500" dirty="0"/>
          </a:p>
        </p:txBody>
      </p:sp>
      <p:sp>
        <p:nvSpPr>
          <p:cNvPr id="8" name="Text 6"/>
          <p:cNvSpPr txBox="1"/>
          <p:nvPr/>
        </p:nvSpPr>
        <p:spPr>
          <a:xfrm>
            <a:off x="4325112" y="1828800"/>
            <a:ext cx="2871216" cy="2834640"/>
          </a:xfrm>
          <a:prstGeom prst="rect">
            <a:avLst/>
          </a:prstGeom>
          <a:noFill/>
          <a:ln/>
        </p:spPr>
        <p:txBody>
          <a:bodyPr wrap="square" lIns="0" tIns="0" rIns="0" bIns="0" rtlCol="0" anchor="t"/>
          <a:lstStyle/>
          <a:p>
            <a:pPr indent="0" marL="0">
              <a:buNone/>
            </a:pPr>
            <a:r>
              <a:rPr lang="en-US" sz="1200" dirty="0">
                <a:solidFill>
                  <a:schemeClr val="bg1"/>
                </a:solidFill>
              </a:rPr>
              <a:t>routes/: HTTP + status codes</a:t>
            </a:r>
            <a:endParaRPr lang="en-US" sz="1200" dirty="0"/>
          </a:p>
          <a:p>
            <a:pPr indent="0" marL="0">
              <a:buNone/>
            </a:pPr>
            <a:r>
              <a:rPr lang="en-US" sz="1200" dirty="0">
                <a:solidFill>
                  <a:schemeClr val="bg1"/>
                </a:solidFill>
              </a:rPr>
              <a:t>schemas/: Pydantic validation</a:t>
            </a:r>
            <a:endParaRPr lang="en-US" sz="1200" dirty="0"/>
          </a:p>
          <a:p>
            <a:pPr indent="0" marL="0">
              <a:buNone/>
            </a:pPr>
            <a:r>
              <a:rPr lang="en-US" sz="1200" dirty="0">
                <a:solidFill>
                  <a:schemeClr val="bg1"/>
                </a:solidFill>
              </a:rPr>
              <a:t>services/: adapters, no HTTP</a:t>
            </a:r>
            <a:endParaRPr lang="en-US" sz="1200" dirty="0"/>
          </a:p>
          <a:p>
            <a:pPr indent="0" marL="0">
              <a:buNone/>
            </a:pPr>
            <a:r>
              <a:rPr lang="en-US" sz="1200" dirty="0">
                <a:solidFill>
                  <a:schemeClr val="bg1"/>
                </a:solidFill>
              </a:rPr>
              <a:t>CORS restricted to known origins</a:t>
            </a:r>
            <a:endParaRPr lang="en-US" sz="1200" dirty="0"/>
          </a:p>
          <a:p>
            <a:pPr indent="0" marL="0">
              <a:buNone/>
            </a:pPr>
            <a:r>
              <a:rPr lang="en-US" sz="1200" dirty="0">
                <a:solidFill>
                  <a:schemeClr val="bg1"/>
                </a:solidFill>
              </a:rPr>
              <a:t>OpenAPI docs at /docs</a:t>
            </a:r>
            <a:endParaRPr lang="en-US" sz="1200" dirty="0"/>
          </a:p>
        </p:txBody>
      </p:sp>
      <p:sp>
        <p:nvSpPr>
          <p:cNvPr id="9" name="Shape 7"/>
          <p:cNvSpPr/>
          <p:nvPr/>
        </p:nvSpPr>
        <p:spPr>
          <a:xfrm>
            <a:off x="8046720" y="1371600"/>
            <a:ext cx="3566160" cy="1600200"/>
          </a:xfrm>
          <a:prstGeom prst="roundRect">
            <a:avLst>
              <a:gd name="adj" fmla="val 3429"/>
            </a:avLst>
          </a:prstGeom>
          <a:solidFill>
            <a:schemeClr val="tx2"/>
          </a:solidFill>
          <a:ln w="9525">
            <a:solidFill>
              <a:schemeClr val="accent6"/>
            </a:solidFill>
            <a:prstDash val="solid"/>
          </a:ln>
        </p:spPr>
      </p:sp>
      <p:sp>
        <p:nvSpPr>
          <p:cNvPr id="10" name="Text 8"/>
          <p:cNvSpPr txBox="1"/>
          <p:nvPr/>
        </p:nvSpPr>
        <p:spPr>
          <a:xfrm>
            <a:off x="8211312" y="1481328"/>
            <a:ext cx="3236976" cy="320040"/>
          </a:xfrm>
          <a:prstGeom prst="rect">
            <a:avLst/>
          </a:prstGeom>
          <a:noFill/>
          <a:ln/>
        </p:spPr>
        <p:txBody>
          <a:bodyPr wrap="square" lIns="0" tIns="0" rIns="0" bIns="0" rtlCol="0" anchor="t"/>
          <a:lstStyle/>
          <a:p>
            <a:pPr indent="0" marL="0">
              <a:buNone/>
            </a:pPr>
            <a:r>
              <a:rPr lang="en-US" sz="1500" b="1" dirty="0">
                <a:solidFill>
                  <a:schemeClr val="accent2"/>
                </a:solidFill>
              </a:rPr>
              <a:t>Algorithms (pure Python)</a:t>
            </a:r>
            <a:endParaRPr lang="en-US" sz="1500" dirty="0"/>
          </a:p>
        </p:txBody>
      </p:sp>
      <p:sp>
        <p:nvSpPr>
          <p:cNvPr id="11" name="Text 9"/>
          <p:cNvSpPr txBox="1"/>
          <p:nvPr/>
        </p:nvSpPr>
        <p:spPr>
          <a:xfrm>
            <a:off x="8211312" y="1828800"/>
            <a:ext cx="3236976" cy="1051560"/>
          </a:xfrm>
          <a:prstGeom prst="rect">
            <a:avLst/>
          </a:prstGeom>
          <a:noFill/>
          <a:ln/>
        </p:spPr>
        <p:txBody>
          <a:bodyPr wrap="square" lIns="0" tIns="0" rIns="0" bIns="0" rtlCol="0" anchor="t"/>
          <a:lstStyle/>
          <a:p>
            <a:pPr indent="0" marL="0">
              <a:buNone/>
            </a:pPr>
            <a:r>
              <a:rPr lang="en-US" sz="1200" dirty="0">
                <a:solidFill>
                  <a:schemeClr val="bg1"/>
                </a:solidFill>
              </a:rPr>
              <a:t>ai/: search, agents, game search, Bayes, optimisers, planning</a:t>
            </a:r>
            <a:endParaRPr lang="en-US" sz="1200" dirty="0"/>
          </a:p>
          <a:p>
            <a:pPr indent="0" marL="0">
              <a:buNone/>
            </a:pPr>
            <a:r>
              <a:rPr lang="en-US" sz="1200" dirty="0">
                <a:solidFill>
                  <a:schemeClr val="bg1"/>
                </a:solidFill>
              </a:rPr>
              <a:t>simulation/: NetworkX network model</a:t>
            </a:r>
            <a:endParaRPr lang="en-US" sz="1200" dirty="0"/>
          </a:p>
        </p:txBody>
      </p:sp>
      <p:sp>
        <p:nvSpPr>
          <p:cNvPr id="12" name="Shape 10"/>
          <p:cNvSpPr/>
          <p:nvPr/>
        </p:nvSpPr>
        <p:spPr>
          <a:xfrm>
            <a:off x="8046720" y="3154680"/>
            <a:ext cx="3566160" cy="1600200"/>
          </a:xfrm>
          <a:prstGeom prst="roundRect">
            <a:avLst>
              <a:gd name="adj" fmla="val 3429"/>
            </a:avLst>
          </a:prstGeom>
          <a:solidFill>
            <a:schemeClr val="tx2"/>
          </a:solidFill>
          <a:ln w="9525">
            <a:solidFill>
              <a:schemeClr val="accent6"/>
            </a:solidFill>
            <a:prstDash val="solid"/>
          </a:ln>
        </p:spPr>
      </p:sp>
      <p:sp>
        <p:nvSpPr>
          <p:cNvPr id="13" name="Text 11"/>
          <p:cNvSpPr txBox="1"/>
          <p:nvPr/>
        </p:nvSpPr>
        <p:spPr>
          <a:xfrm>
            <a:off x="8211312" y="3264408"/>
            <a:ext cx="3236976" cy="320040"/>
          </a:xfrm>
          <a:prstGeom prst="rect">
            <a:avLst/>
          </a:prstGeom>
          <a:noFill/>
          <a:ln/>
        </p:spPr>
        <p:txBody>
          <a:bodyPr wrap="square" lIns="0" tIns="0" rIns="0" bIns="0" rtlCol="0" anchor="t"/>
          <a:lstStyle/>
          <a:p>
            <a:pPr indent="0" marL="0">
              <a:buNone/>
            </a:pPr>
            <a:r>
              <a:rPr lang="en-US" sz="1500" b="1" dirty="0">
                <a:solidFill>
                  <a:schemeClr val="accent2"/>
                </a:solidFill>
              </a:rPr>
              <a:t>Persistence</a:t>
            </a:r>
            <a:endParaRPr lang="en-US" sz="1500" dirty="0"/>
          </a:p>
        </p:txBody>
      </p:sp>
      <p:sp>
        <p:nvSpPr>
          <p:cNvPr id="14" name="Text 12"/>
          <p:cNvSpPr txBox="1"/>
          <p:nvPr/>
        </p:nvSpPr>
        <p:spPr>
          <a:xfrm>
            <a:off x="8211312" y="3611880"/>
            <a:ext cx="3236976" cy="1051560"/>
          </a:xfrm>
          <a:prstGeom prst="rect">
            <a:avLst/>
          </a:prstGeom>
          <a:noFill/>
          <a:ln/>
        </p:spPr>
        <p:txBody>
          <a:bodyPr wrap="square" lIns="0" tIns="0" rIns="0" bIns="0" rtlCol="0" anchor="t"/>
          <a:lstStyle/>
          <a:p>
            <a:pPr indent="0" marL="0">
              <a:buNone/>
            </a:pPr>
            <a:r>
              <a:rPr lang="en-US" sz="1200" dirty="0">
                <a:solidFill>
                  <a:schemeClr val="bg1"/>
                </a:solidFill>
              </a:rPr>
              <a:t>SQLAlchemy 2 ORM</a:t>
            </a:r>
            <a:endParaRPr lang="en-US" sz="1200" dirty="0"/>
          </a:p>
          <a:p>
            <a:pPr indent="0" marL="0">
              <a:buNone/>
            </a:pPr>
            <a:r>
              <a:rPr lang="en-US" sz="1200" dirty="0">
                <a:solidFill>
                  <a:schemeClr val="bg1"/>
                </a:solidFill>
              </a:rPr>
              <a:t>SQLite (default) or PostgreSQL 16</a:t>
            </a:r>
            <a:endParaRPr lang="en-US" sz="1200" dirty="0"/>
          </a:p>
          <a:p>
            <a:pPr indent="0" marL="0">
              <a:buNone/>
            </a:pPr>
            <a:r>
              <a:rPr lang="en-US" sz="1200" dirty="0">
                <a:solidFill>
                  <a:schemeClr val="bg1"/>
                </a:solidFill>
              </a:rPr>
              <a:t>saved scenarios + experiment history</a:t>
            </a:r>
            <a:endParaRPr lang="en-US" sz="1200" dirty="0"/>
          </a:p>
        </p:txBody>
      </p:sp>
      <p:sp>
        <p:nvSpPr>
          <p:cNvPr id="15" name="Shape 13"/>
          <p:cNvSpPr/>
          <p:nvPr/>
        </p:nvSpPr>
        <p:spPr>
          <a:xfrm>
            <a:off x="3474720" y="3063240"/>
            <a:ext cx="685800" cy="914"/>
          </a:xfrm>
          <a:prstGeom prst="line">
            <a:avLst/>
          </a:prstGeom>
          <a:noFill/>
          <a:ln w="25400">
            <a:solidFill>
              <a:schemeClr val="accent1"/>
            </a:solidFill>
            <a:prstDash val="solid"/>
            <a:headEnd type="triangle"/>
            <a:tailEnd type="triangle"/>
          </a:ln>
        </p:spPr>
      </p:sp>
      <p:sp>
        <p:nvSpPr>
          <p:cNvPr id="16" name="Text 14"/>
          <p:cNvSpPr txBox="1"/>
          <p:nvPr/>
        </p:nvSpPr>
        <p:spPr>
          <a:xfrm>
            <a:off x="3401568" y="2697480"/>
            <a:ext cx="868680" cy="274320"/>
          </a:xfrm>
          <a:prstGeom prst="rect">
            <a:avLst/>
          </a:prstGeom>
          <a:noFill/>
          <a:ln/>
        </p:spPr>
        <p:txBody>
          <a:bodyPr wrap="square" lIns="0" tIns="0" rIns="0" bIns="0" rtlCol="0" anchor="t"/>
          <a:lstStyle/>
          <a:p>
            <a:pPr algn="ctr" indent="0" marL="0">
              <a:buNone/>
            </a:pPr>
            <a:r>
              <a:rPr lang="en-US" sz="1000" dirty="0">
                <a:solidFill>
                  <a:schemeClr val="bg2"/>
                </a:solidFill>
                <a:latin typeface="Courier New" pitchFamily="34" charset="0"/>
                <a:ea typeface="Courier New" pitchFamily="34" charset="-122"/>
                <a:cs typeface="Courier New" pitchFamily="34" charset="-120"/>
              </a:rPr>
              <a:t>JSON /api/*</a:t>
            </a:r>
            <a:endParaRPr lang="en-US" sz="1000" dirty="0"/>
          </a:p>
        </p:txBody>
      </p:sp>
      <p:sp>
        <p:nvSpPr>
          <p:cNvPr id="17" name="Shape 15"/>
          <p:cNvSpPr/>
          <p:nvPr/>
        </p:nvSpPr>
        <p:spPr>
          <a:xfrm>
            <a:off x="7360920" y="2148840"/>
            <a:ext cx="685800" cy="914"/>
          </a:xfrm>
          <a:prstGeom prst="line">
            <a:avLst/>
          </a:prstGeom>
          <a:noFill/>
          <a:ln w="19050">
            <a:solidFill>
              <a:schemeClr val="accent6"/>
            </a:solidFill>
            <a:prstDash val="solid"/>
            <a:tailEnd type="triangle"/>
          </a:ln>
        </p:spPr>
      </p:sp>
      <p:sp>
        <p:nvSpPr>
          <p:cNvPr id="18" name="Shape 16"/>
          <p:cNvSpPr/>
          <p:nvPr/>
        </p:nvSpPr>
        <p:spPr>
          <a:xfrm>
            <a:off x="7360920" y="3931920"/>
            <a:ext cx="685800" cy="914"/>
          </a:xfrm>
          <a:prstGeom prst="line">
            <a:avLst/>
          </a:prstGeom>
          <a:noFill/>
          <a:ln w="19050">
            <a:solidFill>
              <a:schemeClr val="accent6"/>
            </a:solidFill>
            <a:prstDash val="solid"/>
            <a:tailEnd type="triangle"/>
          </a:ln>
        </p:spPr>
      </p:sp>
      <p:sp>
        <p:nvSpPr>
          <p:cNvPr id="19" name="Shape 17"/>
          <p:cNvSpPr/>
          <p:nvPr/>
        </p:nvSpPr>
        <p:spPr>
          <a:xfrm>
            <a:off x="548640" y="5029200"/>
            <a:ext cx="11064240" cy="1051560"/>
          </a:xfrm>
          <a:prstGeom prst="roundRect">
            <a:avLst>
              <a:gd name="adj" fmla="val 5217"/>
            </a:avLst>
          </a:prstGeom>
          <a:solidFill>
            <a:schemeClr val="tx2"/>
          </a:solidFill>
          <a:ln w="9525">
            <a:solidFill>
              <a:schemeClr val="accent6"/>
            </a:solidFill>
            <a:prstDash val="solid"/>
          </a:ln>
        </p:spPr>
      </p:sp>
      <p:sp>
        <p:nvSpPr>
          <p:cNvPr id="20" name="Text 18"/>
          <p:cNvSpPr txBox="1"/>
          <p:nvPr/>
        </p:nvSpPr>
        <p:spPr>
          <a:xfrm>
            <a:off x="777240" y="5166360"/>
            <a:ext cx="5486400" cy="228600"/>
          </a:xfrm>
          <a:prstGeom prst="rect">
            <a:avLst/>
          </a:prstGeom>
          <a:noFill/>
          <a:ln/>
        </p:spPr>
        <p:txBody>
          <a:bodyPr wrap="square" lIns="0" tIns="0" rIns="0" bIns="0" rtlCol="0" anchor="t"/>
          <a:lstStyle/>
          <a:p>
            <a:pPr indent="0" marL="0">
              <a:buNone/>
            </a:pPr>
            <a:r>
              <a:rPr lang="en-US" sz="1000" b="1" spc="150" kern="0" dirty="0">
                <a:solidFill>
                  <a:schemeClr val="accent1"/>
                </a:solidFill>
                <a:latin typeface="Courier New" pitchFamily="34" charset="0"/>
                <a:ea typeface="Courier New" pitchFamily="34" charset="-122"/>
                <a:cs typeface="Courier New" pitchFamily="34" charset="-120"/>
              </a:rPr>
              <a:t>DOCKER COMPOSE (VERIFIED LOCALLY)</a:t>
            </a:r>
            <a:endParaRPr lang="en-US" sz="1000" dirty="0"/>
          </a:p>
        </p:txBody>
      </p:sp>
      <p:sp>
        <p:nvSpPr>
          <p:cNvPr id="21" name="Text 19"/>
          <p:cNvSpPr txBox="1"/>
          <p:nvPr/>
        </p:nvSpPr>
        <p:spPr>
          <a:xfrm>
            <a:off x="777240" y="5486400"/>
            <a:ext cx="10607040" cy="365760"/>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frontend :5173 (Vite)   →   backend :8000 (Uvicorn, health-checked)   →   db :5432 (postgres:16-alpine, pg_isready, persistent volume)</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bg1"/>
                </a:solidFill>
                <a:latin typeface="Calibri" pitchFamily="34" charset="0"/>
                <a:ea typeface="Calibri" pitchFamily="34" charset="-122"/>
                <a:cs typeface="Calibri" pitchFamily="34" charset="-120"/>
              </a:rPr>
              <a:t>Technology stack and justification</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377440"/>
                <a:gridCol w="2926080"/>
                <a:gridCol w="3017520"/>
                <a:gridCol w="2743200"/>
              </a:tblGrid>
              <a:tr h="457200">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Technology</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Role in this project</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Why chosen</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Where in the code</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457200">
                <a:tc>
                  <a:txBody>
                    <a:bodyPr/>
                    <a:lstStyle/>
                    <a:p>
                      <a:pPr algn="l" indent="0" marL="0">
                        <a:buNone/>
                      </a:pPr>
                      <a:r>
                        <a:rPr lang="en-US" sz="1200" dirty="0">
                          <a:solidFill>
                            <a:schemeClr val="bg1"/>
                          </a:solidFill>
                        </a:rPr>
                        <a:t>Python 3.12 + NetworkX</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Graph model, shortest simple paths</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Mature graph library, readable</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backend/simulation/, ai/</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457200">
                <a:tc>
                  <a:txBody>
                    <a:bodyPr/>
                    <a:lstStyle/>
                    <a:p>
                      <a:pPr algn="l" indent="0" marL="0">
                        <a:buNone/>
                      </a:pPr>
                      <a:r>
                        <a:rPr lang="en-US" sz="1200" dirty="0">
                          <a:solidFill>
                            <a:schemeClr val="bg1"/>
                          </a:solidFill>
                        </a:rPr>
                        <a:t>FastAPI + Pydantic v2</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REST API, request validation</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Typed schemas, automatic OpenAPI docs</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backend/app/</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457200">
                <a:tc>
                  <a:txBody>
                    <a:bodyPr/>
                    <a:lstStyle/>
                    <a:p>
                      <a:pPr algn="l" indent="0" marL="0">
                        <a:buNone/>
                      </a:pPr>
                      <a:r>
                        <a:rPr lang="en-US" sz="1200" dirty="0">
                          <a:solidFill>
                            <a:schemeClr val="bg1"/>
                          </a:solidFill>
                        </a:rPr>
                        <a:t>SQLAlchemy 2</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ORM for scenarios + experiments</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Same code for SQLite and PostgreSQL</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app/models, app/db</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457200">
                <a:tc>
                  <a:txBody>
                    <a:bodyPr/>
                    <a:lstStyle/>
                    <a:p>
                      <a:pPr algn="l" indent="0" marL="0">
                        <a:buNone/>
                      </a:pPr>
                      <a:r>
                        <a:rPr lang="en-US" sz="1200" dirty="0">
                          <a:solidFill>
                            <a:schemeClr val="bg1"/>
                          </a:solidFill>
                        </a:rPr>
                        <a:t>React 18 + TypeScript</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UI and state</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Typed API contracts, components</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frontend/src/</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457200">
                <a:tc>
                  <a:txBody>
                    <a:bodyPr/>
                    <a:lstStyle/>
                    <a:p>
                      <a:pPr algn="l" indent="0" marL="0">
                        <a:buNone/>
                      </a:pPr>
                      <a:r>
                        <a:rPr lang="en-US" sz="1200" dirty="0">
                          <a:solidFill>
                            <a:schemeClr val="bg1"/>
                          </a:solidFill>
                        </a:rPr>
                        <a:t>Vite 5</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Dev server, proxy, build</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Fast builds; /api proxy in development</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vite.config.ts</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457200">
                <a:tc>
                  <a:txBody>
                    <a:bodyPr/>
                    <a:lstStyle/>
                    <a:p>
                      <a:pPr algn="l" indent="0" marL="0">
                        <a:buNone/>
                      </a:pPr>
                      <a:r>
                        <a:rPr lang="en-US" sz="1200" dirty="0">
                          <a:solidFill>
                            <a:schemeClr val="bg1"/>
                          </a:solidFill>
                        </a:rPr>
                        <a:t>React Flow 11</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Interactive network graph</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Purpose-built node/edge rendering</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NetworkGraph.tsx</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457200">
                <a:tc>
                  <a:txBody>
                    <a:bodyPr/>
                    <a:lstStyle/>
                    <a:p>
                      <a:pPr algn="l" indent="0" marL="0">
                        <a:buNone/>
                      </a:pPr>
                      <a:r>
                        <a:rPr lang="en-US" sz="1200" dirty="0">
                          <a:solidFill>
                            <a:schemeClr val="bg1"/>
                          </a:solidFill>
                        </a:rPr>
                        <a:t>Tailwind CSS 3</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Design tokens, styling</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One palette, consistent components</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tailwind.config.js</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457200">
                <a:tc>
                  <a:txBody>
                    <a:bodyPr/>
                    <a:lstStyle/>
                    <a:p>
                      <a:pPr algn="l" indent="0" marL="0">
                        <a:buNone/>
                      </a:pPr>
                      <a:r>
                        <a:rPr lang="en-US" sz="1200" dirty="0">
                          <a:solidFill>
                            <a:schemeClr val="bg1"/>
                          </a:solidFill>
                        </a:rPr>
                        <a:t>pytest · Vitest</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Automated tests</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170 backend, 44 frontend tests</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backend/tests, *.test.tsx</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457200">
                <a:tc>
                  <a:txBody>
                    <a:bodyPr/>
                    <a:lstStyle/>
                    <a:p>
                      <a:pPr algn="l" indent="0" marL="0">
                        <a:buNone/>
                      </a:pPr>
                      <a:r>
                        <a:rPr lang="en-US" sz="1200" dirty="0">
                          <a:solidFill>
                            <a:schemeClr val="bg1"/>
                          </a:solidFill>
                        </a:rPr>
                        <a:t>Docker Compose</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db + backend + frontend</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Reproducible local stack</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docker-compose.yml</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bl>
          </a:graphicData>
        </a:graphic>
      </p:graphicFrame>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bg1"/>
                </a:solidFill>
                <a:latin typeface="Calibri" pitchFamily="34" charset="0"/>
                <a:ea typeface="Calibri" pitchFamily="34" charset="-122"/>
                <a:cs typeface="Calibri" pitchFamily="34" charset="-120"/>
              </a:rPr>
              <a:t>The network as a graph: G = (V, E)</a:t>
            </a:r>
            <a:endParaRPr lang="en-US" sz="3000" dirty="0"/>
          </a:p>
        </p:txBody>
      </p:sp>
      <p:sp>
        <p:nvSpPr>
          <p:cNvPr id="3" name="Shape 1"/>
          <p:cNvSpPr/>
          <p:nvPr/>
        </p:nvSpPr>
        <p:spPr>
          <a:xfrm>
            <a:off x="1234440" y="3017520"/>
            <a:ext cx="1394460" cy="914"/>
          </a:xfrm>
          <a:prstGeom prst="line">
            <a:avLst/>
          </a:prstGeom>
          <a:noFill/>
          <a:ln w="15875">
            <a:solidFill>
              <a:schemeClr val="accent6"/>
            </a:solidFill>
            <a:prstDash val="solid"/>
          </a:ln>
        </p:spPr>
      </p:sp>
      <p:sp>
        <p:nvSpPr>
          <p:cNvPr id="4" name="Shape 2"/>
          <p:cNvSpPr/>
          <p:nvPr/>
        </p:nvSpPr>
        <p:spPr>
          <a:xfrm>
            <a:off x="1785366" y="2898648"/>
            <a:ext cx="292608" cy="237744"/>
          </a:xfrm>
          <a:prstGeom prst="roundRect">
            <a:avLst>
              <a:gd name="adj" fmla="val 15385"/>
            </a:avLst>
          </a:prstGeom>
          <a:solidFill>
            <a:schemeClr val="tx1"/>
          </a:solidFill>
          <a:ln w="9525">
            <a:solidFill>
              <a:schemeClr val="accent6"/>
            </a:solidFill>
            <a:prstDash val="solid"/>
          </a:ln>
        </p:spPr>
      </p:sp>
      <p:sp>
        <p:nvSpPr>
          <p:cNvPr id="5" name="Text 3"/>
          <p:cNvSpPr txBox="1"/>
          <p:nvPr/>
        </p:nvSpPr>
        <p:spPr>
          <a:xfrm>
            <a:off x="1785366" y="2898648"/>
            <a:ext cx="292608" cy="237744"/>
          </a:xfrm>
          <a:prstGeom prst="rect">
            <a:avLst/>
          </a:prstGeom>
          <a:noFill/>
          <a:ln/>
        </p:spPr>
        <p:txBody>
          <a:bodyPr wrap="square" lIns="0" tIns="0" rIns="0" bIns="0" rtlCol="0" anchor="ctr"/>
          <a:lstStyle/>
          <a:p>
            <a:pPr algn="ctr" indent="0" marL="0">
              <a:buNone/>
            </a:pPr>
            <a:r>
              <a:rPr lang="en-US" sz="1100" dirty="0">
                <a:solidFill>
                  <a:schemeClr val="bg2"/>
                </a:solidFill>
                <a:latin typeface="Courier New" pitchFamily="34" charset="0"/>
                <a:ea typeface="Courier New" pitchFamily="34" charset="-122"/>
                <a:cs typeface="Courier New" pitchFamily="34" charset="-120"/>
              </a:rPr>
              <a:t>1</a:t>
            </a:r>
            <a:endParaRPr lang="en-US" sz="1100" dirty="0"/>
          </a:p>
        </p:txBody>
      </p:sp>
      <p:sp>
        <p:nvSpPr>
          <p:cNvPr id="6" name="Shape 4"/>
          <p:cNvSpPr/>
          <p:nvPr/>
        </p:nvSpPr>
        <p:spPr>
          <a:xfrm flipV="1">
            <a:off x="2628900" y="1645920"/>
            <a:ext cx="1394460" cy="1371600"/>
          </a:xfrm>
          <a:prstGeom prst="line">
            <a:avLst/>
          </a:prstGeom>
          <a:noFill/>
          <a:ln w="15875">
            <a:solidFill>
              <a:schemeClr val="accent6"/>
            </a:solidFill>
            <a:prstDash val="solid"/>
          </a:ln>
        </p:spPr>
      </p:sp>
      <p:sp>
        <p:nvSpPr>
          <p:cNvPr id="7" name="Shape 5"/>
          <p:cNvSpPr/>
          <p:nvPr/>
        </p:nvSpPr>
        <p:spPr>
          <a:xfrm>
            <a:off x="3179826" y="2212848"/>
            <a:ext cx="292608" cy="237744"/>
          </a:xfrm>
          <a:prstGeom prst="roundRect">
            <a:avLst>
              <a:gd name="adj" fmla="val 15385"/>
            </a:avLst>
          </a:prstGeom>
          <a:solidFill>
            <a:schemeClr val="tx1"/>
          </a:solidFill>
          <a:ln w="9525">
            <a:solidFill>
              <a:schemeClr val="accent6"/>
            </a:solidFill>
            <a:prstDash val="solid"/>
          </a:ln>
        </p:spPr>
      </p:sp>
      <p:sp>
        <p:nvSpPr>
          <p:cNvPr id="8" name="Text 6"/>
          <p:cNvSpPr txBox="1"/>
          <p:nvPr/>
        </p:nvSpPr>
        <p:spPr>
          <a:xfrm>
            <a:off x="3179826" y="2212848"/>
            <a:ext cx="292608" cy="237744"/>
          </a:xfrm>
          <a:prstGeom prst="rect">
            <a:avLst/>
          </a:prstGeom>
          <a:noFill/>
          <a:ln/>
        </p:spPr>
        <p:txBody>
          <a:bodyPr wrap="square" lIns="0" tIns="0" rIns="0" bIns="0" rtlCol="0" anchor="ctr"/>
          <a:lstStyle/>
          <a:p>
            <a:pPr algn="ctr" indent="0" marL="0">
              <a:buNone/>
            </a:pPr>
            <a:r>
              <a:rPr lang="en-US" sz="1100" dirty="0">
                <a:solidFill>
                  <a:schemeClr val="bg2"/>
                </a:solidFill>
                <a:latin typeface="Courier New" pitchFamily="34" charset="0"/>
                <a:ea typeface="Courier New" pitchFamily="34" charset="-122"/>
                <a:cs typeface="Courier New" pitchFamily="34" charset="-120"/>
              </a:rPr>
              <a:t>2</a:t>
            </a:r>
            <a:endParaRPr lang="en-US" sz="1100" dirty="0"/>
          </a:p>
        </p:txBody>
      </p:sp>
      <p:sp>
        <p:nvSpPr>
          <p:cNvPr id="9" name="Shape 7"/>
          <p:cNvSpPr/>
          <p:nvPr/>
        </p:nvSpPr>
        <p:spPr>
          <a:xfrm>
            <a:off x="2628900" y="3017520"/>
            <a:ext cx="1394460" cy="1371600"/>
          </a:xfrm>
          <a:prstGeom prst="line">
            <a:avLst/>
          </a:prstGeom>
          <a:noFill/>
          <a:ln w="15875">
            <a:solidFill>
              <a:schemeClr val="accent6"/>
            </a:solidFill>
            <a:prstDash val="solid"/>
          </a:ln>
        </p:spPr>
      </p:sp>
      <p:sp>
        <p:nvSpPr>
          <p:cNvPr id="10" name="Shape 8"/>
          <p:cNvSpPr/>
          <p:nvPr/>
        </p:nvSpPr>
        <p:spPr>
          <a:xfrm>
            <a:off x="3179826" y="3584448"/>
            <a:ext cx="292608" cy="237744"/>
          </a:xfrm>
          <a:prstGeom prst="roundRect">
            <a:avLst>
              <a:gd name="adj" fmla="val 15385"/>
            </a:avLst>
          </a:prstGeom>
          <a:solidFill>
            <a:schemeClr val="tx1"/>
          </a:solidFill>
          <a:ln w="9525">
            <a:solidFill>
              <a:schemeClr val="accent6"/>
            </a:solidFill>
            <a:prstDash val="solid"/>
          </a:ln>
        </p:spPr>
      </p:sp>
      <p:sp>
        <p:nvSpPr>
          <p:cNvPr id="11" name="Text 9"/>
          <p:cNvSpPr txBox="1"/>
          <p:nvPr/>
        </p:nvSpPr>
        <p:spPr>
          <a:xfrm>
            <a:off x="3179826" y="3584448"/>
            <a:ext cx="292608" cy="237744"/>
          </a:xfrm>
          <a:prstGeom prst="rect">
            <a:avLst/>
          </a:prstGeom>
          <a:noFill/>
          <a:ln/>
        </p:spPr>
        <p:txBody>
          <a:bodyPr wrap="square" lIns="0" tIns="0" rIns="0" bIns="0" rtlCol="0" anchor="ctr"/>
          <a:lstStyle/>
          <a:p>
            <a:pPr algn="ctr" indent="0" marL="0">
              <a:buNone/>
            </a:pPr>
            <a:r>
              <a:rPr lang="en-US" sz="1100" dirty="0">
                <a:solidFill>
                  <a:schemeClr val="bg2"/>
                </a:solidFill>
                <a:latin typeface="Courier New" pitchFamily="34" charset="0"/>
                <a:ea typeface="Courier New" pitchFamily="34" charset="-122"/>
                <a:cs typeface="Courier New" pitchFamily="34" charset="-120"/>
              </a:rPr>
              <a:t>2</a:t>
            </a:r>
            <a:endParaRPr lang="en-US" sz="1100" dirty="0"/>
          </a:p>
        </p:txBody>
      </p:sp>
      <p:sp>
        <p:nvSpPr>
          <p:cNvPr id="12" name="Shape 10"/>
          <p:cNvSpPr/>
          <p:nvPr/>
        </p:nvSpPr>
        <p:spPr>
          <a:xfrm>
            <a:off x="4023360" y="1645920"/>
            <a:ext cx="2788920" cy="1371600"/>
          </a:xfrm>
          <a:prstGeom prst="line">
            <a:avLst/>
          </a:prstGeom>
          <a:noFill/>
          <a:ln w="15875">
            <a:solidFill>
              <a:schemeClr val="accent6"/>
            </a:solidFill>
            <a:prstDash val="solid"/>
          </a:ln>
        </p:spPr>
      </p:sp>
      <p:sp>
        <p:nvSpPr>
          <p:cNvPr id="13" name="Shape 11"/>
          <p:cNvSpPr/>
          <p:nvPr/>
        </p:nvSpPr>
        <p:spPr>
          <a:xfrm>
            <a:off x="5271516" y="2212848"/>
            <a:ext cx="292608" cy="237744"/>
          </a:xfrm>
          <a:prstGeom prst="roundRect">
            <a:avLst>
              <a:gd name="adj" fmla="val 15385"/>
            </a:avLst>
          </a:prstGeom>
          <a:solidFill>
            <a:schemeClr val="tx1"/>
          </a:solidFill>
          <a:ln w="9525">
            <a:solidFill>
              <a:schemeClr val="accent6"/>
            </a:solidFill>
            <a:prstDash val="solid"/>
          </a:ln>
        </p:spPr>
      </p:sp>
      <p:sp>
        <p:nvSpPr>
          <p:cNvPr id="14" name="Text 12"/>
          <p:cNvSpPr txBox="1"/>
          <p:nvPr/>
        </p:nvSpPr>
        <p:spPr>
          <a:xfrm>
            <a:off x="5271516" y="2212848"/>
            <a:ext cx="292608" cy="237744"/>
          </a:xfrm>
          <a:prstGeom prst="rect">
            <a:avLst/>
          </a:prstGeom>
          <a:noFill/>
          <a:ln/>
        </p:spPr>
        <p:txBody>
          <a:bodyPr wrap="square" lIns="0" tIns="0" rIns="0" bIns="0" rtlCol="0" anchor="ctr"/>
          <a:lstStyle/>
          <a:p>
            <a:pPr algn="ctr" indent="0" marL="0">
              <a:buNone/>
            </a:pPr>
            <a:r>
              <a:rPr lang="en-US" sz="1100" dirty="0">
                <a:solidFill>
                  <a:schemeClr val="bg2"/>
                </a:solidFill>
                <a:latin typeface="Courier New" pitchFamily="34" charset="0"/>
                <a:ea typeface="Courier New" pitchFamily="34" charset="-122"/>
                <a:cs typeface="Courier New" pitchFamily="34" charset="-120"/>
              </a:rPr>
              <a:t>5</a:t>
            </a:r>
            <a:endParaRPr lang="en-US" sz="1100" dirty="0"/>
          </a:p>
        </p:txBody>
      </p:sp>
      <p:sp>
        <p:nvSpPr>
          <p:cNvPr id="15" name="Shape 13"/>
          <p:cNvSpPr/>
          <p:nvPr/>
        </p:nvSpPr>
        <p:spPr>
          <a:xfrm>
            <a:off x="4023360" y="1645920"/>
            <a:ext cx="1394460" cy="914"/>
          </a:xfrm>
          <a:prstGeom prst="line">
            <a:avLst/>
          </a:prstGeom>
          <a:noFill/>
          <a:ln w="15875">
            <a:solidFill>
              <a:schemeClr val="accent6"/>
            </a:solidFill>
            <a:prstDash val="solid"/>
          </a:ln>
        </p:spPr>
      </p:sp>
      <p:sp>
        <p:nvSpPr>
          <p:cNvPr id="16" name="Shape 14"/>
          <p:cNvSpPr/>
          <p:nvPr/>
        </p:nvSpPr>
        <p:spPr>
          <a:xfrm>
            <a:off x="4574286" y="1527048"/>
            <a:ext cx="292608" cy="237744"/>
          </a:xfrm>
          <a:prstGeom prst="roundRect">
            <a:avLst>
              <a:gd name="adj" fmla="val 15385"/>
            </a:avLst>
          </a:prstGeom>
          <a:solidFill>
            <a:schemeClr val="tx1"/>
          </a:solidFill>
          <a:ln w="9525">
            <a:solidFill>
              <a:schemeClr val="accent6"/>
            </a:solidFill>
            <a:prstDash val="solid"/>
          </a:ln>
        </p:spPr>
      </p:sp>
      <p:sp>
        <p:nvSpPr>
          <p:cNvPr id="17" name="Text 15"/>
          <p:cNvSpPr txBox="1"/>
          <p:nvPr/>
        </p:nvSpPr>
        <p:spPr>
          <a:xfrm>
            <a:off x="4574286" y="1527048"/>
            <a:ext cx="292608" cy="237744"/>
          </a:xfrm>
          <a:prstGeom prst="rect">
            <a:avLst/>
          </a:prstGeom>
          <a:noFill/>
          <a:ln/>
        </p:spPr>
        <p:txBody>
          <a:bodyPr wrap="square" lIns="0" tIns="0" rIns="0" bIns="0" rtlCol="0" anchor="ctr"/>
          <a:lstStyle/>
          <a:p>
            <a:pPr algn="ctr" indent="0" marL="0">
              <a:buNone/>
            </a:pPr>
            <a:r>
              <a:rPr lang="en-US" sz="1100" dirty="0">
                <a:solidFill>
                  <a:schemeClr val="bg2"/>
                </a:solidFill>
                <a:latin typeface="Courier New" pitchFamily="34" charset="0"/>
                <a:ea typeface="Courier New" pitchFamily="34" charset="-122"/>
                <a:cs typeface="Courier New" pitchFamily="34" charset="-120"/>
              </a:rPr>
              <a:t>3</a:t>
            </a:r>
            <a:endParaRPr lang="en-US" sz="1100" dirty="0"/>
          </a:p>
        </p:txBody>
      </p:sp>
      <p:sp>
        <p:nvSpPr>
          <p:cNvPr id="18" name="Shape 16"/>
          <p:cNvSpPr/>
          <p:nvPr/>
        </p:nvSpPr>
        <p:spPr>
          <a:xfrm>
            <a:off x="4023360" y="4389120"/>
            <a:ext cx="1394460" cy="914"/>
          </a:xfrm>
          <a:prstGeom prst="line">
            <a:avLst/>
          </a:prstGeom>
          <a:noFill/>
          <a:ln w="15875">
            <a:solidFill>
              <a:schemeClr val="accent6"/>
            </a:solidFill>
            <a:prstDash val="solid"/>
          </a:ln>
        </p:spPr>
      </p:sp>
      <p:sp>
        <p:nvSpPr>
          <p:cNvPr id="19" name="Shape 17"/>
          <p:cNvSpPr/>
          <p:nvPr/>
        </p:nvSpPr>
        <p:spPr>
          <a:xfrm>
            <a:off x="4574286" y="4270248"/>
            <a:ext cx="292608" cy="237744"/>
          </a:xfrm>
          <a:prstGeom prst="roundRect">
            <a:avLst>
              <a:gd name="adj" fmla="val 15385"/>
            </a:avLst>
          </a:prstGeom>
          <a:solidFill>
            <a:schemeClr val="tx1"/>
          </a:solidFill>
          <a:ln w="9525">
            <a:solidFill>
              <a:schemeClr val="accent6"/>
            </a:solidFill>
            <a:prstDash val="solid"/>
          </a:ln>
        </p:spPr>
      </p:sp>
      <p:sp>
        <p:nvSpPr>
          <p:cNvPr id="20" name="Text 18"/>
          <p:cNvSpPr txBox="1"/>
          <p:nvPr/>
        </p:nvSpPr>
        <p:spPr>
          <a:xfrm>
            <a:off x="4574286" y="4270248"/>
            <a:ext cx="292608" cy="237744"/>
          </a:xfrm>
          <a:prstGeom prst="rect">
            <a:avLst/>
          </a:prstGeom>
          <a:noFill/>
          <a:ln/>
        </p:spPr>
        <p:txBody>
          <a:bodyPr wrap="square" lIns="0" tIns="0" rIns="0" bIns="0" rtlCol="0" anchor="ctr"/>
          <a:lstStyle/>
          <a:p>
            <a:pPr algn="ctr" indent="0" marL="0">
              <a:buNone/>
            </a:pPr>
            <a:r>
              <a:rPr lang="en-US" sz="1100" dirty="0">
                <a:solidFill>
                  <a:schemeClr val="bg2"/>
                </a:solidFill>
                <a:latin typeface="Courier New" pitchFamily="34" charset="0"/>
                <a:ea typeface="Courier New" pitchFamily="34" charset="-122"/>
                <a:cs typeface="Courier New" pitchFamily="34" charset="-120"/>
              </a:rPr>
              <a:t>2</a:t>
            </a:r>
            <a:endParaRPr lang="en-US" sz="1100" dirty="0"/>
          </a:p>
        </p:txBody>
      </p:sp>
      <p:sp>
        <p:nvSpPr>
          <p:cNvPr id="21" name="Shape 19"/>
          <p:cNvSpPr/>
          <p:nvPr/>
        </p:nvSpPr>
        <p:spPr>
          <a:xfrm flipV="1">
            <a:off x="5417820" y="3017520"/>
            <a:ext cx="1394460" cy="1371600"/>
          </a:xfrm>
          <a:prstGeom prst="line">
            <a:avLst/>
          </a:prstGeom>
          <a:noFill/>
          <a:ln w="15875">
            <a:solidFill>
              <a:schemeClr val="accent6"/>
            </a:solidFill>
            <a:prstDash val="solid"/>
          </a:ln>
        </p:spPr>
      </p:sp>
      <p:sp>
        <p:nvSpPr>
          <p:cNvPr id="22" name="Shape 20"/>
          <p:cNvSpPr/>
          <p:nvPr/>
        </p:nvSpPr>
        <p:spPr>
          <a:xfrm>
            <a:off x="5968746" y="3584448"/>
            <a:ext cx="292608" cy="237744"/>
          </a:xfrm>
          <a:prstGeom prst="roundRect">
            <a:avLst>
              <a:gd name="adj" fmla="val 15385"/>
            </a:avLst>
          </a:prstGeom>
          <a:solidFill>
            <a:schemeClr val="tx1"/>
          </a:solidFill>
          <a:ln w="9525">
            <a:solidFill>
              <a:schemeClr val="accent6"/>
            </a:solidFill>
            <a:prstDash val="solid"/>
          </a:ln>
        </p:spPr>
      </p:sp>
      <p:sp>
        <p:nvSpPr>
          <p:cNvPr id="23" name="Text 21"/>
          <p:cNvSpPr txBox="1"/>
          <p:nvPr/>
        </p:nvSpPr>
        <p:spPr>
          <a:xfrm>
            <a:off x="5968746" y="3584448"/>
            <a:ext cx="292608" cy="237744"/>
          </a:xfrm>
          <a:prstGeom prst="rect">
            <a:avLst/>
          </a:prstGeom>
          <a:noFill/>
          <a:ln/>
        </p:spPr>
        <p:txBody>
          <a:bodyPr wrap="square" lIns="0" tIns="0" rIns="0" bIns="0" rtlCol="0" anchor="ctr"/>
          <a:lstStyle/>
          <a:p>
            <a:pPr algn="ctr" indent="0" marL="0">
              <a:buNone/>
            </a:pPr>
            <a:r>
              <a:rPr lang="en-US" sz="1100" dirty="0">
                <a:solidFill>
                  <a:schemeClr val="bg2"/>
                </a:solidFill>
                <a:latin typeface="Courier New" pitchFamily="34" charset="0"/>
                <a:ea typeface="Courier New" pitchFamily="34" charset="-122"/>
                <a:cs typeface="Courier New" pitchFamily="34" charset="-120"/>
              </a:rPr>
              <a:t>4</a:t>
            </a:r>
            <a:endParaRPr lang="en-US" sz="1100" dirty="0"/>
          </a:p>
        </p:txBody>
      </p:sp>
      <p:sp>
        <p:nvSpPr>
          <p:cNvPr id="24" name="Shape 22"/>
          <p:cNvSpPr/>
          <p:nvPr/>
        </p:nvSpPr>
        <p:spPr>
          <a:xfrm>
            <a:off x="5417820" y="1645920"/>
            <a:ext cx="1394460" cy="1371600"/>
          </a:xfrm>
          <a:prstGeom prst="line">
            <a:avLst/>
          </a:prstGeom>
          <a:noFill/>
          <a:ln w="15875">
            <a:solidFill>
              <a:schemeClr val="accent6"/>
            </a:solidFill>
            <a:prstDash val="solid"/>
          </a:ln>
        </p:spPr>
      </p:sp>
      <p:sp>
        <p:nvSpPr>
          <p:cNvPr id="25" name="Shape 23"/>
          <p:cNvSpPr/>
          <p:nvPr/>
        </p:nvSpPr>
        <p:spPr>
          <a:xfrm>
            <a:off x="5968746" y="2212848"/>
            <a:ext cx="292608" cy="237744"/>
          </a:xfrm>
          <a:prstGeom prst="roundRect">
            <a:avLst>
              <a:gd name="adj" fmla="val 15385"/>
            </a:avLst>
          </a:prstGeom>
          <a:solidFill>
            <a:schemeClr val="tx1"/>
          </a:solidFill>
          <a:ln w="9525">
            <a:solidFill>
              <a:schemeClr val="accent6"/>
            </a:solidFill>
            <a:prstDash val="solid"/>
          </a:ln>
        </p:spPr>
      </p:sp>
      <p:sp>
        <p:nvSpPr>
          <p:cNvPr id="26" name="Text 24"/>
          <p:cNvSpPr txBox="1"/>
          <p:nvPr/>
        </p:nvSpPr>
        <p:spPr>
          <a:xfrm>
            <a:off x="5968746" y="2212848"/>
            <a:ext cx="292608" cy="237744"/>
          </a:xfrm>
          <a:prstGeom prst="rect">
            <a:avLst/>
          </a:prstGeom>
          <a:noFill/>
          <a:ln/>
        </p:spPr>
        <p:txBody>
          <a:bodyPr wrap="square" lIns="0" tIns="0" rIns="0" bIns="0" rtlCol="0" anchor="ctr"/>
          <a:lstStyle/>
          <a:p>
            <a:pPr algn="ctr" indent="0" marL="0">
              <a:buNone/>
            </a:pPr>
            <a:r>
              <a:rPr lang="en-US" sz="1100" dirty="0">
                <a:solidFill>
                  <a:schemeClr val="bg2"/>
                </a:solidFill>
                <a:latin typeface="Courier New" pitchFamily="34" charset="0"/>
                <a:ea typeface="Courier New" pitchFamily="34" charset="-122"/>
                <a:cs typeface="Courier New" pitchFamily="34" charset="-120"/>
              </a:rPr>
              <a:t>4</a:t>
            </a:r>
            <a:endParaRPr lang="en-US" sz="1100" dirty="0"/>
          </a:p>
        </p:txBody>
      </p:sp>
      <p:sp>
        <p:nvSpPr>
          <p:cNvPr id="27" name="Shape 25"/>
          <p:cNvSpPr/>
          <p:nvPr/>
        </p:nvSpPr>
        <p:spPr>
          <a:xfrm flipV="1">
            <a:off x="4023360" y="1645920"/>
            <a:ext cx="1394460" cy="2743200"/>
          </a:xfrm>
          <a:prstGeom prst="line">
            <a:avLst/>
          </a:prstGeom>
          <a:noFill/>
          <a:ln w="15875">
            <a:solidFill>
              <a:schemeClr val="accent6"/>
            </a:solidFill>
            <a:prstDash val="solid"/>
          </a:ln>
        </p:spPr>
      </p:sp>
      <p:sp>
        <p:nvSpPr>
          <p:cNvPr id="28" name="Shape 26"/>
          <p:cNvSpPr/>
          <p:nvPr/>
        </p:nvSpPr>
        <p:spPr>
          <a:xfrm>
            <a:off x="4574286" y="2898648"/>
            <a:ext cx="292608" cy="237744"/>
          </a:xfrm>
          <a:prstGeom prst="roundRect">
            <a:avLst>
              <a:gd name="adj" fmla="val 15385"/>
            </a:avLst>
          </a:prstGeom>
          <a:solidFill>
            <a:schemeClr val="tx1"/>
          </a:solidFill>
          <a:ln w="9525">
            <a:solidFill>
              <a:schemeClr val="accent6"/>
            </a:solidFill>
            <a:prstDash val="solid"/>
          </a:ln>
        </p:spPr>
      </p:sp>
      <p:sp>
        <p:nvSpPr>
          <p:cNvPr id="29" name="Text 27"/>
          <p:cNvSpPr txBox="1"/>
          <p:nvPr/>
        </p:nvSpPr>
        <p:spPr>
          <a:xfrm>
            <a:off x="4574286" y="2898648"/>
            <a:ext cx="292608" cy="237744"/>
          </a:xfrm>
          <a:prstGeom prst="rect">
            <a:avLst/>
          </a:prstGeom>
          <a:noFill/>
          <a:ln/>
        </p:spPr>
        <p:txBody>
          <a:bodyPr wrap="square" lIns="0" tIns="0" rIns="0" bIns="0" rtlCol="0" anchor="ctr"/>
          <a:lstStyle/>
          <a:p>
            <a:pPr algn="ctr" indent="0" marL="0">
              <a:buNone/>
            </a:pPr>
            <a:r>
              <a:rPr lang="en-US" sz="1100" dirty="0">
                <a:solidFill>
                  <a:schemeClr val="bg2"/>
                </a:solidFill>
                <a:latin typeface="Courier New" pitchFamily="34" charset="0"/>
                <a:ea typeface="Courier New" pitchFamily="34" charset="-122"/>
                <a:cs typeface="Courier New" pitchFamily="34" charset="-120"/>
              </a:rPr>
              <a:t>3</a:t>
            </a:r>
            <a:endParaRPr lang="en-US" sz="1100" dirty="0"/>
          </a:p>
        </p:txBody>
      </p:sp>
      <p:sp>
        <p:nvSpPr>
          <p:cNvPr id="30" name="Shape 28"/>
          <p:cNvSpPr/>
          <p:nvPr/>
        </p:nvSpPr>
        <p:spPr>
          <a:xfrm>
            <a:off x="548640" y="2788920"/>
            <a:ext cx="1371600" cy="457200"/>
          </a:xfrm>
          <a:prstGeom prst="roundRect">
            <a:avLst>
              <a:gd name="adj" fmla="val 10000"/>
            </a:avLst>
          </a:prstGeom>
          <a:solidFill>
            <a:schemeClr val="tx2"/>
          </a:solidFill>
          <a:ln w="12700">
            <a:solidFill>
              <a:schemeClr val="accent6"/>
            </a:solidFill>
            <a:prstDash val="solid"/>
          </a:ln>
        </p:spPr>
      </p:sp>
      <p:sp>
        <p:nvSpPr>
          <p:cNvPr id="31" name="Text 29"/>
          <p:cNvSpPr txBox="1"/>
          <p:nvPr/>
        </p:nvSpPr>
        <p:spPr>
          <a:xfrm>
            <a:off x="621792" y="2834640"/>
            <a:ext cx="1225296" cy="219456"/>
          </a:xfrm>
          <a:prstGeom prst="rect">
            <a:avLst/>
          </a:prstGeom>
          <a:noFill/>
          <a:ln/>
        </p:spPr>
        <p:txBody>
          <a:bodyPr wrap="square" lIns="0" tIns="0" rIns="0" bIns="0" rtlCol="0" anchor="t"/>
          <a:lstStyle/>
          <a:p>
            <a:pPr indent="0" marL="0">
              <a:buNone/>
            </a:pPr>
            <a:r>
              <a:rPr lang="en-US" sz="1100" b="1" dirty="0">
                <a:solidFill>
                  <a:schemeClr val="bg1"/>
                </a:solidFill>
              </a:rPr>
              <a:t>Internet</a:t>
            </a:r>
            <a:endParaRPr lang="en-US" sz="1100" dirty="0"/>
          </a:p>
        </p:txBody>
      </p:sp>
      <p:sp>
        <p:nvSpPr>
          <p:cNvPr id="32" name="Text 30"/>
          <p:cNvSpPr txBox="1"/>
          <p:nvPr/>
        </p:nvSpPr>
        <p:spPr>
          <a:xfrm>
            <a:off x="621792" y="3044952"/>
            <a:ext cx="1225296" cy="164592"/>
          </a:xfrm>
          <a:prstGeom prst="rect">
            <a:avLst/>
          </a:prstGeom>
          <a:noFill/>
          <a:ln/>
        </p:spPr>
        <p:txBody>
          <a:bodyPr wrap="square" lIns="0" tIns="0" rIns="0" bIns="0" rtlCol="0" anchor="t"/>
          <a:lstStyle/>
          <a:p>
            <a:pPr indent="0" marL="0">
              <a:buNone/>
            </a:pPr>
            <a:r>
              <a:rPr lang="en-US" sz="800" dirty="0">
                <a:solidFill>
                  <a:schemeClr val="bg2"/>
                </a:solidFill>
                <a:latin typeface="Courier New" pitchFamily="34" charset="0"/>
                <a:ea typeface="Courier New" pitchFamily="34" charset="-122"/>
                <a:cs typeface="Courier New" pitchFamily="34" charset="-120"/>
              </a:rPr>
              <a:t>ENTRY</a:t>
            </a:r>
            <a:endParaRPr lang="en-US" sz="800" dirty="0"/>
          </a:p>
        </p:txBody>
      </p:sp>
      <p:sp>
        <p:nvSpPr>
          <p:cNvPr id="33" name="Shape 31"/>
          <p:cNvSpPr/>
          <p:nvPr/>
        </p:nvSpPr>
        <p:spPr>
          <a:xfrm>
            <a:off x="1943100" y="2788920"/>
            <a:ext cx="1371600" cy="457200"/>
          </a:xfrm>
          <a:prstGeom prst="roundRect">
            <a:avLst>
              <a:gd name="adj" fmla="val 10000"/>
            </a:avLst>
          </a:prstGeom>
          <a:solidFill>
            <a:schemeClr val="tx2"/>
          </a:solidFill>
          <a:ln w="12700">
            <a:solidFill>
              <a:schemeClr val="accent6"/>
            </a:solidFill>
            <a:prstDash val="solid"/>
          </a:ln>
        </p:spPr>
      </p:sp>
      <p:sp>
        <p:nvSpPr>
          <p:cNvPr id="34" name="Text 32"/>
          <p:cNvSpPr txBox="1"/>
          <p:nvPr/>
        </p:nvSpPr>
        <p:spPr>
          <a:xfrm>
            <a:off x="2016252" y="2834640"/>
            <a:ext cx="1225296" cy="219456"/>
          </a:xfrm>
          <a:prstGeom prst="rect">
            <a:avLst/>
          </a:prstGeom>
          <a:noFill/>
          <a:ln/>
        </p:spPr>
        <p:txBody>
          <a:bodyPr wrap="square" lIns="0" tIns="0" rIns="0" bIns="0" rtlCol="0" anchor="t"/>
          <a:lstStyle/>
          <a:p>
            <a:pPr indent="0" marL="0">
              <a:buNone/>
            </a:pPr>
            <a:r>
              <a:rPr lang="en-US" sz="1100" b="1" dirty="0">
                <a:solidFill>
                  <a:schemeClr val="bg1"/>
                </a:solidFill>
              </a:rPr>
              <a:t>Web Server</a:t>
            </a:r>
            <a:endParaRPr lang="en-US" sz="1100" dirty="0"/>
          </a:p>
        </p:txBody>
      </p:sp>
      <p:sp>
        <p:nvSpPr>
          <p:cNvPr id="35" name="Text 33"/>
          <p:cNvSpPr txBox="1"/>
          <p:nvPr/>
        </p:nvSpPr>
        <p:spPr>
          <a:xfrm>
            <a:off x="2016252" y="3044952"/>
            <a:ext cx="1225296" cy="164592"/>
          </a:xfrm>
          <a:prstGeom prst="rect">
            <a:avLst/>
          </a:prstGeom>
          <a:noFill/>
          <a:ln/>
        </p:spPr>
        <p:txBody>
          <a:bodyPr wrap="square" lIns="0" tIns="0" rIns="0" bIns="0" rtlCol="0" anchor="t"/>
          <a:lstStyle/>
          <a:p>
            <a:pPr indent="0" marL="0">
              <a:buNone/>
            </a:pPr>
            <a:r>
              <a:rPr lang="en-US" sz="800" dirty="0">
                <a:solidFill>
                  <a:schemeClr val="bg2"/>
                </a:solidFill>
                <a:latin typeface="Courier New" pitchFamily="34" charset="0"/>
                <a:ea typeface="Courier New" pitchFamily="34" charset="-122"/>
                <a:cs typeface="Courier New" pitchFamily="34" charset="-120"/>
              </a:rPr>
              <a:t>CANDIDATE</a:t>
            </a:r>
            <a:endParaRPr lang="en-US" sz="800" dirty="0"/>
          </a:p>
        </p:txBody>
      </p:sp>
      <p:sp>
        <p:nvSpPr>
          <p:cNvPr id="36" name="Shape 34"/>
          <p:cNvSpPr/>
          <p:nvPr/>
        </p:nvSpPr>
        <p:spPr>
          <a:xfrm>
            <a:off x="3337560" y="1417320"/>
            <a:ext cx="1371600" cy="457200"/>
          </a:xfrm>
          <a:prstGeom prst="roundRect">
            <a:avLst>
              <a:gd name="adj" fmla="val 10000"/>
            </a:avLst>
          </a:prstGeom>
          <a:solidFill>
            <a:schemeClr val="tx2"/>
          </a:solidFill>
          <a:ln w="12700">
            <a:solidFill>
              <a:schemeClr val="accent6"/>
            </a:solidFill>
            <a:prstDash val="solid"/>
          </a:ln>
        </p:spPr>
      </p:sp>
      <p:sp>
        <p:nvSpPr>
          <p:cNvPr id="37" name="Text 35"/>
          <p:cNvSpPr txBox="1"/>
          <p:nvPr/>
        </p:nvSpPr>
        <p:spPr>
          <a:xfrm>
            <a:off x="3410712" y="1463040"/>
            <a:ext cx="1225296" cy="219456"/>
          </a:xfrm>
          <a:prstGeom prst="rect">
            <a:avLst/>
          </a:prstGeom>
          <a:noFill/>
          <a:ln/>
        </p:spPr>
        <p:txBody>
          <a:bodyPr wrap="square" lIns="0" tIns="0" rIns="0" bIns="0" rtlCol="0" anchor="t"/>
          <a:lstStyle/>
          <a:p>
            <a:pPr indent="0" marL="0">
              <a:buNone/>
            </a:pPr>
            <a:r>
              <a:rPr lang="en-US" sz="1100" b="1" dirty="0">
                <a:solidFill>
                  <a:schemeClr val="bg1"/>
                </a:solidFill>
              </a:rPr>
              <a:t>Application Server</a:t>
            </a:r>
            <a:endParaRPr lang="en-US" sz="1100" dirty="0"/>
          </a:p>
        </p:txBody>
      </p:sp>
      <p:sp>
        <p:nvSpPr>
          <p:cNvPr id="38" name="Text 36"/>
          <p:cNvSpPr txBox="1"/>
          <p:nvPr/>
        </p:nvSpPr>
        <p:spPr>
          <a:xfrm>
            <a:off x="3410712" y="1673352"/>
            <a:ext cx="1225296" cy="164592"/>
          </a:xfrm>
          <a:prstGeom prst="rect">
            <a:avLst/>
          </a:prstGeom>
          <a:noFill/>
          <a:ln/>
        </p:spPr>
        <p:txBody>
          <a:bodyPr wrap="square" lIns="0" tIns="0" rIns="0" bIns="0" rtlCol="0" anchor="t"/>
          <a:lstStyle/>
          <a:p>
            <a:pPr indent="0" marL="0">
              <a:buNone/>
            </a:pPr>
            <a:r>
              <a:rPr lang="en-US" sz="800" dirty="0">
                <a:solidFill>
                  <a:schemeClr val="bg2"/>
                </a:solidFill>
                <a:latin typeface="Courier New" pitchFamily="34" charset="0"/>
                <a:ea typeface="Courier New" pitchFamily="34" charset="-122"/>
                <a:cs typeface="Courier New" pitchFamily="34" charset="-120"/>
              </a:rPr>
              <a:t>CANDIDATE</a:t>
            </a:r>
            <a:endParaRPr lang="en-US" sz="800" dirty="0"/>
          </a:p>
        </p:txBody>
      </p:sp>
      <p:sp>
        <p:nvSpPr>
          <p:cNvPr id="39" name="Shape 37"/>
          <p:cNvSpPr/>
          <p:nvPr/>
        </p:nvSpPr>
        <p:spPr>
          <a:xfrm>
            <a:off x="3337560" y="4160520"/>
            <a:ext cx="1371600" cy="457200"/>
          </a:xfrm>
          <a:prstGeom prst="roundRect">
            <a:avLst>
              <a:gd name="adj" fmla="val 10000"/>
            </a:avLst>
          </a:prstGeom>
          <a:solidFill>
            <a:schemeClr val="tx2"/>
          </a:solidFill>
          <a:ln w="12700">
            <a:solidFill>
              <a:schemeClr val="accent6"/>
            </a:solidFill>
            <a:prstDash val="solid"/>
          </a:ln>
        </p:spPr>
      </p:sp>
      <p:sp>
        <p:nvSpPr>
          <p:cNvPr id="40" name="Text 38"/>
          <p:cNvSpPr txBox="1"/>
          <p:nvPr/>
        </p:nvSpPr>
        <p:spPr>
          <a:xfrm>
            <a:off x="3410712" y="4206240"/>
            <a:ext cx="1225296" cy="219456"/>
          </a:xfrm>
          <a:prstGeom prst="rect">
            <a:avLst/>
          </a:prstGeom>
          <a:noFill/>
          <a:ln/>
        </p:spPr>
        <p:txBody>
          <a:bodyPr wrap="square" lIns="0" tIns="0" rIns="0" bIns="0" rtlCol="0" anchor="t"/>
          <a:lstStyle/>
          <a:p>
            <a:pPr indent="0" marL="0">
              <a:buNone/>
            </a:pPr>
            <a:r>
              <a:rPr lang="en-US" sz="1100" b="1" dirty="0">
                <a:solidFill>
                  <a:schemeClr val="bg1"/>
                </a:solidFill>
              </a:rPr>
              <a:t>Employee PC</a:t>
            </a:r>
            <a:endParaRPr lang="en-US" sz="1100" dirty="0"/>
          </a:p>
        </p:txBody>
      </p:sp>
      <p:sp>
        <p:nvSpPr>
          <p:cNvPr id="41" name="Text 39"/>
          <p:cNvSpPr txBox="1"/>
          <p:nvPr/>
        </p:nvSpPr>
        <p:spPr>
          <a:xfrm>
            <a:off x="3410712" y="4416552"/>
            <a:ext cx="1225296" cy="164592"/>
          </a:xfrm>
          <a:prstGeom prst="rect">
            <a:avLst/>
          </a:prstGeom>
          <a:noFill/>
          <a:ln/>
        </p:spPr>
        <p:txBody>
          <a:bodyPr wrap="square" lIns="0" tIns="0" rIns="0" bIns="0" rtlCol="0" anchor="t"/>
          <a:lstStyle/>
          <a:p>
            <a:pPr indent="0" marL="0">
              <a:buNone/>
            </a:pPr>
            <a:r>
              <a:rPr lang="en-US" sz="800" dirty="0">
                <a:solidFill>
                  <a:schemeClr val="bg2"/>
                </a:solidFill>
                <a:latin typeface="Courier New" pitchFamily="34" charset="0"/>
                <a:ea typeface="Courier New" pitchFamily="34" charset="-122"/>
                <a:cs typeface="Courier New" pitchFamily="34" charset="-120"/>
              </a:rPr>
              <a:t>CANDIDATE</a:t>
            </a:r>
            <a:endParaRPr lang="en-US" sz="800" dirty="0"/>
          </a:p>
        </p:txBody>
      </p:sp>
      <p:sp>
        <p:nvSpPr>
          <p:cNvPr id="42" name="Shape 40"/>
          <p:cNvSpPr/>
          <p:nvPr/>
        </p:nvSpPr>
        <p:spPr>
          <a:xfrm>
            <a:off x="4732020" y="1417320"/>
            <a:ext cx="1371600" cy="457200"/>
          </a:xfrm>
          <a:prstGeom prst="roundRect">
            <a:avLst>
              <a:gd name="adj" fmla="val 10000"/>
            </a:avLst>
          </a:prstGeom>
          <a:solidFill>
            <a:schemeClr val="tx2"/>
          </a:solidFill>
          <a:ln w="12700">
            <a:solidFill>
              <a:schemeClr val="accent6"/>
            </a:solidFill>
            <a:prstDash val="solid"/>
          </a:ln>
        </p:spPr>
      </p:sp>
      <p:sp>
        <p:nvSpPr>
          <p:cNvPr id="43" name="Text 41"/>
          <p:cNvSpPr txBox="1"/>
          <p:nvPr/>
        </p:nvSpPr>
        <p:spPr>
          <a:xfrm>
            <a:off x="4805172" y="1463040"/>
            <a:ext cx="1225296" cy="219456"/>
          </a:xfrm>
          <a:prstGeom prst="rect">
            <a:avLst/>
          </a:prstGeom>
          <a:noFill/>
          <a:ln/>
        </p:spPr>
        <p:txBody>
          <a:bodyPr wrap="square" lIns="0" tIns="0" rIns="0" bIns="0" rtlCol="0" anchor="t"/>
          <a:lstStyle/>
          <a:p>
            <a:pPr indent="0" marL="0">
              <a:buNone/>
            </a:pPr>
            <a:r>
              <a:rPr lang="en-US" sz="1100" b="1" dirty="0">
                <a:solidFill>
                  <a:schemeClr val="bg1"/>
                </a:solidFill>
              </a:rPr>
              <a:t>File Server</a:t>
            </a:r>
            <a:endParaRPr lang="en-US" sz="1100" dirty="0"/>
          </a:p>
        </p:txBody>
      </p:sp>
      <p:sp>
        <p:nvSpPr>
          <p:cNvPr id="44" name="Text 42"/>
          <p:cNvSpPr txBox="1"/>
          <p:nvPr/>
        </p:nvSpPr>
        <p:spPr>
          <a:xfrm>
            <a:off x="4805172" y="1673352"/>
            <a:ext cx="1225296" cy="164592"/>
          </a:xfrm>
          <a:prstGeom prst="rect">
            <a:avLst/>
          </a:prstGeom>
          <a:noFill/>
          <a:ln/>
        </p:spPr>
        <p:txBody>
          <a:bodyPr wrap="square" lIns="0" tIns="0" rIns="0" bIns="0" rtlCol="0" anchor="t"/>
          <a:lstStyle/>
          <a:p>
            <a:pPr indent="0" marL="0">
              <a:buNone/>
            </a:pPr>
            <a:r>
              <a:rPr lang="en-US" sz="800" dirty="0">
                <a:solidFill>
                  <a:schemeClr val="bg2"/>
                </a:solidFill>
                <a:latin typeface="Courier New" pitchFamily="34" charset="0"/>
                <a:ea typeface="Courier New" pitchFamily="34" charset="-122"/>
                <a:cs typeface="Courier New" pitchFamily="34" charset="-120"/>
              </a:rPr>
              <a:t>CANDIDATE</a:t>
            </a:r>
            <a:endParaRPr lang="en-US" sz="800" dirty="0"/>
          </a:p>
        </p:txBody>
      </p:sp>
      <p:sp>
        <p:nvSpPr>
          <p:cNvPr id="45" name="Shape 43"/>
          <p:cNvSpPr/>
          <p:nvPr/>
        </p:nvSpPr>
        <p:spPr>
          <a:xfrm>
            <a:off x="4732020" y="4160520"/>
            <a:ext cx="1371600" cy="457200"/>
          </a:xfrm>
          <a:prstGeom prst="roundRect">
            <a:avLst>
              <a:gd name="adj" fmla="val 10000"/>
            </a:avLst>
          </a:prstGeom>
          <a:solidFill>
            <a:schemeClr val="tx2"/>
          </a:solidFill>
          <a:ln w="12700">
            <a:solidFill>
              <a:schemeClr val="accent6"/>
            </a:solidFill>
            <a:prstDash val="solid"/>
          </a:ln>
        </p:spPr>
      </p:sp>
      <p:sp>
        <p:nvSpPr>
          <p:cNvPr id="46" name="Text 44"/>
          <p:cNvSpPr txBox="1"/>
          <p:nvPr/>
        </p:nvSpPr>
        <p:spPr>
          <a:xfrm>
            <a:off x="4805172" y="4206240"/>
            <a:ext cx="1225296" cy="219456"/>
          </a:xfrm>
          <a:prstGeom prst="rect">
            <a:avLst/>
          </a:prstGeom>
          <a:noFill/>
          <a:ln/>
        </p:spPr>
        <p:txBody>
          <a:bodyPr wrap="square" lIns="0" tIns="0" rIns="0" bIns="0" rtlCol="0" anchor="t"/>
          <a:lstStyle/>
          <a:p>
            <a:pPr indent="0" marL="0">
              <a:buNone/>
            </a:pPr>
            <a:r>
              <a:rPr lang="en-US" sz="1100" b="1" dirty="0">
                <a:solidFill>
                  <a:schemeClr val="bg1"/>
                </a:solidFill>
              </a:rPr>
              <a:t>Admin PC</a:t>
            </a:r>
            <a:endParaRPr lang="en-US" sz="1100" dirty="0"/>
          </a:p>
        </p:txBody>
      </p:sp>
      <p:sp>
        <p:nvSpPr>
          <p:cNvPr id="47" name="Text 45"/>
          <p:cNvSpPr txBox="1"/>
          <p:nvPr/>
        </p:nvSpPr>
        <p:spPr>
          <a:xfrm>
            <a:off x="4805172" y="4416552"/>
            <a:ext cx="1225296" cy="164592"/>
          </a:xfrm>
          <a:prstGeom prst="rect">
            <a:avLst/>
          </a:prstGeom>
          <a:noFill/>
          <a:ln/>
        </p:spPr>
        <p:txBody>
          <a:bodyPr wrap="square" lIns="0" tIns="0" rIns="0" bIns="0" rtlCol="0" anchor="t"/>
          <a:lstStyle/>
          <a:p>
            <a:pPr indent="0" marL="0">
              <a:buNone/>
            </a:pPr>
            <a:r>
              <a:rPr lang="en-US" sz="800" dirty="0">
                <a:solidFill>
                  <a:schemeClr val="bg2"/>
                </a:solidFill>
                <a:latin typeface="Courier New" pitchFamily="34" charset="0"/>
                <a:ea typeface="Courier New" pitchFamily="34" charset="-122"/>
                <a:cs typeface="Courier New" pitchFamily="34" charset="-120"/>
              </a:rPr>
              <a:t>CANDIDATE</a:t>
            </a:r>
            <a:endParaRPr lang="en-US" sz="800" dirty="0"/>
          </a:p>
        </p:txBody>
      </p:sp>
      <p:sp>
        <p:nvSpPr>
          <p:cNvPr id="48" name="Shape 46"/>
          <p:cNvSpPr/>
          <p:nvPr/>
        </p:nvSpPr>
        <p:spPr>
          <a:xfrm>
            <a:off x="6126480" y="2788920"/>
            <a:ext cx="1371600" cy="457200"/>
          </a:xfrm>
          <a:prstGeom prst="roundRect">
            <a:avLst>
              <a:gd name="adj" fmla="val 10000"/>
            </a:avLst>
          </a:prstGeom>
          <a:solidFill>
            <a:schemeClr val="tx2"/>
          </a:solidFill>
          <a:ln w="12700">
            <a:solidFill>
              <a:schemeClr val="accent4"/>
            </a:solidFill>
            <a:prstDash val="solid"/>
          </a:ln>
        </p:spPr>
      </p:sp>
      <p:sp>
        <p:nvSpPr>
          <p:cNvPr id="49" name="Text 47"/>
          <p:cNvSpPr txBox="1"/>
          <p:nvPr/>
        </p:nvSpPr>
        <p:spPr>
          <a:xfrm>
            <a:off x="6199632" y="2834640"/>
            <a:ext cx="1225296" cy="219456"/>
          </a:xfrm>
          <a:prstGeom prst="rect">
            <a:avLst/>
          </a:prstGeom>
          <a:noFill/>
          <a:ln/>
        </p:spPr>
        <p:txBody>
          <a:bodyPr wrap="square" lIns="0" tIns="0" rIns="0" bIns="0" rtlCol="0" anchor="t"/>
          <a:lstStyle/>
          <a:p>
            <a:pPr indent="0" marL="0">
              <a:buNone/>
            </a:pPr>
            <a:r>
              <a:rPr lang="en-US" sz="1100" b="1" dirty="0">
                <a:solidFill>
                  <a:schemeClr val="bg1"/>
                </a:solidFill>
              </a:rPr>
              <a:t>Database</a:t>
            </a:r>
            <a:endParaRPr lang="en-US" sz="1100" dirty="0"/>
          </a:p>
        </p:txBody>
      </p:sp>
      <p:sp>
        <p:nvSpPr>
          <p:cNvPr id="50" name="Text 48"/>
          <p:cNvSpPr txBox="1"/>
          <p:nvPr/>
        </p:nvSpPr>
        <p:spPr>
          <a:xfrm>
            <a:off x="6199632" y="3044952"/>
            <a:ext cx="1225296" cy="164592"/>
          </a:xfrm>
          <a:prstGeom prst="rect">
            <a:avLst/>
          </a:prstGeom>
          <a:noFill/>
          <a:ln/>
        </p:spPr>
        <p:txBody>
          <a:bodyPr wrap="square" lIns="0" tIns="0" rIns="0" bIns="0" rtlCol="0" anchor="t"/>
          <a:lstStyle/>
          <a:p>
            <a:pPr indent="0" marL="0">
              <a:buNone/>
            </a:pPr>
            <a:r>
              <a:rPr lang="en-US" sz="800" dirty="0">
                <a:solidFill>
                  <a:schemeClr val="accent4"/>
                </a:solidFill>
                <a:latin typeface="Courier New" pitchFamily="34" charset="0"/>
                <a:ea typeface="Courier New" pitchFamily="34" charset="-122"/>
                <a:cs typeface="Courier New" pitchFamily="34" charset="-120"/>
              </a:rPr>
              <a:t>TARGET</a:t>
            </a:r>
            <a:endParaRPr lang="en-US" sz="800" dirty="0"/>
          </a:p>
        </p:txBody>
      </p:sp>
      <p:sp>
        <p:nvSpPr>
          <p:cNvPr id="51" name="Text 49"/>
          <p:cNvSpPr txBox="1"/>
          <p:nvPr/>
        </p:nvSpPr>
        <p:spPr>
          <a:xfrm>
            <a:off x="548640" y="4754880"/>
            <a:ext cx="6949440" cy="274320"/>
          </a:xfrm>
          <a:prstGeom prst="rect">
            <a:avLst/>
          </a:prstGeom>
          <a:noFill/>
          <a:ln/>
        </p:spPr>
        <p:txBody>
          <a:bodyPr wrap="square" lIns="0" tIns="0" rIns="0" bIns="0" rtlCol="0" anchor="t"/>
          <a:lstStyle/>
          <a:p>
            <a:pPr indent="0" marL="0">
              <a:buNone/>
            </a:pPr>
            <a:r>
              <a:rPr lang="en-US" sz="1100" i="1" dirty="0">
                <a:solidFill>
                  <a:schemeClr val="bg2"/>
                </a:solidFill>
              </a:rPr>
              <a:t>Figure: built-in network from simulation/network.py — undirected, weighted (weight = simulated traversal difficulty).</a:t>
            </a:r>
            <a:endParaRPr lang="en-US" sz="1100" dirty="0"/>
          </a:p>
        </p:txBody>
      </p:sp>
      <p:sp>
        <p:nvSpPr>
          <p:cNvPr id="52" name="Shape 50"/>
          <p:cNvSpPr/>
          <p:nvPr/>
        </p:nvSpPr>
        <p:spPr>
          <a:xfrm>
            <a:off x="7863840" y="1371600"/>
            <a:ext cx="3749040" cy="4709160"/>
          </a:xfrm>
          <a:prstGeom prst="roundRect">
            <a:avLst>
              <a:gd name="adj" fmla="val 1463"/>
            </a:avLst>
          </a:prstGeom>
          <a:solidFill>
            <a:schemeClr val="tx2"/>
          </a:solidFill>
          <a:ln w="9525">
            <a:solidFill>
              <a:schemeClr val="accent6"/>
            </a:solidFill>
            <a:prstDash val="solid"/>
          </a:ln>
        </p:spPr>
      </p:sp>
      <p:sp>
        <p:nvSpPr>
          <p:cNvPr id="53" name="Text 51"/>
          <p:cNvSpPr txBox="1"/>
          <p:nvPr/>
        </p:nvSpPr>
        <p:spPr>
          <a:xfrm>
            <a:off x="8092440" y="1508760"/>
            <a:ext cx="3291840" cy="228600"/>
          </a:xfrm>
          <a:prstGeom prst="rect">
            <a:avLst/>
          </a:prstGeom>
          <a:noFill/>
          <a:ln/>
        </p:spPr>
        <p:txBody>
          <a:bodyPr wrap="square" lIns="0" tIns="0" rIns="0" bIns="0" rtlCol="0" anchor="t"/>
          <a:lstStyle/>
          <a:p>
            <a:pPr indent="0" marL="0">
              <a:buNone/>
            </a:pPr>
            <a:r>
              <a:rPr lang="en-US" sz="1000" b="1" spc="150" kern="0" dirty="0">
                <a:solidFill>
                  <a:schemeClr val="accent1"/>
                </a:solidFill>
                <a:latin typeface="Courier New" pitchFamily="34" charset="0"/>
                <a:ea typeface="Courier New" pitchFamily="34" charset="-122"/>
                <a:cs typeface="Courier New" pitchFamily="34" charset="-120"/>
              </a:rPr>
              <a:t>DEFINITIONS</a:t>
            </a:r>
            <a:endParaRPr lang="en-US" sz="1000" dirty="0"/>
          </a:p>
        </p:txBody>
      </p:sp>
      <p:sp>
        <p:nvSpPr>
          <p:cNvPr id="54" name="Text 52"/>
          <p:cNvSpPr txBox="1"/>
          <p:nvPr/>
        </p:nvSpPr>
        <p:spPr>
          <a:xfrm>
            <a:off x="8092440" y="1828800"/>
            <a:ext cx="3383280" cy="2468880"/>
          </a:xfrm>
          <a:prstGeom prst="rect">
            <a:avLst/>
          </a:prstGeom>
          <a:noFill/>
          <a:ln/>
        </p:spPr>
        <p:txBody>
          <a:bodyPr wrap="square" lIns="0" tIns="0" rIns="0" bIns="0" rtlCol="0" anchor="t"/>
          <a:lstStyle/>
          <a:p>
            <a:pPr marL="203200" indent="-203200">
              <a:spcAft>
                <a:spcPts val="400"/>
              </a:spcAft>
              <a:buSzPct val="100000"/>
              <a:buChar char="•"/>
            </a:pPr>
            <a:r>
              <a:rPr lang="en-US" sz="1400" b="1" dirty="0">
                <a:solidFill>
                  <a:schemeClr val="accent2"/>
                </a:solidFill>
              </a:rPr>
              <a:t>V </a:t>
            </a:r>
            <a:pPr indent="0" marL="0">
              <a:buNone/>
            </a:pPr>
            <a:r>
              <a:rPr lang="en-US" sz="1400" dirty="0">
                <a:solidFill>
                  <a:schemeClr val="bg1"/>
                </a:solidFill>
              </a:rPr>
              <a:t>= 7 hosts (vertices)</a:t>
            </a:r>
            <a:endParaRPr lang="en-US" sz="1400" dirty="0"/>
          </a:p>
          <a:p>
            <a:pPr marL="203200" indent="-203200">
              <a:spcAft>
                <a:spcPts val="400"/>
              </a:spcAft>
              <a:buSzPct val="100000"/>
              <a:buChar char="•"/>
            </a:pPr>
            <a:r>
              <a:rPr lang="en-US" sz="1400" b="1" dirty="0">
                <a:solidFill>
                  <a:schemeClr val="accent2"/>
                </a:solidFill>
              </a:rPr>
              <a:t>E </a:t>
            </a:r>
            <a:pPr indent="0" marL="0">
              <a:buNone/>
            </a:pPr>
            <a:r>
              <a:rPr lang="en-US" sz="1400" dirty="0">
                <a:solidFill>
                  <a:schemeClr val="bg1"/>
                </a:solidFill>
              </a:rPr>
              <a:t>= 9 links (edges)</a:t>
            </a:r>
            <a:endParaRPr lang="en-US" sz="1400" dirty="0"/>
          </a:p>
          <a:p>
            <a:pPr marL="203200" indent="-203200">
              <a:spcAft>
                <a:spcPts val="400"/>
              </a:spcAft>
              <a:buSzPct val="100000"/>
              <a:buChar char="•"/>
            </a:pPr>
            <a:r>
              <a:rPr lang="en-US" sz="1400" b="1" dirty="0">
                <a:solidFill>
                  <a:schemeClr val="accent2"/>
                </a:solidFill>
              </a:rPr>
              <a:t>Undirected: </a:t>
            </a:r>
            <a:pPr indent="0" marL="0">
              <a:buNone/>
            </a:pPr>
            <a:r>
              <a:rPr lang="en-US" sz="1400" dirty="0">
                <a:solidFill>
                  <a:schemeClr val="bg1"/>
                </a:solidFill>
              </a:rPr>
              <a:t>a link can be crossed both ways</a:t>
            </a:r>
            <a:endParaRPr lang="en-US" sz="1400" dirty="0"/>
          </a:p>
          <a:p>
            <a:pPr marL="203200" indent="-203200">
              <a:spcAft>
                <a:spcPts val="400"/>
              </a:spcAft>
              <a:buSzPct val="100000"/>
              <a:buChar char="•"/>
            </a:pPr>
            <a:r>
              <a:rPr lang="en-US" sz="1400" b="1" dirty="0">
                <a:solidFill>
                  <a:schemeClr val="accent2"/>
                </a:solidFill>
              </a:rPr>
              <a:t>Weighted: </a:t>
            </a:r>
            <a:pPr indent="0" marL="0">
              <a:buNone/>
            </a:pPr>
            <a:r>
              <a:rPr lang="en-US" sz="1400" dirty="0">
                <a:solidFill>
                  <a:schemeClr val="bg1"/>
                </a:solidFill>
              </a:rPr>
              <a:t>w(u,v) = traversal cost</a:t>
            </a:r>
            <a:endParaRPr lang="en-US" sz="1400" dirty="0"/>
          </a:p>
          <a:p>
            <a:pPr marL="203200" indent="-203200">
              <a:spcAft>
                <a:spcPts val="400"/>
              </a:spcAft>
              <a:buSzPct val="100000"/>
              <a:buChar char="•"/>
            </a:pPr>
            <a:r>
              <a:rPr lang="en-US" sz="1400" b="1" dirty="0">
                <a:solidFill>
                  <a:schemeClr val="accent2"/>
                </a:solidFill>
              </a:rPr>
              <a:t>Path cost: </a:t>
            </a:r>
            <a:pPr indent="0" marL="0">
              <a:buNone/>
            </a:pPr>
            <a:r>
              <a:rPr lang="en-US" sz="1400" dirty="0">
                <a:solidFill>
                  <a:schemeClr val="bg1"/>
                </a:solidFill>
              </a:rPr>
              <a:t>sum of weights along the path</a:t>
            </a:r>
            <a:endParaRPr lang="en-US" sz="1400" dirty="0"/>
          </a:p>
          <a:p>
            <a:pPr marL="203200" indent="-203200">
              <a:spcAft>
                <a:spcPts val="400"/>
              </a:spcAft>
              <a:buSzPct val="100000"/>
              <a:buChar char="•"/>
            </a:pPr>
            <a:r>
              <a:rPr lang="en-US" sz="1400" b="1" dirty="0">
                <a:solidFill>
                  <a:schemeClr val="accent2"/>
                </a:solidFill>
              </a:rPr>
              <a:t>Degree: </a:t>
            </a:r>
            <a:pPr indent="0" marL="0">
              <a:buNone/>
            </a:pPr>
            <a:r>
              <a:rPr lang="en-US" sz="1400" dirty="0">
                <a:solidFill>
                  <a:schemeClr val="bg1"/>
                </a:solidFill>
              </a:rPr>
              <a:t>number of links a host has</a:t>
            </a:r>
            <a:endParaRPr lang="en-US" sz="1400" dirty="0"/>
          </a:p>
        </p:txBody>
      </p:sp>
      <p:sp>
        <p:nvSpPr>
          <p:cNvPr id="55" name="Text 53"/>
          <p:cNvSpPr txBox="1"/>
          <p:nvPr/>
        </p:nvSpPr>
        <p:spPr>
          <a:xfrm>
            <a:off x="8092440" y="4206240"/>
            <a:ext cx="3291840" cy="228600"/>
          </a:xfrm>
          <a:prstGeom prst="rect">
            <a:avLst/>
          </a:prstGeom>
          <a:noFill/>
          <a:ln/>
        </p:spPr>
        <p:txBody>
          <a:bodyPr wrap="square" lIns="0" tIns="0" rIns="0" bIns="0" rtlCol="0" anchor="t"/>
          <a:lstStyle/>
          <a:p>
            <a:pPr indent="0" marL="0">
              <a:buNone/>
            </a:pPr>
            <a:r>
              <a:rPr lang="en-US" sz="1000" b="1" spc="150" kern="0" dirty="0">
                <a:solidFill>
                  <a:schemeClr val="accent1"/>
                </a:solidFill>
                <a:latin typeface="Courier New" pitchFamily="34" charset="0"/>
                <a:ea typeface="Courier New" pitchFamily="34" charset="-122"/>
                <a:cs typeface="Courier New" pitchFamily="34" charset="-120"/>
              </a:rPr>
              <a:t>ADJACENCY LIST (EXCERPT)</a:t>
            </a:r>
            <a:endParaRPr lang="en-US" sz="1000" dirty="0"/>
          </a:p>
        </p:txBody>
      </p:sp>
      <p:sp>
        <p:nvSpPr>
          <p:cNvPr id="56" name="Text 54"/>
          <p:cNvSpPr txBox="1"/>
          <p:nvPr/>
        </p:nvSpPr>
        <p:spPr>
          <a:xfrm>
            <a:off x="8092440" y="4526280"/>
            <a:ext cx="3429000" cy="1463040"/>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Internet → Web Server(1)</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Web Server → App Server(2), Employee PC(2)</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App Server → Database(5), File Server(3)</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Admin PC → Database(4)</a:t>
            </a:r>
            <a:endParaRPr lang="en-US" sz="11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bg1"/>
                </a:solidFill>
                <a:latin typeface="Calibri" pitchFamily="34" charset="0"/>
                <a:ea typeface="Calibri" pitchFamily="34" charset="-122"/>
                <a:cs typeface="Calibri" pitchFamily="34" charset="-120"/>
              </a:rPr>
              <a:t>The four implemented search algorithms</a:t>
            </a:r>
            <a:endParaRPr lang="en-US" sz="3000" dirty="0"/>
          </a:p>
        </p:txBody>
      </p:sp>
      <p:sp>
        <p:nvSpPr>
          <p:cNvPr id="3" name="Shape 1"/>
          <p:cNvSpPr/>
          <p:nvPr/>
        </p:nvSpPr>
        <p:spPr>
          <a:xfrm>
            <a:off x="548640" y="1371600"/>
            <a:ext cx="2651760" cy="4709160"/>
          </a:xfrm>
          <a:prstGeom prst="roundRect">
            <a:avLst>
              <a:gd name="adj" fmla="val 2069"/>
            </a:avLst>
          </a:prstGeom>
          <a:solidFill>
            <a:schemeClr val="tx2"/>
          </a:solidFill>
          <a:ln w="9525">
            <a:solidFill>
              <a:schemeClr val="accent6"/>
            </a:solidFill>
            <a:prstDash val="solid"/>
          </a:ln>
        </p:spPr>
      </p:sp>
      <p:sp>
        <p:nvSpPr>
          <p:cNvPr id="4" name="Text 2"/>
          <p:cNvSpPr txBox="1"/>
          <p:nvPr/>
        </p:nvSpPr>
        <p:spPr>
          <a:xfrm>
            <a:off x="731520" y="1508760"/>
            <a:ext cx="2286000" cy="502920"/>
          </a:xfrm>
          <a:prstGeom prst="rect">
            <a:avLst/>
          </a:prstGeom>
          <a:noFill/>
          <a:ln/>
        </p:spPr>
        <p:txBody>
          <a:bodyPr wrap="square" lIns="0" tIns="0" rIns="0" bIns="0" rtlCol="0" anchor="t"/>
          <a:lstStyle/>
          <a:p>
            <a:pPr indent="0" marL="0">
              <a:buNone/>
            </a:pPr>
            <a:r>
              <a:rPr lang="en-US" sz="2800" b="1" dirty="0">
                <a:solidFill>
                  <a:schemeClr val="accent1"/>
                </a:solidFill>
              </a:rPr>
              <a:t>BFS</a:t>
            </a:r>
            <a:endParaRPr lang="en-US" sz="2800" dirty="0"/>
          </a:p>
        </p:txBody>
      </p:sp>
      <p:sp>
        <p:nvSpPr>
          <p:cNvPr id="5" name="Text 3"/>
          <p:cNvSpPr txBox="1"/>
          <p:nvPr/>
        </p:nvSpPr>
        <p:spPr>
          <a:xfrm>
            <a:off x="731520" y="2011680"/>
            <a:ext cx="2286000" cy="320040"/>
          </a:xfrm>
          <a:prstGeom prst="rect">
            <a:avLst/>
          </a:prstGeom>
          <a:noFill/>
          <a:ln/>
        </p:spPr>
        <p:txBody>
          <a:bodyPr wrap="square" lIns="0" tIns="0" rIns="0" bIns="0" rtlCol="0" anchor="t"/>
          <a:lstStyle/>
          <a:p>
            <a:pPr indent="0" marL="0">
              <a:buNone/>
            </a:pPr>
            <a:r>
              <a:rPr lang="en-US" sz="1400" dirty="0">
                <a:solidFill>
                  <a:schemeClr val="accent2"/>
                </a:solidFill>
              </a:rPr>
              <a:t>Breadth-First Search</a:t>
            </a:r>
            <a:endParaRPr lang="en-US" sz="1400" dirty="0"/>
          </a:p>
        </p:txBody>
      </p:sp>
      <p:sp>
        <p:nvSpPr>
          <p:cNvPr id="6" name="Text 4"/>
          <p:cNvSpPr txBox="1"/>
          <p:nvPr/>
        </p:nvSpPr>
        <p:spPr>
          <a:xfrm>
            <a:off x="731520" y="2468880"/>
            <a:ext cx="2286000" cy="228600"/>
          </a:xfrm>
          <a:prstGeom prst="rect">
            <a:avLst/>
          </a:prstGeom>
          <a:noFill/>
          <a:ln/>
        </p:spPr>
        <p:txBody>
          <a:bodyPr wrap="square" lIns="0" tIns="0" rIns="0" bIns="0" rtlCol="0" anchor="t"/>
          <a:lstStyle/>
          <a:p>
            <a:pPr indent="0" marL="0">
              <a:buNone/>
            </a:pPr>
            <a:r>
              <a:rPr lang="en-US" sz="1000" b="1" spc="150" kern="0" dirty="0">
                <a:solidFill>
                  <a:schemeClr val="bg2"/>
                </a:solidFill>
                <a:latin typeface="Courier New" pitchFamily="34" charset="0"/>
                <a:ea typeface="Courier New" pitchFamily="34" charset="-122"/>
                <a:cs typeface="Courier New" pitchFamily="34" charset="-120"/>
              </a:rPr>
              <a:t>DATA STRUCTURE</a:t>
            </a:r>
            <a:endParaRPr lang="en-US" sz="1000" dirty="0"/>
          </a:p>
        </p:txBody>
      </p:sp>
      <p:sp>
        <p:nvSpPr>
          <p:cNvPr id="7" name="Text 5"/>
          <p:cNvSpPr txBox="1"/>
          <p:nvPr/>
        </p:nvSpPr>
        <p:spPr>
          <a:xfrm>
            <a:off x="731520" y="2697480"/>
            <a:ext cx="2331720" cy="457200"/>
          </a:xfrm>
          <a:prstGeom prst="rect">
            <a:avLst/>
          </a:prstGeom>
          <a:noFill/>
          <a:ln/>
        </p:spPr>
        <p:txBody>
          <a:bodyPr wrap="square" lIns="0" tIns="0" rIns="0" bIns="0" rtlCol="0" anchor="t"/>
          <a:lstStyle/>
          <a:p>
            <a:pPr indent="0" marL="0">
              <a:buNone/>
            </a:pPr>
            <a:r>
              <a:rPr lang="en-US" sz="1300" dirty="0">
                <a:solidFill>
                  <a:schemeClr val="bg1"/>
                </a:solidFill>
              </a:rPr>
              <a:t>FIFO queue</a:t>
            </a:r>
            <a:endParaRPr lang="en-US" sz="1300" dirty="0"/>
          </a:p>
        </p:txBody>
      </p:sp>
      <p:sp>
        <p:nvSpPr>
          <p:cNvPr id="8" name="Text 6"/>
          <p:cNvSpPr txBox="1"/>
          <p:nvPr/>
        </p:nvSpPr>
        <p:spPr>
          <a:xfrm>
            <a:off x="731520" y="3200400"/>
            <a:ext cx="2286000" cy="228600"/>
          </a:xfrm>
          <a:prstGeom prst="rect">
            <a:avLst/>
          </a:prstGeom>
          <a:noFill/>
          <a:ln/>
        </p:spPr>
        <p:txBody>
          <a:bodyPr wrap="square" lIns="0" tIns="0" rIns="0" bIns="0" rtlCol="0" anchor="t"/>
          <a:lstStyle/>
          <a:p>
            <a:pPr indent="0" marL="0">
              <a:buNone/>
            </a:pPr>
            <a:r>
              <a:rPr lang="en-US" sz="1000" b="1" spc="150" kern="0" dirty="0">
                <a:solidFill>
                  <a:schemeClr val="bg2"/>
                </a:solidFill>
                <a:latin typeface="Courier New" pitchFamily="34" charset="0"/>
                <a:ea typeface="Courier New" pitchFamily="34" charset="-122"/>
                <a:cs typeface="Courier New" pitchFamily="34" charset="-120"/>
              </a:rPr>
              <a:t>IDEA</a:t>
            </a:r>
            <a:endParaRPr lang="en-US" sz="1000" dirty="0"/>
          </a:p>
        </p:txBody>
      </p:sp>
      <p:sp>
        <p:nvSpPr>
          <p:cNvPr id="9" name="Text 7"/>
          <p:cNvSpPr txBox="1"/>
          <p:nvPr/>
        </p:nvSpPr>
        <p:spPr>
          <a:xfrm>
            <a:off x="731520" y="3429000"/>
            <a:ext cx="2331720" cy="777240"/>
          </a:xfrm>
          <a:prstGeom prst="rect">
            <a:avLst/>
          </a:prstGeom>
          <a:noFill/>
          <a:ln/>
        </p:spPr>
        <p:txBody>
          <a:bodyPr wrap="square" lIns="0" tIns="0" rIns="0" bIns="0" rtlCol="0" anchor="t"/>
          <a:lstStyle/>
          <a:p>
            <a:pPr indent="0" marL="0">
              <a:buNone/>
            </a:pPr>
            <a:r>
              <a:rPr lang="en-US" sz="1300" dirty="0">
                <a:solidFill>
                  <a:schemeClr val="bg1"/>
                </a:solidFill>
              </a:rPr>
              <a:t>Expands level by level; fewest hops.</a:t>
            </a:r>
            <a:endParaRPr lang="en-US" sz="1300" dirty="0"/>
          </a:p>
        </p:txBody>
      </p:sp>
      <p:sp>
        <p:nvSpPr>
          <p:cNvPr id="10" name="Text 8"/>
          <p:cNvSpPr txBox="1"/>
          <p:nvPr/>
        </p:nvSpPr>
        <p:spPr>
          <a:xfrm>
            <a:off x="731520" y="4251960"/>
            <a:ext cx="2286000" cy="228600"/>
          </a:xfrm>
          <a:prstGeom prst="rect">
            <a:avLst/>
          </a:prstGeom>
          <a:noFill/>
          <a:ln/>
        </p:spPr>
        <p:txBody>
          <a:bodyPr wrap="square" lIns="0" tIns="0" rIns="0" bIns="0" rtlCol="0" anchor="t"/>
          <a:lstStyle/>
          <a:p>
            <a:pPr indent="0" marL="0">
              <a:buNone/>
            </a:pPr>
            <a:r>
              <a:rPr lang="en-US" sz="1000" b="1" spc="150" kern="0" dirty="0">
                <a:solidFill>
                  <a:schemeClr val="bg2"/>
                </a:solidFill>
                <a:latin typeface="Courier New" pitchFamily="34" charset="0"/>
                <a:ea typeface="Courier New" pitchFamily="34" charset="-122"/>
                <a:cs typeface="Courier New" pitchFamily="34" charset="-120"/>
              </a:rPr>
              <a:t>TIME</a:t>
            </a:r>
            <a:endParaRPr lang="en-US" sz="1000" dirty="0"/>
          </a:p>
        </p:txBody>
      </p:sp>
      <p:sp>
        <p:nvSpPr>
          <p:cNvPr id="11" name="Text 9"/>
          <p:cNvSpPr txBox="1"/>
          <p:nvPr/>
        </p:nvSpPr>
        <p:spPr>
          <a:xfrm>
            <a:off x="731520" y="4480560"/>
            <a:ext cx="2286000" cy="32004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O(V + E)</a:t>
            </a:r>
            <a:endParaRPr lang="en-US" sz="1400" dirty="0"/>
          </a:p>
        </p:txBody>
      </p:sp>
      <p:sp>
        <p:nvSpPr>
          <p:cNvPr id="12" name="Text 10"/>
          <p:cNvSpPr txBox="1"/>
          <p:nvPr/>
        </p:nvSpPr>
        <p:spPr>
          <a:xfrm>
            <a:off x="731520" y="4846320"/>
            <a:ext cx="2286000" cy="228600"/>
          </a:xfrm>
          <a:prstGeom prst="rect">
            <a:avLst/>
          </a:prstGeom>
          <a:noFill/>
          <a:ln/>
        </p:spPr>
        <p:txBody>
          <a:bodyPr wrap="square" lIns="0" tIns="0" rIns="0" bIns="0" rtlCol="0" anchor="t"/>
          <a:lstStyle/>
          <a:p>
            <a:pPr indent="0" marL="0">
              <a:buNone/>
            </a:pPr>
            <a:r>
              <a:rPr lang="en-US" sz="1000" b="1" spc="150" kern="0" dirty="0">
                <a:solidFill>
                  <a:schemeClr val="bg2"/>
                </a:solidFill>
                <a:latin typeface="Courier New" pitchFamily="34" charset="0"/>
                <a:ea typeface="Courier New" pitchFamily="34" charset="-122"/>
                <a:cs typeface="Courier New" pitchFamily="34" charset="-120"/>
              </a:rPr>
              <a:t>LIMITATION</a:t>
            </a:r>
            <a:endParaRPr lang="en-US" sz="1000" dirty="0"/>
          </a:p>
        </p:txBody>
      </p:sp>
      <p:sp>
        <p:nvSpPr>
          <p:cNvPr id="13" name="Text 11"/>
          <p:cNvSpPr txBox="1"/>
          <p:nvPr/>
        </p:nvSpPr>
        <p:spPr>
          <a:xfrm>
            <a:off x="731520" y="5074920"/>
            <a:ext cx="2331720" cy="548640"/>
          </a:xfrm>
          <a:prstGeom prst="rect">
            <a:avLst/>
          </a:prstGeom>
          <a:noFill/>
          <a:ln/>
        </p:spPr>
        <p:txBody>
          <a:bodyPr wrap="square" lIns="0" tIns="0" rIns="0" bIns="0" rtlCol="0" anchor="t"/>
          <a:lstStyle/>
          <a:p>
            <a:pPr indent="0" marL="0">
              <a:buNone/>
            </a:pPr>
            <a:r>
              <a:rPr lang="en-US" sz="1200" dirty="0">
                <a:solidFill>
                  <a:schemeClr val="bg2"/>
                </a:solidFill>
              </a:rPr>
              <a:t>Ignores weights → not cost-optimal</a:t>
            </a:r>
            <a:endParaRPr lang="en-US" sz="1200" dirty="0"/>
          </a:p>
        </p:txBody>
      </p:sp>
      <p:sp>
        <p:nvSpPr>
          <p:cNvPr id="14" name="Text 12"/>
          <p:cNvSpPr txBox="1"/>
          <p:nvPr/>
        </p:nvSpPr>
        <p:spPr>
          <a:xfrm>
            <a:off x="731520" y="5715000"/>
            <a:ext cx="2286000" cy="274320"/>
          </a:xfrm>
          <a:prstGeom prst="rect">
            <a:avLst/>
          </a:prstGeom>
          <a:noFill/>
          <a:ln/>
        </p:spPr>
        <p:txBody>
          <a:bodyPr wrap="square" lIns="0" tIns="0" rIns="0" bIns="0" rtlCol="0" anchor="t"/>
          <a:lstStyle/>
          <a:p>
            <a:pPr indent="0" marL="0">
              <a:buNone/>
            </a:pPr>
            <a:r>
              <a:rPr lang="en-US" sz="1100" dirty="0">
                <a:solidFill>
                  <a:schemeClr val="accent1"/>
                </a:solidFill>
                <a:latin typeface="Courier New" pitchFamily="34" charset="0"/>
                <a:ea typeface="Courier New" pitchFamily="34" charset="-122"/>
                <a:cs typeface="Courier New" pitchFamily="34" charset="-120"/>
              </a:rPr>
              <a:t>ai/bfs.py</a:t>
            </a:r>
            <a:endParaRPr lang="en-US" sz="1100" dirty="0"/>
          </a:p>
        </p:txBody>
      </p:sp>
      <p:sp>
        <p:nvSpPr>
          <p:cNvPr id="15" name="Shape 13"/>
          <p:cNvSpPr/>
          <p:nvPr/>
        </p:nvSpPr>
        <p:spPr>
          <a:xfrm>
            <a:off x="3364992" y="1371600"/>
            <a:ext cx="2651760" cy="4709160"/>
          </a:xfrm>
          <a:prstGeom prst="roundRect">
            <a:avLst>
              <a:gd name="adj" fmla="val 2069"/>
            </a:avLst>
          </a:prstGeom>
          <a:solidFill>
            <a:schemeClr val="tx2"/>
          </a:solidFill>
          <a:ln w="9525">
            <a:solidFill>
              <a:schemeClr val="accent6"/>
            </a:solidFill>
            <a:prstDash val="solid"/>
          </a:ln>
        </p:spPr>
      </p:sp>
      <p:sp>
        <p:nvSpPr>
          <p:cNvPr id="16" name="Text 14"/>
          <p:cNvSpPr txBox="1"/>
          <p:nvPr/>
        </p:nvSpPr>
        <p:spPr>
          <a:xfrm>
            <a:off x="3547872" y="1508760"/>
            <a:ext cx="2286000" cy="502920"/>
          </a:xfrm>
          <a:prstGeom prst="rect">
            <a:avLst/>
          </a:prstGeom>
          <a:noFill/>
          <a:ln/>
        </p:spPr>
        <p:txBody>
          <a:bodyPr wrap="square" lIns="0" tIns="0" rIns="0" bIns="0" rtlCol="0" anchor="t"/>
          <a:lstStyle/>
          <a:p>
            <a:pPr indent="0" marL="0">
              <a:buNone/>
            </a:pPr>
            <a:r>
              <a:rPr lang="en-US" sz="2800" b="1" dirty="0">
                <a:solidFill>
                  <a:schemeClr val="accent1"/>
                </a:solidFill>
              </a:rPr>
              <a:t>DFS</a:t>
            </a:r>
            <a:endParaRPr lang="en-US" sz="2800" dirty="0"/>
          </a:p>
        </p:txBody>
      </p:sp>
      <p:sp>
        <p:nvSpPr>
          <p:cNvPr id="17" name="Text 15"/>
          <p:cNvSpPr txBox="1"/>
          <p:nvPr/>
        </p:nvSpPr>
        <p:spPr>
          <a:xfrm>
            <a:off x="3547872" y="2011680"/>
            <a:ext cx="2286000" cy="320040"/>
          </a:xfrm>
          <a:prstGeom prst="rect">
            <a:avLst/>
          </a:prstGeom>
          <a:noFill/>
          <a:ln/>
        </p:spPr>
        <p:txBody>
          <a:bodyPr wrap="square" lIns="0" tIns="0" rIns="0" bIns="0" rtlCol="0" anchor="t"/>
          <a:lstStyle/>
          <a:p>
            <a:pPr indent="0" marL="0">
              <a:buNone/>
            </a:pPr>
            <a:r>
              <a:rPr lang="en-US" sz="1400" dirty="0">
                <a:solidFill>
                  <a:schemeClr val="accent2"/>
                </a:solidFill>
              </a:rPr>
              <a:t>Depth-First Search</a:t>
            </a:r>
            <a:endParaRPr lang="en-US" sz="1400" dirty="0"/>
          </a:p>
        </p:txBody>
      </p:sp>
      <p:sp>
        <p:nvSpPr>
          <p:cNvPr id="18" name="Text 16"/>
          <p:cNvSpPr txBox="1"/>
          <p:nvPr/>
        </p:nvSpPr>
        <p:spPr>
          <a:xfrm>
            <a:off x="3547872" y="2468880"/>
            <a:ext cx="2286000" cy="228600"/>
          </a:xfrm>
          <a:prstGeom prst="rect">
            <a:avLst/>
          </a:prstGeom>
          <a:noFill/>
          <a:ln/>
        </p:spPr>
        <p:txBody>
          <a:bodyPr wrap="square" lIns="0" tIns="0" rIns="0" bIns="0" rtlCol="0" anchor="t"/>
          <a:lstStyle/>
          <a:p>
            <a:pPr indent="0" marL="0">
              <a:buNone/>
            </a:pPr>
            <a:r>
              <a:rPr lang="en-US" sz="1000" b="1" spc="150" kern="0" dirty="0">
                <a:solidFill>
                  <a:schemeClr val="bg2"/>
                </a:solidFill>
                <a:latin typeface="Courier New" pitchFamily="34" charset="0"/>
                <a:ea typeface="Courier New" pitchFamily="34" charset="-122"/>
                <a:cs typeface="Courier New" pitchFamily="34" charset="-120"/>
              </a:rPr>
              <a:t>DATA STRUCTURE</a:t>
            </a:r>
            <a:endParaRPr lang="en-US" sz="1000" dirty="0"/>
          </a:p>
        </p:txBody>
      </p:sp>
      <p:sp>
        <p:nvSpPr>
          <p:cNvPr id="19" name="Text 17"/>
          <p:cNvSpPr txBox="1"/>
          <p:nvPr/>
        </p:nvSpPr>
        <p:spPr>
          <a:xfrm>
            <a:off x="3547872" y="2697480"/>
            <a:ext cx="2331720" cy="457200"/>
          </a:xfrm>
          <a:prstGeom prst="rect">
            <a:avLst/>
          </a:prstGeom>
          <a:noFill/>
          <a:ln/>
        </p:spPr>
        <p:txBody>
          <a:bodyPr wrap="square" lIns="0" tIns="0" rIns="0" bIns="0" rtlCol="0" anchor="t"/>
          <a:lstStyle/>
          <a:p>
            <a:pPr indent="0" marL="0">
              <a:buNone/>
            </a:pPr>
            <a:r>
              <a:rPr lang="en-US" sz="1300" dirty="0">
                <a:solidFill>
                  <a:schemeClr val="bg1"/>
                </a:solidFill>
              </a:rPr>
              <a:t>Stack (LIFO)</a:t>
            </a:r>
            <a:endParaRPr lang="en-US" sz="1300" dirty="0"/>
          </a:p>
        </p:txBody>
      </p:sp>
      <p:sp>
        <p:nvSpPr>
          <p:cNvPr id="20" name="Text 18"/>
          <p:cNvSpPr txBox="1"/>
          <p:nvPr/>
        </p:nvSpPr>
        <p:spPr>
          <a:xfrm>
            <a:off x="3547872" y="3200400"/>
            <a:ext cx="2286000" cy="228600"/>
          </a:xfrm>
          <a:prstGeom prst="rect">
            <a:avLst/>
          </a:prstGeom>
          <a:noFill/>
          <a:ln/>
        </p:spPr>
        <p:txBody>
          <a:bodyPr wrap="square" lIns="0" tIns="0" rIns="0" bIns="0" rtlCol="0" anchor="t"/>
          <a:lstStyle/>
          <a:p>
            <a:pPr indent="0" marL="0">
              <a:buNone/>
            </a:pPr>
            <a:r>
              <a:rPr lang="en-US" sz="1000" b="1" spc="150" kern="0" dirty="0">
                <a:solidFill>
                  <a:schemeClr val="bg2"/>
                </a:solidFill>
                <a:latin typeface="Courier New" pitchFamily="34" charset="0"/>
                <a:ea typeface="Courier New" pitchFamily="34" charset="-122"/>
                <a:cs typeface="Courier New" pitchFamily="34" charset="-120"/>
              </a:rPr>
              <a:t>IDEA</a:t>
            </a:r>
            <a:endParaRPr lang="en-US" sz="1000" dirty="0"/>
          </a:p>
        </p:txBody>
      </p:sp>
      <p:sp>
        <p:nvSpPr>
          <p:cNvPr id="21" name="Text 19"/>
          <p:cNvSpPr txBox="1"/>
          <p:nvPr/>
        </p:nvSpPr>
        <p:spPr>
          <a:xfrm>
            <a:off x="3547872" y="3429000"/>
            <a:ext cx="2331720" cy="777240"/>
          </a:xfrm>
          <a:prstGeom prst="rect">
            <a:avLst/>
          </a:prstGeom>
          <a:noFill/>
          <a:ln/>
        </p:spPr>
        <p:txBody>
          <a:bodyPr wrap="square" lIns="0" tIns="0" rIns="0" bIns="0" rtlCol="0" anchor="t"/>
          <a:lstStyle/>
          <a:p>
            <a:pPr indent="0" marL="0">
              <a:buNone/>
            </a:pPr>
            <a:r>
              <a:rPr lang="en-US" sz="1300" dirty="0">
                <a:solidFill>
                  <a:schemeClr val="bg1"/>
                </a:solidFill>
              </a:rPr>
              <a:t>Follows one branch fully, then backtracks.</a:t>
            </a:r>
            <a:endParaRPr lang="en-US" sz="1300" dirty="0"/>
          </a:p>
        </p:txBody>
      </p:sp>
      <p:sp>
        <p:nvSpPr>
          <p:cNvPr id="22" name="Text 20"/>
          <p:cNvSpPr txBox="1"/>
          <p:nvPr/>
        </p:nvSpPr>
        <p:spPr>
          <a:xfrm>
            <a:off x="3547872" y="4251960"/>
            <a:ext cx="2286000" cy="228600"/>
          </a:xfrm>
          <a:prstGeom prst="rect">
            <a:avLst/>
          </a:prstGeom>
          <a:noFill/>
          <a:ln/>
        </p:spPr>
        <p:txBody>
          <a:bodyPr wrap="square" lIns="0" tIns="0" rIns="0" bIns="0" rtlCol="0" anchor="t"/>
          <a:lstStyle/>
          <a:p>
            <a:pPr indent="0" marL="0">
              <a:buNone/>
            </a:pPr>
            <a:r>
              <a:rPr lang="en-US" sz="1000" b="1" spc="150" kern="0" dirty="0">
                <a:solidFill>
                  <a:schemeClr val="bg2"/>
                </a:solidFill>
                <a:latin typeface="Courier New" pitchFamily="34" charset="0"/>
                <a:ea typeface="Courier New" pitchFamily="34" charset="-122"/>
                <a:cs typeface="Courier New" pitchFamily="34" charset="-120"/>
              </a:rPr>
              <a:t>TIME</a:t>
            </a:r>
            <a:endParaRPr lang="en-US" sz="1000" dirty="0"/>
          </a:p>
        </p:txBody>
      </p:sp>
      <p:sp>
        <p:nvSpPr>
          <p:cNvPr id="23" name="Text 21"/>
          <p:cNvSpPr txBox="1"/>
          <p:nvPr/>
        </p:nvSpPr>
        <p:spPr>
          <a:xfrm>
            <a:off x="3547872" y="4480560"/>
            <a:ext cx="2286000" cy="32004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O(V + E)</a:t>
            </a:r>
            <a:endParaRPr lang="en-US" sz="1400" dirty="0"/>
          </a:p>
        </p:txBody>
      </p:sp>
      <p:sp>
        <p:nvSpPr>
          <p:cNvPr id="24" name="Text 22"/>
          <p:cNvSpPr txBox="1"/>
          <p:nvPr/>
        </p:nvSpPr>
        <p:spPr>
          <a:xfrm>
            <a:off x="3547872" y="4846320"/>
            <a:ext cx="2286000" cy="228600"/>
          </a:xfrm>
          <a:prstGeom prst="rect">
            <a:avLst/>
          </a:prstGeom>
          <a:noFill/>
          <a:ln/>
        </p:spPr>
        <p:txBody>
          <a:bodyPr wrap="square" lIns="0" tIns="0" rIns="0" bIns="0" rtlCol="0" anchor="t"/>
          <a:lstStyle/>
          <a:p>
            <a:pPr indent="0" marL="0">
              <a:buNone/>
            </a:pPr>
            <a:r>
              <a:rPr lang="en-US" sz="1000" b="1" spc="150" kern="0" dirty="0">
                <a:solidFill>
                  <a:schemeClr val="bg2"/>
                </a:solidFill>
                <a:latin typeface="Courier New" pitchFamily="34" charset="0"/>
                <a:ea typeface="Courier New" pitchFamily="34" charset="-122"/>
                <a:cs typeface="Courier New" pitchFamily="34" charset="-120"/>
              </a:rPr>
              <a:t>LIMITATION</a:t>
            </a:r>
            <a:endParaRPr lang="en-US" sz="1000" dirty="0"/>
          </a:p>
        </p:txBody>
      </p:sp>
      <p:sp>
        <p:nvSpPr>
          <p:cNvPr id="25" name="Text 23"/>
          <p:cNvSpPr txBox="1"/>
          <p:nvPr/>
        </p:nvSpPr>
        <p:spPr>
          <a:xfrm>
            <a:off x="3547872" y="5074920"/>
            <a:ext cx="2331720" cy="548640"/>
          </a:xfrm>
          <a:prstGeom prst="rect">
            <a:avLst/>
          </a:prstGeom>
          <a:noFill/>
          <a:ln/>
        </p:spPr>
        <p:txBody>
          <a:bodyPr wrap="square" lIns="0" tIns="0" rIns="0" bIns="0" rtlCol="0" anchor="t"/>
          <a:lstStyle/>
          <a:p>
            <a:pPr indent="0" marL="0">
              <a:buNone/>
            </a:pPr>
            <a:r>
              <a:rPr lang="en-US" sz="1200" dirty="0">
                <a:solidFill>
                  <a:schemeClr val="bg2"/>
                </a:solidFill>
              </a:rPr>
              <a:t>No optimality; order-dependent</a:t>
            </a:r>
            <a:endParaRPr lang="en-US" sz="1200" dirty="0"/>
          </a:p>
        </p:txBody>
      </p:sp>
      <p:sp>
        <p:nvSpPr>
          <p:cNvPr id="26" name="Text 24"/>
          <p:cNvSpPr txBox="1"/>
          <p:nvPr/>
        </p:nvSpPr>
        <p:spPr>
          <a:xfrm>
            <a:off x="3547872" y="5715000"/>
            <a:ext cx="2286000" cy="274320"/>
          </a:xfrm>
          <a:prstGeom prst="rect">
            <a:avLst/>
          </a:prstGeom>
          <a:noFill/>
          <a:ln/>
        </p:spPr>
        <p:txBody>
          <a:bodyPr wrap="square" lIns="0" tIns="0" rIns="0" bIns="0" rtlCol="0" anchor="t"/>
          <a:lstStyle/>
          <a:p>
            <a:pPr indent="0" marL="0">
              <a:buNone/>
            </a:pPr>
            <a:r>
              <a:rPr lang="en-US" sz="1100" dirty="0">
                <a:solidFill>
                  <a:schemeClr val="accent1"/>
                </a:solidFill>
                <a:latin typeface="Courier New" pitchFamily="34" charset="0"/>
                <a:ea typeface="Courier New" pitchFamily="34" charset="-122"/>
                <a:cs typeface="Courier New" pitchFamily="34" charset="-120"/>
              </a:rPr>
              <a:t>ai/dfs.py</a:t>
            </a:r>
            <a:endParaRPr lang="en-US" sz="1100" dirty="0"/>
          </a:p>
        </p:txBody>
      </p:sp>
      <p:sp>
        <p:nvSpPr>
          <p:cNvPr id="27" name="Shape 25"/>
          <p:cNvSpPr/>
          <p:nvPr/>
        </p:nvSpPr>
        <p:spPr>
          <a:xfrm>
            <a:off x="6181344" y="1371600"/>
            <a:ext cx="2651760" cy="4709160"/>
          </a:xfrm>
          <a:prstGeom prst="roundRect">
            <a:avLst>
              <a:gd name="adj" fmla="val 2069"/>
            </a:avLst>
          </a:prstGeom>
          <a:solidFill>
            <a:schemeClr val="tx2"/>
          </a:solidFill>
          <a:ln w="9525">
            <a:solidFill>
              <a:schemeClr val="accent1"/>
            </a:solidFill>
            <a:prstDash val="solid"/>
          </a:ln>
        </p:spPr>
      </p:sp>
      <p:sp>
        <p:nvSpPr>
          <p:cNvPr id="28" name="Text 26"/>
          <p:cNvSpPr txBox="1"/>
          <p:nvPr/>
        </p:nvSpPr>
        <p:spPr>
          <a:xfrm>
            <a:off x="6364224" y="1508760"/>
            <a:ext cx="2286000" cy="502920"/>
          </a:xfrm>
          <a:prstGeom prst="rect">
            <a:avLst/>
          </a:prstGeom>
          <a:noFill/>
          <a:ln/>
        </p:spPr>
        <p:txBody>
          <a:bodyPr wrap="square" lIns="0" tIns="0" rIns="0" bIns="0" rtlCol="0" anchor="t"/>
          <a:lstStyle/>
          <a:p>
            <a:pPr indent="0" marL="0">
              <a:buNone/>
            </a:pPr>
            <a:r>
              <a:rPr lang="en-US" sz="2800" b="1" dirty="0">
                <a:solidFill>
                  <a:schemeClr val="accent1"/>
                </a:solidFill>
              </a:rPr>
              <a:t>UCS</a:t>
            </a:r>
            <a:endParaRPr lang="en-US" sz="2800" dirty="0"/>
          </a:p>
        </p:txBody>
      </p:sp>
      <p:sp>
        <p:nvSpPr>
          <p:cNvPr id="29" name="Text 27"/>
          <p:cNvSpPr txBox="1"/>
          <p:nvPr/>
        </p:nvSpPr>
        <p:spPr>
          <a:xfrm>
            <a:off x="6364224" y="2011680"/>
            <a:ext cx="2286000" cy="320040"/>
          </a:xfrm>
          <a:prstGeom prst="rect">
            <a:avLst/>
          </a:prstGeom>
          <a:noFill/>
          <a:ln/>
        </p:spPr>
        <p:txBody>
          <a:bodyPr wrap="square" lIns="0" tIns="0" rIns="0" bIns="0" rtlCol="0" anchor="t"/>
          <a:lstStyle/>
          <a:p>
            <a:pPr indent="0" marL="0">
              <a:buNone/>
            </a:pPr>
            <a:r>
              <a:rPr lang="en-US" sz="1400" dirty="0">
                <a:solidFill>
                  <a:schemeClr val="accent2"/>
                </a:solidFill>
              </a:rPr>
              <a:t>Uniform-Cost Search</a:t>
            </a:r>
            <a:endParaRPr lang="en-US" sz="1400" dirty="0"/>
          </a:p>
        </p:txBody>
      </p:sp>
      <p:sp>
        <p:nvSpPr>
          <p:cNvPr id="30" name="Text 28"/>
          <p:cNvSpPr txBox="1"/>
          <p:nvPr/>
        </p:nvSpPr>
        <p:spPr>
          <a:xfrm>
            <a:off x="6364224" y="2468880"/>
            <a:ext cx="2286000" cy="228600"/>
          </a:xfrm>
          <a:prstGeom prst="rect">
            <a:avLst/>
          </a:prstGeom>
          <a:noFill/>
          <a:ln/>
        </p:spPr>
        <p:txBody>
          <a:bodyPr wrap="square" lIns="0" tIns="0" rIns="0" bIns="0" rtlCol="0" anchor="t"/>
          <a:lstStyle/>
          <a:p>
            <a:pPr indent="0" marL="0">
              <a:buNone/>
            </a:pPr>
            <a:r>
              <a:rPr lang="en-US" sz="1000" b="1" spc="150" kern="0" dirty="0">
                <a:solidFill>
                  <a:schemeClr val="bg2"/>
                </a:solidFill>
                <a:latin typeface="Courier New" pitchFamily="34" charset="0"/>
                <a:ea typeface="Courier New" pitchFamily="34" charset="-122"/>
                <a:cs typeface="Courier New" pitchFamily="34" charset="-120"/>
              </a:rPr>
              <a:t>DATA STRUCTURE</a:t>
            </a:r>
            <a:endParaRPr lang="en-US" sz="1000" dirty="0"/>
          </a:p>
        </p:txBody>
      </p:sp>
      <p:sp>
        <p:nvSpPr>
          <p:cNvPr id="31" name="Text 29"/>
          <p:cNvSpPr txBox="1"/>
          <p:nvPr/>
        </p:nvSpPr>
        <p:spPr>
          <a:xfrm>
            <a:off x="6364224" y="2697480"/>
            <a:ext cx="2331720" cy="457200"/>
          </a:xfrm>
          <a:prstGeom prst="rect">
            <a:avLst/>
          </a:prstGeom>
          <a:noFill/>
          <a:ln/>
        </p:spPr>
        <p:txBody>
          <a:bodyPr wrap="square" lIns="0" tIns="0" rIns="0" bIns="0" rtlCol="0" anchor="t"/>
          <a:lstStyle/>
          <a:p>
            <a:pPr indent="0" marL="0">
              <a:buNone/>
            </a:pPr>
            <a:r>
              <a:rPr lang="en-US" sz="1300" dirty="0">
                <a:solidFill>
                  <a:schemeClr val="bg1"/>
                </a:solidFill>
              </a:rPr>
              <a:t>Min-priority queue on g(n)</a:t>
            </a:r>
            <a:endParaRPr lang="en-US" sz="1300" dirty="0"/>
          </a:p>
        </p:txBody>
      </p:sp>
      <p:sp>
        <p:nvSpPr>
          <p:cNvPr id="32" name="Text 30"/>
          <p:cNvSpPr txBox="1"/>
          <p:nvPr/>
        </p:nvSpPr>
        <p:spPr>
          <a:xfrm>
            <a:off x="6364224" y="3200400"/>
            <a:ext cx="2286000" cy="228600"/>
          </a:xfrm>
          <a:prstGeom prst="rect">
            <a:avLst/>
          </a:prstGeom>
          <a:noFill/>
          <a:ln/>
        </p:spPr>
        <p:txBody>
          <a:bodyPr wrap="square" lIns="0" tIns="0" rIns="0" bIns="0" rtlCol="0" anchor="t"/>
          <a:lstStyle/>
          <a:p>
            <a:pPr indent="0" marL="0">
              <a:buNone/>
            </a:pPr>
            <a:r>
              <a:rPr lang="en-US" sz="1000" b="1" spc="150" kern="0" dirty="0">
                <a:solidFill>
                  <a:schemeClr val="bg2"/>
                </a:solidFill>
                <a:latin typeface="Courier New" pitchFamily="34" charset="0"/>
                <a:ea typeface="Courier New" pitchFamily="34" charset="-122"/>
                <a:cs typeface="Courier New" pitchFamily="34" charset="-120"/>
              </a:rPr>
              <a:t>IDEA</a:t>
            </a:r>
            <a:endParaRPr lang="en-US" sz="1000" dirty="0"/>
          </a:p>
        </p:txBody>
      </p:sp>
      <p:sp>
        <p:nvSpPr>
          <p:cNvPr id="33" name="Text 31"/>
          <p:cNvSpPr txBox="1"/>
          <p:nvPr/>
        </p:nvSpPr>
        <p:spPr>
          <a:xfrm>
            <a:off x="6364224" y="3429000"/>
            <a:ext cx="2331720" cy="777240"/>
          </a:xfrm>
          <a:prstGeom prst="rect">
            <a:avLst/>
          </a:prstGeom>
          <a:noFill/>
          <a:ln/>
        </p:spPr>
        <p:txBody>
          <a:bodyPr wrap="square" lIns="0" tIns="0" rIns="0" bIns="0" rtlCol="0" anchor="t"/>
          <a:lstStyle/>
          <a:p>
            <a:pPr indent="0" marL="0">
              <a:buNone/>
            </a:pPr>
            <a:r>
              <a:rPr lang="en-US" sz="1300" dirty="0">
                <a:solidFill>
                  <a:schemeClr val="bg1"/>
                </a:solidFill>
              </a:rPr>
              <a:t>Always expands the cheapest path so far.</a:t>
            </a:r>
            <a:endParaRPr lang="en-US" sz="1300" dirty="0"/>
          </a:p>
        </p:txBody>
      </p:sp>
      <p:sp>
        <p:nvSpPr>
          <p:cNvPr id="34" name="Text 32"/>
          <p:cNvSpPr txBox="1"/>
          <p:nvPr/>
        </p:nvSpPr>
        <p:spPr>
          <a:xfrm>
            <a:off x="6364224" y="4251960"/>
            <a:ext cx="2286000" cy="228600"/>
          </a:xfrm>
          <a:prstGeom prst="rect">
            <a:avLst/>
          </a:prstGeom>
          <a:noFill/>
          <a:ln/>
        </p:spPr>
        <p:txBody>
          <a:bodyPr wrap="square" lIns="0" tIns="0" rIns="0" bIns="0" rtlCol="0" anchor="t"/>
          <a:lstStyle/>
          <a:p>
            <a:pPr indent="0" marL="0">
              <a:buNone/>
            </a:pPr>
            <a:r>
              <a:rPr lang="en-US" sz="1000" b="1" spc="150" kern="0" dirty="0">
                <a:solidFill>
                  <a:schemeClr val="bg2"/>
                </a:solidFill>
                <a:latin typeface="Courier New" pitchFamily="34" charset="0"/>
                <a:ea typeface="Courier New" pitchFamily="34" charset="-122"/>
                <a:cs typeface="Courier New" pitchFamily="34" charset="-120"/>
              </a:rPr>
              <a:t>TIME</a:t>
            </a:r>
            <a:endParaRPr lang="en-US" sz="1000" dirty="0"/>
          </a:p>
        </p:txBody>
      </p:sp>
      <p:sp>
        <p:nvSpPr>
          <p:cNvPr id="35" name="Text 33"/>
          <p:cNvSpPr txBox="1"/>
          <p:nvPr/>
        </p:nvSpPr>
        <p:spPr>
          <a:xfrm>
            <a:off x="6364224" y="4480560"/>
            <a:ext cx="2286000" cy="32004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O(E log V)</a:t>
            </a:r>
            <a:endParaRPr lang="en-US" sz="1400" dirty="0"/>
          </a:p>
        </p:txBody>
      </p:sp>
      <p:sp>
        <p:nvSpPr>
          <p:cNvPr id="36" name="Text 34"/>
          <p:cNvSpPr txBox="1"/>
          <p:nvPr/>
        </p:nvSpPr>
        <p:spPr>
          <a:xfrm>
            <a:off x="6364224" y="4846320"/>
            <a:ext cx="2286000" cy="228600"/>
          </a:xfrm>
          <a:prstGeom prst="rect">
            <a:avLst/>
          </a:prstGeom>
          <a:noFill/>
          <a:ln/>
        </p:spPr>
        <p:txBody>
          <a:bodyPr wrap="square" lIns="0" tIns="0" rIns="0" bIns="0" rtlCol="0" anchor="t"/>
          <a:lstStyle/>
          <a:p>
            <a:pPr indent="0" marL="0">
              <a:buNone/>
            </a:pPr>
            <a:r>
              <a:rPr lang="en-US" sz="1000" b="1" spc="150" kern="0" dirty="0">
                <a:solidFill>
                  <a:schemeClr val="bg2"/>
                </a:solidFill>
                <a:latin typeface="Courier New" pitchFamily="34" charset="0"/>
                <a:ea typeface="Courier New" pitchFamily="34" charset="-122"/>
                <a:cs typeface="Courier New" pitchFamily="34" charset="-120"/>
              </a:rPr>
              <a:t>LIMITATION</a:t>
            </a:r>
            <a:endParaRPr lang="en-US" sz="1000" dirty="0"/>
          </a:p>
        </p:txBody>
      </p:sp>
      <p:sp>
        <p:nvSpPr>
          <p:cNvPr id="37" name="Text 35"/>
          <p:cNvSpPr txBox="1"/>
          <p:nvPr/>
        </p:nvSpPr>
        <p:spPr>
          <a:xfrm>
            <a:off x="6364224" y="5074920"/>
            <a:ext cx="2331720" cy="548640"/>
          </a:xfrm>
          <a:prstGeom prst="rect">
            <a:avLst/>
          </a:prstGeom>
          <a:noFill/>
          <a:ln/>
        </p:spPr>
        <p:txBody>
          <a:bodyPr wrap="square" lIns="0" tIns="0" rIns="0" bIns="0" rtlCol="0" anchor="t"/>
          <a:lstStyle/>
          <a:p>
            <a:pPr indent="0" marL="0">
              <a:buNone/>
            </a:pPr>
            <a:r>
              <a:rPr lang="en-US" sz="1200" dirty="0">
                <a:solidFill>
                  <a:schemeClr val="bg2"/>
                </a:solidFill>
              </a:rPr>
              <a:t>Optimal for positive weights; uninformed</a:t>
            </a:r>
            <a:endParaRPr lang="en-US" sz="1200" dirty="0"/>
          </a:p>
        </p:txBody>
      </p:sp>
      <p:sp>
        <p:nvSpPr>
          <p:cNvPr id="38" name="Text 36"/>
          <p:cNvSpPr txBox="1"/>
          <p:nvPr/>
        </p:nvSpPr>
        <p:spPr>
          <a:xfrm>
            <a:off x="6364224" y="5715000"/>
            <a:ext cx="2286000" cy="274320"/>
          </a:xfrm>
          <a:prstGeom prst="rect">
            <a:avLst/>
          </a:prstGeom>
          <a:noFill/>
          <a:ln/>
        </p:spPr>
        <p:txBody>
          <a:bodyPr wrap="square" lIns="0" tIns="0" rIns="0" bIns="0" rtlCol="0" anchor="t"/>
          <a:lstStyle/>
          <a:p>
            <a:pPr indent="0" marL="0">
              <a:buNone/>
            </a:pPr>
            <a:r>
              <a:rPr lang="en-US" sz="1100" dirty="0">
                <a:solidFill>
                  <a:schemeClr val="accent1"/>
                </a:solidFill>
                <a:latin typeface="Courier New" pitchFamily="34" charset="0"/>
                <a:ea typeface="Courier New" pitchFamily="34" charset="-122"/>
                <a:cs typeface="Courier New" pitchFamily="34" charset="-120"/>
              </a:rPr>
              <a:t>ai/ucs.py</a:t>
            </a:r>
            <a:endParaRPr lang="en-US" sz="1100" dirty="0"/>
          </a:p>
        </p:txBody>
      </p:sp>
      <p:sp>
        <p:nvSpPr>
          <p:cNvPr id="39" name="Shape 37"/>
          <p:cNvSpPr/>
          <p:nvPr/>
        </p:nvSpPr>
        <p:spPr>
          <a:xfrm>
            <a:off x="8997696" y="1371600"/>
            <a:ext cx="2651760" cy="4709160"/>
          </a:xfrm>
          <a:prstGeom prst="roundRect">
            <a:avLst>
              <a:gd name="adj" fmla="val 2069"/>
            </a:avLst>
          </a:prstGeom>
          <a:solidFill>
            <a:schemeClr val="tx2"/>
          </a:solidFill>
          <a:ln w="9525">
            <a:solidFill>
              <a:schemeClr val="accent1"/>
            </a:solidFill>
            <a:prstDash val="solid"/>
          </a:ln>
        </p:spPr>
      </p:sp>
      <p:sp>
        <p:nvSpPr>
          <p:cNvPr id="40" name="Text 38"/>
          <p:cNvSpPr txBox="1"/>
          <p:nvPr/>
        </p:nvSpPr>
        <p:spPr>
          <a:xfrm>
            <a:off x="9180576" y="1508760"/>
            <a:ext cx="2286000" cy="502920"/>
          </a:xfrm>
          <a:prstGeom prst="rect">
            <a:avLst/>
          </a:prstGeom>
          <a:noFill/>
          <a:ln/>
        </p:spPr>
        <p:txBody>
          <a:bodyPr wrap="square" lIns="0" tIns="0" rIns="0" bIns="0" rtlCol="0" anchor="t"/>
          <a:lstStyle/>
          <a:p>
            <a:pPr indent="0" marL="0">
              <a:buNone/>
            </a:pPr>
            <a:r>
              <a:rPr lang="en-US" sz="2800" b="1" dirty="0">
                <a:solidFill>
                  <a:schemeClr val="accent1"/>
                </a:solidFill>
              </a:rPr>
              <a:t>A*</a:t>
            </a:r>
            <a:endParaRPr lang="en-US" sz="2800" dirty="0"/>
          </a:p>
        </p:txBody>
      </p:sp>
      <p:sp>
        <p:nvSpPr>
          <p:cNvPr id="41" name="Text 39"/>
          <p:cNvSpPr txBox="1"/>
          <p:nvPr/>
        </p:nvSpPr>
        <p:spPr>
          <a:xfrm>
            <a:off x="9180576" y="2011680"/>
            <a:ext cx="2286000" cy="320040"/>
          </a:xfrm>
          <a:prstGeom prst="rect">
            <a:avLst/>
          </a:prstGeom>
          <a:noFill/>
          <a:ln/>
        </p:spPr>
        <p:txBody>
          <a:bodyPr wrap="square" lIns="0" tIns="0" rIns="0" bIns="0" rtlCol="0" anchor="t"/>
          <a:lstStyle/>
          <a:p>
            <a:pPr indent="0" marL="0">
              <a:buNone/>
            </a:pPr>
            <a:r>
              <a:rPr lang="en-US" sz="1400" dirty="0">
                <a:solidFill>
                  <a:schemeClr val="accent2"/>
                </a:solidFill>
              </a:rPr>
              <a:t>A* Search</a:t>
            </a:r>
            <a:endParaRPr lang="en-US" sz="1400" dirty="0"/>
          </a:p>
        </p:txBody>
      </p:sp>
      <p:sp>
        <p:nvSpPr>
          <p:cNvPr id="42" name="Text 40"/>
          <p:cNvSpPr txBox="1"/>
          <p:nvPr/>
        </p:nvSpPr>
        <p:spPr>
          <a:xfrm>
            <a:off x="9180576" y="2468880"/>
            <a:ext cx="2286000" cy="228600"/>
          </a:xfrm>
          <a:prstGeom prst="rect">
            <a:avLst/>
          </a:prstGeom>
          <a:noFill/>
          <a:ln/>
        </p:spPr>
        <p:txBody>
          <a:bodyPr wrap="square" lIns="0" tIns="0" rIns="0" bIns="0" rtlCol="0" anchor="t"/>
          <a:lstStyle/>
          <a:p>
            <a:pPr indent="0" marL="0">
              <a:buNone/>
            </a:pPr>
            <a:r>
              <a:rPr lang="en-US" sz="1000" b="1" spc="150" kern="0" dirty="0">
                <a:solidFill>
                  <a:schemeClr val="bg2"/>
                </a:solidFill>
                <a:latin typeface="Courier New" pitchFamily="34" charset="0"/>
                <a:ea typeface="Courier New" pitchFamily="34" charset="-122"/>
                <a:cs typeface="Courier New" pitchFamily="34" charset="-120"/>
              </a:rPr>
              <a:t>DATA STRUCTURE</a:t>
            </a:r>
            <a:endParaRPr lang="en-US" sz="1000" dirty="0"/>
          </a:p>
        </p:txBody>
      </p:sp>
      <p:sp>
        <p:nvSpPr>
          <p:cNvPr id="43" name="Text 41"/>
          <p:cNvSpPr txBox="1"/>
          <p:nvPr/>
        </p:nvSpPr>
        <p:spPr>
          <a:xfrm>
            <a:off x="9180576" y="2697480"/>
            <a:ext cx="2331720" cy="457200"/>
          </a:xfrm>
          <a:prstGeom prst="rect">
            <a:avLst/>
          </a:prstGeom>
          <a:noFill/>
          <a:ln/>
        </p:spPr>
        <p:txBody>
          <a:bodyPr wrap="square" lIns="0" tIns="0" rIns="0" bIns="0" rtlCol="0" anchor="t"/>
          <a:lstStyle/>
          <a:p>
            <a:pPr indent="0" marL="0">
              <a:buNone/>
            </a:pPr>
            <a:r>
              <a:rPr lang="en-US" sz="1300" dirty="0">
                <a:solidFill>
                  <a:schemeClr val="bg1"/>
                </a:solidFill>
              </a:rPr>
              <a:t>Priority queue on f = g + h</a:t>
            </a:r>
            <a:endParaRPr lang="en-US" sz="1300" dirty="0"/>
          </a:p>
        </p:txBody>
      </p:sp>
      <p:sp>
        <p:nvSpPr>
          <p:cNvPr id="44" name="Text 42"/>
          <p:cNvSpPr txBox="1"/>
          <p:nvPr/>
        </p:nvSpPr>
        <p:spPr>
          <a:xfrm>
            <a:off x="9180576" y="3200400"/>
            <a:ext cx="2286000" cy="228600"/>
          </a:xfrm>
          <a:prstGeom prst="rect">
            <a:avLst/>
          </a:prstGeom>
          <a:noFill/>
          <a:ln/>
        </p:spPr>
        <p:txBody>
          <a:bodyPr wrap="square" lIns="0" tIns="0" rIns="0" bIns="0" rtlCol="0" anchor="t"/>
          <a:lstStyle/>
          <a:p>
            <a:pPr indent="0" marL="0">
              <a:buNone/>
            </a:pPr>
            <a:r>
              <a:rPr lang="en-US" sz="1000" b="1" spc="150" kern="0" dirty="0">
                <a:solidFill>
                  <a:schemeClr val="bg2"/>
                </a:solidFill>
                <a:latin typeface="Courier New" pitchFamily="34" charset="0"/>
                <a:ea typeface="Courier New" pitchFamily="34" charset="-122"/>
                <a:cs typeface="Courier New" pitchFamily="34" charset="-120"/>
              </a:rPr>
              <a:t>IDEA</a:t>
            </a:r>
            <a:endParaRPr lang="en-US" sz="1000" dirty="0"/>
          </a:p>
        </p:txBody>
      </p:sp>
      <p:sp>
        <p:nvSpPr>
          <p:cNvPr id="45" name="Text 43"/>
          <p:cNvSpPr txBox="1"/>
          <p:nvPr/>
        </p:nvSpPr>
        <p:spPr>
          <a:xfrm>
            <a:off x="9180576" y="3429000"/>
            <a:ext cx="2331720" cy="777240"/>
          </a:xfrm>
          <a:prstGeom prst="rect">
            <a:avLst/>
          </a:prstGeom>
          <a:noFill/>
          <a:ln/>
        </p:spPr>
        <p:txBody>
          <a:bodyPr wrap="square" lIns="0" tIns="0" rIns="0" bIns="0" rtlCol="0" anchor="t"/>
          <a:lstStyle/>
          <a:p>
            <a:pPr indent="0" marL="0">
              <a:buNone/>
            </a:pPr>
            <a:r>
              <a:rPr lang="en-US" sz="1300" dirty="0">
                <a:solidFill>
                  <a:schemeClr val="bg1"/>
                </a:solidFill>
              </a:rPr>
              <a:t>UCS guided by a heuristic estimate h(n).</a:t>
            </a:r>
            <a:endParaRPr lang="en-US" sz="1300" dirty="0"/>
          </a:p>
        </p:txBody>
      </p:sp>
      <p:sp>
        <p:nvSpPr>
          <p:cNvPr id="46" name="Text 44"/>
          <p:cNvSpPr txBox="1"/>
          <p:nvPr/>
        </p:nvSpPr>
        <p:spPr>
          <a:xfrm>
            <a:off x="9180576" y="4251960"/>
            <a:ext cx="2286000" cy="228600"/>
          </a:xfrm>
          <a:prstGeom prst="rect">
            <a:avLst/>
          </a:prstGeom>
          <a:noFill/>
          <a:ln/>
        </p:spPr>
        <p:txBody>
          <a:bodyPr wrap="square" lIns="0" tIns="0" rIns="0" bIns="0" rtlCol="0" anchor="t"/>
          <a:lstStyle/>
          <a:p>
            <a:pPr indent="0" marL="0">
              <a:buNone/>
            </a:pPr>
            <a:r>
              <a:rPr lang="en-US" sz="1000" b="1" spc="150" kern="0" dirty="0">
                <a:solidFill>
                  <a:schemeClr val="bg2"/>
                </a:solidFill>
                <a:latin typeface="Courier New" pitchFamily="34" charset="0"/>
                <a:ea typeface="Courier New" pitchFamily="34" charset="-122"/>
                <a:cs typeface="Courier New" pitchFamily="34" charset="-120"/>
              </a:rPr>
              <a:t>TIME</a:t>
            </a:r>
            <a:endParaRPr lang="en-US" sz="1000" dirty="0"/>
          </a:p>
        </p:txBody>
      </p:sp>
      <p:sp>
        <p:nvSpPr>
          <p:cNvPr id="47" name="Text 45"/>
          <p:cNvSpPr txBox="1"/>
          <p:nvPr/>
        </p:nvSpPr>
        <p:spPr>
          <a:xfrm>
            <a:off x="9180576" y="4480560"/>
            <a:ext cx="2286000" cy="32004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O(E log V)</a:t>
            </a:r>
            <a:endParaRPr lang="en-US" sz="1400" dirty="0"/>
          </a:p>
        </p:txBody>
      </p:sp>
      <p:sp>
        <p:nvSpPr>
          <p:cNvPr id="48" name="Text 46"/>
          <p:cNvSpPr txBox="1"/>
          <p:nvPr/>
        </p:nvSpPr>
        <p:spPr>
          <a:xfrm>
            <a:off x="9180576" y="4846320"/>
            <a:ext cx="2286000" cy="228600"/>
          </a:xfrm>
          <a:prstGeom prst="rect">
            <a:avLst/>
          </a:prstGeom>
          <a:noFill/>
          <a:ln/>
        </p:spPr>
        <p:txBody>
          <a:bodyPr wrap="square" lIns="0" tIns="0" rIns="0" bIns="0" rtlCol="0" anchor="t"/>
          <a:lstStyle/>
          <a:p>
            <a:pPr indent="0" marL="0">
              <a:buNone/>
            </a:pPr>
            <a:r>
              <a:rPr lang="en-US" sz="1000" b="1" spc="150" kern="0" dirty="0">
                <a:solidFill>
                  <a:schemeClr val="bg2"/>
                </a:solidFill>
                <a:latin typeface="Courier New" pitchFamily="34" charset="0"/>
                <a:ea typeface="Courier New" pitchFamily="34" charset="-122"/>
                <a:cs typeface="Courier New" pitchFamily="34" charset="-120"/>
              </a:rPr>
              <a:t>LIMITATION</a:t>
            </a:r>
            <a:endParaRPr lang="en-US" sz="1000" dirty="0"/>
          </a:p>
        </p:txBody>
      </p:sp>
      <p:sp>
        <p:nvSpPr>
          <p:cNvPr id="49" name="Text 47"/>
          <p:cNvSpPr txBox="1"/>
          <p:nvPr/>
        </p:nvSpPr>
        <p:spPr>
          <a:xfrm>
            <a:off x="9180576" y="5074920"/>
            <a:ext cx="2331720" cy="548640"/>
          </a:xfrm>
          <a:prstGeom prst="rect">
            <a:avLst/>
          </a:prstGeom>
          <a:noFill/>
          <a:ln/>
        </p:spPr>
        <p:txBody>
          <a:bodyPr wrap="square" lIns="0" tIns="0" rIns="0" bIns="0" rtlCol="0" anchor="t"/>
          <a:lstStyle/>
          <a:p>
            <a:pPr indent="0" marL="0">
              <a:buNone/>
            </a:pPr>
            <a:r>
              <a:rPr lang="en-US" sz="1200" dirty="0">
                <a:solidFill>
                  <a:schemeClr val="bg2"/>
                </a:solidFill>
              </a:rPr>
              <a:t>Optimal if h is admissible; h here is weak</a:t>
            </a:r>
            <a:endParaRPr lang="en-US" sz="1200" dirty="0"/>
          </a:p>
        </p:txBody>
      </p:sp>
      <p:sp>
        <p:nvSpPr>
          <p:cNvPr id="50" name="Text 48"/>
          <p:cNvSpPr txBox="1"/>
          <p:nvPr/>
        </p:nvSpPr>
        <p:spPr>
          <a:xfrm>
            <a:off x="9180576" y="5715000"/>
            <a:ext cx="2286000" cy="274320"/>
          </a:xfrm>
          <a:prstGeom prst="rect">
            <a:avLst/>
          </a:prstGeom>
          <a:noFill/>
          <a:ln/>
        </p:spPr>
        <p:txBody>
          <a:bodyPr wrap="square" lIns="0" tIns="0" rIns="0" bIns="0" rtlCol="0" anchor="t"/>
          <a:lstStyle/>
          <a:p>
            <a:pPr indent="0" marL="0">
              <a:buNone/>
            </a:pPr>
            <a:r>
              <a:rPr lang="en-US" sz="1100" dirty="0">
                <a:solidFill>
                  <a:schemeClr val="accent1"/>
                </a:solidFill>
                <a:latin typeface="Courier New" pitchFamily="34" charset="0"/>
                <a:ea typeface="Courier New" pitchFamily="34" charset="-122"/>
                <a:cs typeface="Courier New" pitchFamily="34" charset="-120"/>
              </a:rPr>
              <a:t>ai/astar.py</a:t>
            </a:r>
            <a:endParaRPr lang="en-US" sz="11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bg1"/>
                </a:solidFill>
                <a:latin typeface="Calibri" pitchFamily="34" charset="0"/>
                <a:ea typeface="Calibri" pitchFamily="34" charset="-122"/>
                <a:cs typeface="Calibri" pitchFamily="34" charset="-120"/>
              </a:rPr>
              <a:t>Worked example: UCS from Internet to Database</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731520"/>
                <a:gridCol w="2011680"/>
                <a:gridCol w="3931920"/>
                <a:gridCol w="4389120"/>
              </a:tblGrid>
              <a:tr h="457200">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Step</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Pop (cost)</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Push / update</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Frontier after step (cost, node)</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457200">
                <a:tc>
                  <a:txBody>
                    <a:bodyPr/>
                    <a:lstStyle/>
                    <a:p>
                      <a:pPr algn="l" indent="0" marL="0">
                        <a:buNone/>
                      </a:pPr>
                      <a:r>
                        <a:rPr lang="en-US" sz="1200" dirty="0">
                          <a:solidFill>
                            <a:schemeClr val="bg1"/>
                          </a:solidFill>
                        </a:rPr>
                        <a:t>1</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Internet (0)</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Web Server = 1</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(1 Web Server)</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457200">
                <a:tc>
                  <a:txBody>
                    <a:bodyPr/>
                    <a:lstStyle/>
                    <a:p>
                      <a:pPr algn="l" indent="0" marL="0">
                        <a:buNone/>
                      </a:pPr>
                      <a:r>
                        <a:rPr lang="en-US" sz="1200" dirty="0">
                          <a:solidFill>
                            <a:schemeClr val="bg1"/>
                          </a:solidFill>
                        </a:rPr>
                        <a:t>2</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Web Server (1)</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App Server = 3, Employee PC = 3</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(3 App Server), (3 Employee PC)</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457200">
                <a:tc>
                  <a:txBody>
                    <a:bodyPr/>
                    <a:lstStyle/>
                    <a:p>
                      <a:pPr algn="l" indent="0" marL="0">
                        <a:buNone/>
                      </a:pPr>
                      <a:r>
                        <a:rPr lang="en-US" sz="1200" dirty="0">
                          <a:solidFill>
                            <a:schemeClr val="bg1"/>
                          </a:solidFill>
                        </a:rPr>
                        <a:t>3</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App Server (3)</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Database = 8, File Server = 6</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(3 Employee PC), (6 File Server), (8 Database)</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457200">
                <a:tc>
                  <a:txBody>
                    <a:bodyPr/>
                    <a:lstStyle/>
                    <a:p>
                      <a:pPr algn="l" indent="0" marL="0">
                        <a:buNone/>
                      </a:pPr>
                      <a:r>
                        <a:rPr lang="en-US" sz="1200" dirty="0">
                          <a:solidFill>
                            <a:schemeClr val="bg1"/>
                          </a:solidFill>
                        </a:rPr>
                        <a:t>4</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Employee PC (3)</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Admin PC = 5  (File via EmpPC = 6, not better)</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(5 Admin PC), (6 File Server), (8 Database)</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457200">
                <a:tc>
                  <a:txBody>
                    <a:bodyPr/>
                    <a:lstStyle/>
                    <a:p>
                      <a:pPr algn="l" indent="0" marL="0">
                        <a:buNone/>
                      </a:pPr>
                      <a:r>
                        <a:rPr lang="en-US" sz="1200" dirty="0">
                          <a:solidFill>
                            <a:schemeClr val="bg1"/>
                          </a:solidFill>
                        </a:rPr>
                        <a:t>5</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Admin PC (5)</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Database via Admin = 9 &gt; 8, skipped</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(6 File Server), (8 Database)</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457200">
                <a:tc>
                  <a:txBody>
                    <a:bodyPr/>
                    <a:lstStyle/>
                    <a:p>
                      <a:pPr algn="l" indent="0" marL="0">
                        <a:buNone/>
                      </a:pPr>
                      <a:r>
                        <a:rPr lang="en-US" sz="1200" dirty="0">
                          <a:solidFill>
                            <a:schemeClr val="bg1"/>
                          </a:solidFill>
                        </a:rPr>
                        <a:t>6</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File Server (6)</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Database via File = 10 &gt; 8, skipped</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(8 Database)</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457200">
                <a:tc>
                  <a:txBody>
                    <a:bodyPr/>
                    <a:lstStyle/>
                    <a:p>
                      <a:pPr algn="l" indent="0" marL="0">
                        <a:buNone/>
                      </a:pPr>
                      <a:r>
                        <a:rPr lang="en-US" sz="1200" b="1" dirty="0">
                          <a:solidFill>
                            <a:schemeClr val="accent1"/>
                          </a:solidFill>
                        </a:rPr>
                        <a:t>7</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accent1"/>
                          </a:solidFill>
                        </a:rPr>
                        <a:t>Database (8)</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accent1"/>
                          </a:solidFill>
                        </a:rPr>
                        <a:t>Goal popped → return path</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accent1"/>
                          </a:solidFill>
                        </a:rPr>
                        <a:t>Path: Internet → Web → App → Database</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bl>
          </a:graphicData>
        </a:graphic>
      </p:graphicFrame>
      <p:sp>
        <p:nvSpPr>
          <p:cNvPr id="4" name="Shape 1"/>
          <p:cNvSpPr/>
          <p:nvPr/>
        </p:nvSpPr>
        <p:spPr>
          <a:xfrm>
            <a:off x="548640" y="5166360"/>
            <a:ext cx="11064240" cy="914400"/>
          </a:xfrm>
          <a:prstGeom prst="roundRect">
            <a:avLst>
              <a:gd name="adj" fmla="val 6000"/>
            </a:avLst>
          </a:prstGeom>
          <a:solidFill>
            <a:schemeClr val="tx2"/>
          </a:solidFill>
          <a:ln w="9525">
            <a:solidFill>
              <a:schemeClr val="accent1"/>
            </a:solidFill>
            <a:prstDash val="solid"/>
          </a:ln>
        </p:spPr>
      </p:sp>
      <p:sp>
        <p:nvSpPr>
          <p:cNvPr id="5" name="Text 2"/>
          <p:cNvSpPr txBox="1"/>
          <p:nvPr/>
        </p:nvSpPr>
        <p:spPr>
          <a:xfrm>
            <a:off x="777240" y="5303520"/>
            <a:ext cx="10607040" cy="685800"/>
          </a:xfrm>
          <a:prstGeom prst="rect">
            <a:avLst/>
          </a:prstGeom>
          <a:noFill/>
          <a:ln/>
        </p:spPr>
        <p:txBody>
          <a:bodyPr wrap="square" lIns="0" tIns="0" rIns="0" bIns="0" rtlCol="0" anchor="t"/>
          <a:lstStyle/>
          <a:p>
            <a:pPr indent="0" marL="0">
              <a:buNone/>
            </a:pPr>
            <a:r>
              <a:rPr lang="en-US" sz="1400" dirty="0">
                <a:solidFill>
                  <a:schemeClr val="accent2"/>
                </a:solidFill>
              </a:rPr>
              <a:t>Result: cost 8 = 1 + 2 + 5, nodes explored = 7. The goal is only accepted when popped, which is why UCS is optimal — any cheaper route would have been popped first.</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bg1"/>
                </a:solidFill>
                <a:latin typeface="Calibri" pitchFamily="34" charset="0"/>
                <a:ea typeface="Calibri" pitchFamily="34" charset="-122"/>
                <a:cs typeface="Calibri" pitchFamily="34" charset="-120"/>
              </a:rPr>
              <a:t>Attack-path analysis: chosen route and alternatives</a:t>
            </a:r>
            <a:endParaRPr lang="en-US" sz="3000" dirty="0"/>
          </a:p>
        </p:txBody>
      </p:sp>
      <p:sp>
        <p:nvSpPr>
          <p:cNvPr id="3" name="Shape 1"/>
          <p:cNvSpPr/>
          <p:nvPr/>
        </p:nvSpPr>
        <p:spPr>
          <a:xfrm>
            <a:off x="1097280" y="2788920"/>
            <a:ext cx="1234440" cy="914"/>
          </a:xfrm>
          <a:prstGeom prst="line">
            <a:avLst/>
          </a:prstGeom>
          <a:noFill/>
          <a:ln w="31750">
            <a:solidFill>
              <a:schemeClr val="accent1"/>
            </a:solidFill>
            <a:prstDash val="solid"/>
          </a:ln>
        </p:spPr>
      </p:sp>
      <p:sp>
        <p:nvSpPr>
          <p:cNvPr id="4" name="Shape 2"/>
          <p:cNvSpPr/>
          <p:nvPr/>
        </p:nvSpPr>
        <p:spPr>
          <a:xfrm>
            <a:off x="1568196" y="2670048"/>
            <a:ext cx="292608" cy="237744"/>
          </a:xfrm>
          <a:prstGeom prst="roundRect">
            <a:avLst>
              <a:gd name="adj" fmla="val 15385"/>
            </a:avLst>
          </a:prstGeom>
          <a:solidFill>
            <a:schemeClr val="tx1"/>
          </a:solidFill>
          <a:ln w="9525">
            <a:solidFill>
              <a:schemeClr val="accent1"/>
            </a:solidFill>
            <a:prstDash val="solid"/>
          </a:ln>
        </p:spPr>
      </p:sp>
      <p:sp>
        <p:nvSpPr>
          <p:cNvPr id="5" name="Text 3"/>
          <p:cNvSpPr txBox="1"/>
          <p:nvPr/>
        </p:nvSpPr>
        <p:spPr>
          <a:xfrm>
            <a:off x="1568196" y="2670048"/>
            <a:ext cx="292608" cy="237744"/>
          </a:xfrm>
          <a:prstGeom prst="rect">
            <a:avLst/>
          </a:prstGeom>
          <a:noFill/>
          <a:ln/>
        </p:spPr>
        <p:txBody>
          <a:bodyPr wrap="square" lIns="0" tIns="0" rIns="0" bIns="0" rtlCol="0" anchor="ctr"/>
          <a:lstStyle/>
          <a:p>
            <a:pPr algn="ctr" indent="0" marL="0">
              <a:buNone/>
            </a:pPr>
            <a:r>
              <a:rPr lang="en-US" sz="1100" b="1" dirty="0">
                <a:solidFill>
                  <a:schemeClr val="accent2"/>
                </a:solidFill>
                <a:latin typeface="Courier New" pitchFamily="34" charset="0"/>
                <a:ea typeface="Courier New" pitchFamily="34" charset="-122"/>
                <a:cs typeface="Courier New" pitchFamily="34" charset="-120"/>
              </a:rPr>
              <a:t>1</a:t>
            </a:r>
            <a:endParaRPr lang="en-US" sz="1100" dirty="0"/>
          </a:p>
        </p:txBody>
      </p:sp>
      <p:sp>
        <p:nvSpPr>
          <p:cNvPr id="6" name="Shape 4"/>
          <p:cNvSpPr/>
          <p:nvPr/>
        </p:nvSpPr>
        <p:spPr>
          <a:xfrm flipV="1">
            <a:off x="2331720" y="1600200"/>
            <a:ext cx="1234440" cy="1188720"/>
          </a:xfrm>
          <a:prstGeom prst="line">
            <a:avLst/>
          </a:prstGeom>
          <a:noFill/>
          <a:ln w="31750">
            <a:solidFill>
              <a:schemeClr val="accent1"/>
            </a:solidFill>
            <a:prstDash val="solid"/>
          </a:ln>
        </p:spPr>
      </p:sp>
      <p:sp>
        <p:nvSpPr>
          <p:cNvPr id="7" name="Shape 5"/>
          <p:cNvSpPr/>
          <p:nvPr/>
        </p:nvSpPr>
        <p:spPr>
          <a:xfrm>
            <a:off x="2802636" y="2075688"/>
            <a:ext cx="292608" cy="237744"/>
          </a:xfrm>
          <a:prstGeom prst="roundRect">
            <a:avLst>
              <a:gd name="adj" fmla="val 15385"/>
            </a:avLst>
          </a:prstGeom>
          <a:solidFill>
            <a:schemeClr val="tx1"/>
          </a:solidFill>
          <a:ln w="9525">
            <a:solidFill>
              <a:schemeClr val="accent1"/>
            </a:solidFill>
            <a:prstDash val="solid"/>
          </a:ln>
        </p:spPr>
      </p:sp>
      <p:sp>
        <p:nvSpPr>
          <p:cNvPr id="8" name="Text 6"/>
          <p:cNvSpPr txBox="1"/>
          <p:nvPr/>
        </p:nvSpPr>
        <p:spPr>
          <a:xfrm>
            <a:off x="2802636" y="2075688"/>
            <a:ext cx="292608" cy="237744"/>
          </a:xfrm>
          <a:prstGeom prst="rect">
            <a:avLst/>
          </a:prstGeom>
          <a:noFill/>
          <a:ln/>
        </p:spPr>
        <p:txBody>
          <a:bodyPr wrap="square" lIns="0" tIns="0" rIns="0" bIns="0" rtlCol="0" anchor="ctr"/>
          <a:lstStyle/>
          <a:p>
            <a:pPr algn="ctr" indent="0" marL="0">
              <a:buNone/>
            </a:pPr>
            <a:r>
              <a:rPr lang="en-US" sz="1100" b="1" dirty="0">
                <a:solidFill>
                  <a:schemeClr val="accent2"/>
                </a:solidFill>
                <a:latin typeface="Courier New" pitchFamily="34" charset="0"/>
                <a:ea typeface="Courier New" pitchFamily="34" charset="-122"/>
                <a:cs typeface="Courier New" pitchFamily="34" charset="-120"/>
              </a:rPr>
              <a:t>2</a:t>
            </a:r>
            <a:endParaRPr lang="en-US" sz="1100" dirty="0"/>
          </a:p>
        </p:txBody>
      </p:sp>
      <p:sp>
        <p:nvSpPr>
          <p:cNvPr id="9" name="Shape 7"/>
          <p:cNvSpPr/>
          <p:nvPr/>
        </p:nvSpPr>
        <p:spPr>
          <a:xfrm>
            <a:off x="2331720" y="2788920"/>
            <a:ext cx="1234440" cy="1188720"/>
          </a:xfrm>
          <a:prstGeom prst="line">
            <a:avLst/>
          </a:prstGeom>
          <a:noFill/>
          <a:ln w="15875">
            <a:solidFill>
              <a:schemeClr val="accent6"/>
            </a:solidFill>
            <a:prstDash val="solid"/>
          </a:ln>
        </p:spPr>
      </p:sp>
      <p:sp>
        <p:nvSpPr>
          <p:cNvPr id="10" name="Shape 8"/>
          <p:cNvSpPr/>
          <p:nvPr/>
        </p:nvSpPr>
        <p:spPr>
          <a:xfrm>
            <a:off x="2802636" y="3264408"/>
            <a:ext cx="292608" cy="237744"/>
          </a:xfrm>
          <a:prstGeom prst="roundRect">
            <a:avLst>
              <a:gd name="adj" fmla="val 15385"/>
            </a:avLst>
          </a:prstGeom>
          <a:solidFill>
            <a:schemeClr val="tx1"/>
          </a:solidFill>
          <a:ln w="9525">
            <a:solidFill>
              <a:schemeClr val="accent6"/>
            </a:solidFill>
            <a:prstDash val="solid"/>
          </a:ln>
        </p:spPr>
      </p:sp>
      <p:sp>
        <p:nvSpPr>
          <p:cNvPr id="11" name="Text 9"/>
          <p:cNvSpPr txBox="1"/>
          <p:nvPr/>
        </p:nvSpPr>
        <p:spPr>
          <a:xfrm>
            <a:off x="2802636" y="3264408"/>
            <a:ext cx="292608" cy="237744"/>
          </a:xfrm>
          <a:prstGeom prst="rect">
            <a:avLst/>
          </a:prstGeom>
          <a:noFill/>
          <a:ln/>
        </p:spPr>
        <p:txBody>
          <a:bodyPr wrap="square" lIns="0" tIns="0" rIns="0" bIns="0" rtlCol="0" anchor="ctr"/>
          <a:lstStyle/>
          <a:p>
            <a:pPr algn="ctr" indent="0" marL="0">
              <a:buNone/>
            </a:pPr>
            <a:r>
              <a:rPr lang="en-US" sz="1100" dirty="0">
                <a:solidFill>
                  <a:schemeClr val="bg2"/>
                </a:solidFill>
                <a:latin typeface="Courier New" pitchFamily="34" charset="0"/>
                <a:ea typeface="Courier New" pitchFamily="34" charset="-122"/>
                <a:cs typeface="Courier New" pitchFamily="34" charset="-120"/>
              </a:rPr>
              <a:t>2</a:t>
            </a:r>
            <a:endParaRPr lang="en-US" sz="1100" dirty="0"/>
          </a:p>
        </p:txBody>
      </p:sp>
      <p:sp>
        <p:nvSpPr>
          <p:cNvPr id="12" name="Shape 10"/>
          <p:cNvSpPr/>
          <p:nvPr/>
        </p:nvSpPr>
        <p:spPr>
          <a:xfrm>
            <a:off x="3566160" y="1600200"/>
            <a:ext cx="2468880" cy="1188720"/>
          </a:xfrm>
          <a:prstGeom prst="line">
            <a:avLst/>
          </a:prstGeom>
          <a:noFill/>
          <a:ln w="31750">
            <a:solidFill>
              <a:schemeClr val="accent1"/>
            </a:solidFill>
            <a:prstDash val="solid"/>
          </a:ln>
        </p:spPr>
      </p:sp>
      <p:sp>
        <p:nvSpPr>
          <p:cNvPr id="13" name="Shape 11"/>
          <p:cNvSpPr/>
          <p:nvPr/>
        </p:nvSpPr>
        <p:spPr>
          <a:xfrm>
            <a:off x="4654296" y="2075688"/>
            <a:ext cx="292608" cy="237744"/>
          </a:xfrm>
          <a:prstGeom prst="roundRect">
            <a:avLst>
              <a:gd name="adj" fmla="val 15385"/>
            </a:avLst>
          </a:prstGeom>
          <a:solidFill>
            <a:schemeClr val="tx1"/>
          </a:solidFill>
          <a:ln w="9525">
            <a:solidFill>
              <a:schemeClr val="accent1"/>
            </a:solidFill>
            <a:prstDash val="solid"/>
          </a:ln>
        </p:spPr>
      </p:sp>
      <p:sp>
        <p:nvSpPr>
          <p:cNvPr id="14" name="Text 12"/>
          <p:cNvSpPr txBox="1"/>
          <p:nvPr/>
        </p:nvSpPr>
        <p:spPr>
          <a:xfrm>
            <a:off x="4654296" y="2075688"/>
            <a:ext cx="292608" cy="237744"/>
          </a:xfrm>
          <a:prstGeom prst="rect">
            <a:avLst/>
          </a:prstGeom>
          <a:noFill/>
          <a:ln/>
        </p:spPr>
        <p:txBody>
          <a:bodyPr wrap="square" lIns="0" tIns="0" rIns="0" bIns="0" rtlCol="0" anchor="ctr"/>
          <a:lstStyle/>
          <a:p>
            <a:pPr algn="ctr" indent="0" marL="0">
              <a:buNone/>
            </a:pPr>
            <a:r>
              <a:rPr lang="en-US" sz="1100" b="1" dirty="0">
                <a:solidFill>
                  <a:schemeClr val="accent2"/>
                </a:solidFill>
                <a:latin typeface="Courier New" pitchFamily="34" charset="0"/>
                <a:ea typeface="Courier New" pitchFamily="34" charset="-122"/>
                <a:cs typeface="Courier New" pitchFamily="34" charset="-120"/>
              </a:rPr>
              <a:t>5</a:t>
            </a:r>
            <a:endParaRPr lang="en-US" sz="1100" dirty="0"/>
          </a:p>
        </p:txBody>
      </p:sp>
      <p:sp>
        <p:nvSpPr>
          <p:cNvPr id="15" name="Shape 13"/>
          <p:cNvSpPr/>
          <p:nvPr/>
        </p:nvSpPr>
        <p:spPr>
          <a:xfrm>
            <a:off x="3566160" y="1600200"/>
            <a:ext cx="1234440" cy="914"/>
          </a:xfrm>
          <a:prstGeom prst="line">
            <a:avLst/>
          </a:prstGeom>
          <a:noFill/>
          <a:ln w="15875">
            <a:solidFill>
              <a:schemeClr val="accent6"/>
            </a:solidFill>
            <a:prstDash val="solid"/>
          </a:ln>
        </p:spPr>
      </p:sp>
      <p:sp>
        <p:nvSpPr>
          <p:cNvPr id="16" name="Shape 14"/>
          <p:cNvSpPr/>
          <p:nvPr/>
        </p:nvSpPr>
        <p:spPr>
          <a:xfrm>
            <a:off x="4037076" y="1481328"/>
            <a:ext cx="292608" cy="237744"/>
          </a:xfrm>
          <a:prstGeom prst="roundRect">
            <a:avLst>
              <a:gd name="adj" fmla="val 15385"/>
            </a:avLst>
          </a:prstGeom>
          <a:solidFill>
            <a:schemeClr val="tx1"/>
          </a:solidFill>
          <a:ln w="9525">
            <a:solidFill>
              <a:schemeClr val="accent6"/>
            </a:solidFill>
            <a:prstDash val="solid"/>
          </a:ln>
        </p:spPr>
      </p:sp>
      <p:sp>
        <p:nvSpPr>
          <p:cNvPr id="17" name="Text 15"/>
          <p:cNvSpPr txBox="1"/>
          <p:nvPr/>
        </p:nvSpPr>
        <p:spPr>
          <a:xfrm>
            <a:off x="4037076" y="1481328"/>
            <a:ext cx="292608" cy="237744"/>
          </a:xfrm>
          <a:prstGeom prst="rect">
            <a:avLst/>
          </a:prstGeom>
          <a:noFill/>
          <a:ln/>
        </p:spPr>
        <p:txBody>
          <a:bodyPr wrap="square" lIns="0" tIns="0" rIns="0" bIns="0" rtlCol="0" anchor="ctr"/>
          <a:lstStyle/>
          <a:p>
            <a:pPr algn="ctr" indent="0" marL="0">
              <a:buNone/>
            </a:pPr>
            <a:r>
              <a:rPr lang="en-US" sz="1100" dirty="0">
                <a:solidFill>
                  <a:schemeClr val="bg2"/>
                </a:solidFill>
                <a:latin typeface="Courier New" pitchFamily="34" charset="0"/>
                <a:ea typeface="Courier New" pitchFamily="34" charset="-122"/>
                <a:cs typeface="Courier New" pitchFamily="34" charset="-120"/>
              </a:rPr>
              <a:t>3</a:t>
            </a:r>
            <a:endParaRPr lang="en-US" sz="1100" dirty="0"/>
          </a:p>
        </p:txBody>
      </p:sp>
      <p:sp>
        <p:nvSpPr>
          <p:cNvPr id="18" name="Shape 16"/>
          <p:cNvSpPr/>
          <p:nvPr/>
        </p:nvSpPr>
        <p:spPr>
          <a:xfrm>
            <a:off x="3566160" y="3977640"/>
            <a:ext cx="1234440" cy="914"/>
          </a:xfrm>
          <a:prstGeom prst="line">
            <a:avLst/>
          </a:prstGeom>
          <a:noFill/>
          <a:ln w="15875">
            <a:solidFill>
              <a:schemeClr val="accent6"/>
            </a:solidFill>
            <a:prstDash val="solid"/>
          </a:ln>
        </p:spPr>
      </p:sp>
      <p:sp>
        <p:nvSpPr>
          <p:cNvPr id="19" name="Shape 17"/>
          <p:cNvSpPr/>
          <p:nvPr/>
        </p:nvSpPr>
        <p:spPr>
          <a:xfrm>
            <a:off x="4037076" y="3858768"/>
            <a:ext cx="292608" cy="237744"/>
          </a:xfrm>
          <a:prstGeom prst="roundRect">
            <a:avLst>
              <a:gd name="adj" fmla="val 15385"/>
            </a:avLst>
          </a:prstGeom>
          <a:solidFill>
            <a:schemeClr val="tx1"/>
          </a:solidFill>
          <a:ln w="9525">
            <a:solidFill>
              <a:schemeClr val="accent6"/>
            </a:solidFill>
            <a:prstDash val="solid"/>
          </a:ln>
        </p:spPr>
      </p:sp>
      <p:sp>
        <p:nvSpPr>
          <p:cNvPr id="20" name="Text 18"/>
          <p:cNvSpPr txBox="1"/>
          <p:nvPr/>
        </p:nvSpPr>
        <p:spPr>
          <a:xfrm>
            <a:off x="4037076" y="3858768"/>
            <a:ext cx="292608" cy="237744"/>
          </a:xfrm>
          <a:prstGeom prst="rect">
            <a:avLst/>
          </a:prstGeom>
          <a:noFill/>
          <a:ln/>
        </p:spPr>
        <p:txBody>
          <a:bodyPr wrap="square" lIns="0" tIns="0" rIns="0" bIns="0" rtlCol="0" anchor="ctr"/>
          <a:lstStyle/>
          <a:p>
            <a:pPr algn="ctr" indent="0" marL="0">
              <a:buNone/>
            </a:pPr>
            <a:r>
              <a:rPr lang="en-US" sz="1100" dirty="0">
                <a:solidFill>
                  <a:schemeClr val="bg2"/>
                </a:solidFill>
                <a:latin typeface="Courier New" pitchFamily="34" charset="0"/>
                <a:ea typeface="Courier New" pitchFamily="34" charset="-122"/>
                <a:cs typeface="Courier New" pitchFamily="34" charset="-120"/>
              </a:rPr>
              <a:t>2</a:t>
            </a:r>
            <a:endParaRPr lang="en-US" sz="1100" dirty="0"/>
          </a:p>
        </p:txBody>
      </p:sp>
      <p:sp>
        <p:nvSpPr>
          <p:cNvPr id="21" name="Shape 19"/>
          <p:cNvSpPr/>
          <p:nvPr/>
        </p:nvSpPr>
        <p:spPr>
          <a:xfrm flipV="1">
            <a:off x="4800600" y="2788920"/>
            <a:ext cx="1234440" cy="1188720"/>
          </a:xfrm>
          <a:prstGeom prst="line">
            <a:avLst/>
          </a:prstGeom>
          <a:noFill/>
          <a:ln w="15875">
            <a:solidFill>
              <a:schemeClr val="accent6"/>
            </a:solidFill>
            <a:prstDash val="solid"/>
          </a:ln>
        </p:spPr>
      </p:sp>
      <p:sp>
        <p:nvSpPr>
          <p:cNvPr id="22" name="Shape 20"/>
          <p:cNvSpPr/>
          <p:nvPr/>
        </p:nvSpPr>
        <p:spPr>
          <a:xfrm>
            <a:off x="5271516" y="3264408"/>
            <a:ext cx="292608" cy="237744"/>
          </a:xfrm>
          <a:prstGeom prst="roundRect">
            <a:avLst>
              <a:gd name="adj" fmla="val 15385"/>
            </a:avLst>
          </a:prstGeom>
          <a:solidFill>
            <a:schemeClr val="tx1"/>
          </a:solidFill>
          <a:ln w="9525">
            <a:solidFill>
              <a:schemeClr val="accent6"/>
            </a:solidFill>
            <a:prstDash val="solid"/>
          </a:ln>
        </p:spPr>
      </p:sp>
      <p:sp>
        <p:nvSpPr>
          <p:cNvPr id="23" name="Text 21"/>
          <p:cNvSpPr txBox="1"/>
          <p:nvPr/>
        </p:nvSpPr>
        <p:spPr>
          <a:xfrm>
            <a:off x="5271516" y="3264408"/>
            <a:ext cx="292608" cy="237744"/>
          </a:xfrm>
          <a:prstGeom prst="rect">
            <a:avLst/>
          </a:prstGeom>
          <a:noFill/>
          <a:ln/>
        </p:spPr>
        <p:txBody>
          <a:bodyPr wrap="square" lIns="0" tIns="0" rIns="0" bIns="0" rtlCol="0" anchor="ctr"/>
          <a:lstStyle/>
          <a:p>
            <a:pPr algn="ctr" indent="0" marL="0">
              <a:buNone/>
            </a:pPr>
            <a:r>
              <a:rPr lang="en-US" sz="1100" dirty="0">
                <a:solidFill>
                  <a:schemeClr val="bg2"/>
                </a:solidFill>
                <a:latin typeface="Courier New" pitchFamily="34" charset="0"/>
                <a:ea typeface="Courier New" pitchFamily="34" charset="-122"/>
                <a:cs typeface="Courier New" pitchFamily="34" charset="-120"/>
              </a:rPr>
              <a:t>4</a:t>
            </a:r>
            <a:endParaRPr lang="en-US" sz="1100" dirty="0"/>
          </a:p>
        </p:txBody>
      </p:sp>
      <p:sp>
        <p:nvSpPr>
          <p:cNvPr id="24" name="Shape 22"/>
          <p:cNvSpPr/>
          <p:nvPr/>
        </p:nvSpPr>
        <p:spPr>
          <a:xfrm>
            <a:off x="4800600" y="1600200"/>
            <a:ext cx="1234440" cy="1188720"/>
          </a:xfrm>
          <a:prstGeom prst="line">
            <a:avLst/>
          </a:prstGeom>
          <a:noFill/>
          <a:ln w="15875">
            <a:solidFill>
              <a:schemeClr val="accent6"/>
            </a:solidFill>
            <a:prstDash val="solid"/>
          </a:ln>
        </p:spPr>
      </p:sp>
      <p:sp>
        <p:nvSpPr>
          <p:cNvPr id="25" name="Shape 23"/>
          <p:cNvSpPr/>
          <p:nvPr/>
        </p:nvSpPr>
        <p:spPr>
          <a:xfrm>
            <a:off x="5271516" y="2075688"/>
            <a:ext cx="292608" cy="237744"/>
          </a:xfrm>
          <a:prstGeom prst="roundRect">
            <a:avLst>
              <a:gd name="adj" fmla="val 15385"/>
            </a:avLst>
          </a:prstGeom>
          <a:solidFill>
            <a:schemeClr val="tx1"/>
          </a:solidFill>
          <a:ln w="9525">
            <a:solidFill>
              <a:schemeClr val="accent6"/>
            </a:solidFill>
            <a:prstDash val="solid"/>
          </a:ln>
        </p:spPr>
      </p:sp>
      <p:sp>
        <p:nvSpPr>
          <p:cNvPr id="26" name="Text 24"/>
          <p:cNvSpPr txBox="1"/>
          <p:nvPr/>
        </p:nvSpPr>
        <p:spPr>
          <a:xfrm>
            <a:off x="5271516" y="2075688"/>
            <a:ext cx="292608" cy="237744"/>
          </a:xfrm>
          <a:prstGeom prst="rect">
            <a:avLst/>
          </a:prstGeom>
          <a:noFill/>
          <a:ln/>
        </p:spPr>
        <p:txBody>
          <a:bodyPr wrap="square" lIns="0" tIns="0" rIns="0" bIns="0" rtlCol="0" anchor="ctr"/>
          <a:lstStyle/>
          <a:p>
            <a:pPr algn="ctr" indent="0" marL="0">
              <a:buNone/>
            </a:pPr>
            <a:r>
              <a:rPr lang="en-US" sz="1100" dirty="0">
                <a:solidFill>
                  <a:schemeClr val="bg2"/>
                </a:solidFill>
                <a:latin typeface="Courier New" pitchFamily="34" charset="0"/>
                <a:ea typeface="Courier New" pitchFamily="34" charset="-122"/>
                <a:cs typeface="Courier New" pitchFamily="34" charset="-120"/>
              </a:rPr>
              <a:t>4</a:t>
            </a:r>
            <a:endParaRPr lang="en-US" sz="1100" dirty="0"/>
          </a:p>
        </p:txBody>
      </p:sp>
      <p:sp>
        <p:nvSpPr>
          <p:cNvPr id="27" name="Shape 25"/>
          <p:cNvSpPr/>
          <p:nvPr/>
        </p:nvSpPr>
        <p:spPr>
          <a:xfrm flipV="1">
            <a:off x="3566160" y="1600200"/>
            <a:ext cx="1234440" cy="2377440"/>
          </a:xfrm>
          <a:prstGeom prst="line">
            <a:avLst/>
          </a:prstGeom>
          <a:noFill/>
          <a:ln w="15875">
            <a:solidFill>
              <a:schemeClr val="accent6"/>
            </a:solidFill>
            <a:prstDash val="solid"/>
          </a:ln>
        </p:spPr>
      </p:sp>
      <p:sp>
        <p:nvSpPr>
          <p:cNvPr id="28" name="Shape 26"/>
          <p:cNvSpPr/>
          <p:nvPr/>
        </p:nvSpPr>
        <p:spPr>
          <a:xfrm>
            <a:off x="4037076" y="2670048"/>
            <a:ext cx="292608" cy="237744"/>
          </a:xfrm>
          <a:prstGeom prst="roundRect">
            <a:avLst>
              <a:gd name="adj" fmla="val 15385"/>
            </a:avLst>
          </a:prstGeom>
          <a:solidFill>
            <a:schemeClr val="tx1"/>
          </a:solidFill>
          <a:ln w="9525">
            <a:solidFill>
              <a:schemeClr val="accent6"/>
            </a:solidFill>
            <a:prstDash val="solid"/>
          </a:ln>
        </p:spPr>
      </p:sp>
      <p:sp>
        <p:nvSpPr>
          <p:cNvPr id="29" name="Text 27"/>
          <p:cNvSpPr txBox="1"/>
          <p:nvPr/>
        </p:nvSpPr>
        <p:spPr>
          <a:xfrm>
            <a:off x="4037076" y="2670048"/>
            <a:ext cx="292608" cy="237744"/>
          </a:xfrm>
          <a:prstGeom prst="rect">
            <a:avLst/>
          </a:prstGeom>
          <a:noFill/>
          <a:ln/>
        </p:spPr>
        <p:txBody>
          <a:bodyPr wrap="square" lIns="0" tIns="0" rIns="0" bIns="0" rtlCol="0" anchor="ctr"/>
          <a:lstStyle/>
          <a:p>
            <a:pPr algn="ctr" indent="0" marL="0">
              <a:buNone/>
            </a:pPr>
            <a:r>
              <a:rPr lang="en-US" sz="1100" dirty="0">
                <a:solidFill>
                  <a:schemeClr val="bg2"/>
                </a:solidFill>
                <a:latin typeface="Courier New" pitchFamily="34" charset="0"/>
                <a:ea typeface="Courier New" pitchFamily="34" charset="-122"/>
                <a:cs typeface="Courier New" pitchFamily="34" charset="-120"/>
              </a:rPr>
              <a:t>3</a:t>
            </a:r>
            <a:endParaRPr lang="en-US" sz="1100" dirty="0"/>
          </a:p>
        </p:txBody>
      </p:sp>
      <p:sp>
        <p:nvSpPr>
          <p:cNvPr id="30" name="Shape 28"/>
          <p:cNvSpPr/>
          <p:nvPr/>
        </p:nvSpPr>
        <p:spPr>
          <a:xfrm>
            <a:off x="548640" y="2560320"/>
            <a:ext cx="1097280" cy="457200"/>
          </a:xfrm>
          <a:prstGeom prst="roundRect">
            <a:avLst>
              <a:gd name="adj" fmla="val 10000"/>
            </a:avLst>
          </a:prstGeom>
          <a:solidFill>
            <a:schemeClr val="tx2"/>
          </a:solidFill>
          <a:ln w="22225">
            <a:solidFill>
              <a:schemeClr val="accent1"/>
            </a:solidFill>
            <a:prstDash val="solid"/>
          </a:ln>
        </p:spPr>
      </p:sp>
      <p:sp>
        <p:nvSpPr>
          <p:cNvPr id="31" name="Text 29"/>
          <p:cNvSpPr txBox="1"/>
          <p:nvPr/>
        </p:nvSpPr>
        <p:spPr>
          <a:xfrm>
            <a:off x="621792" y="2606040"/>
            <a:ext cx="950976" cy="219456"/>
          </a:xfrm>
          <a:prstGeom prst="rect">
            <a:avLst/>
          </a:prstGeom>
          <a:noFill/>
          <a:ln/>
        </p:spPr>
        <p:txBody>
          <a:bodyPr wrap="square" lIns="0" tIns="0" rIns="0" bIns="0" rtlCol="0" anchor="t"/>
          <a:lstStyle/>
          <a:p>
            <a:pPr indent="0" marL="0">
              <a:buNone/>
            </a:pPr>
            <a:r>
              <a:rPr lang="en-US" sz="1000" b="1" dirty="0">
                <a:solidFill>
                  <a:schemeClr val="bg1"/>
                </a:solidFill>
              </a:rPr>
              <a:t>Internet</a:t>
            </a:r>
            <a:endParaRPr lang="en-US" sz="1000" dirty="0"/>
          </a:p>
        </p:txBody>
      </p:sp>
      <p:sp>
        <p:nvSpPr>
          <p:cNvPr id="32" name="Text 30"/>
          <p:cNvSpPr txBox="1"/>
          <p:nvPr/>
        </p:nvSpPr>
        <p:spPr>
          <a:xfrm>
            <a:off x="621792" y="2816352"/>
            <a:ext cx="950976" cy="164592"/>
          </a:xfrm>
          <a:prstGeom prst="rect">
            <a:avLst/>
          </a:prstGeom>
          <a:noFill/>
          <a:ln/>
        </p:spPr>
        <p:txBody>
          <a:bodyPr wrap="square" lIns="0" tIns="0" rIns="0" bIns="0" rtlCol="0" anchor="t"/>
          <a:lstStyle/>
          <a:p>
            <a:pPr indent="0" marL="0">
              <a:buNone/>
            </a:pPr>
            <a:r>
              <a:rPr lang="en-US" sz="800" dirty="0">
                <a:solidFill>
                  <a:schemeClr val="bg2"/>
                </a:solidFill>
                <a:latin typeface="Courier New" pitchFamily="34" charset="0"/>
                <a:ea typeface="Courier New" pitchFamily="34" charset="-122"/>
                <a:cs typeface="Courier New" pitchFamily="34" charset="-120"/>
              </a:rPr>
              <a:t>ENTRY</a:t>
            </a:r>
            <a:endParaRPr lang="en-US" sz="800" dirty="0"/>
          </a:p>
        </p:txBody>
      </p:sp>
      <p:sp>
        <p:nvSpPr>
          <p:cNvPr id="33" name="Shape 31"/>
          <p:cNvSpPr/>
          <p:nvPr/>
        </p:nvSpPr>
        <p:spPr>
          <a:xfrm>
            <a:off x="1783080" y="2560320"/>
            <a:ext cx="1097280" cy="457200"/>
          </a:xfrm>
          <a:prstGeom prst="roundRect">
            <a:avLst>
              <a:gd name="adj" fmla="val 10000"/>
            </a:avLst>
          </a:prstGeom>
          <a:solidFill>
            <a:schemeClr val="tx2"/>
          </a:solidFill>
          <a:ln w="22225">
            <a:solidFill>
              <a:schemeClr val="accent1"/>
            </a:solidFill>
            <a:prstDash val="solid"/>
          </a:ln>
        </p:spPr>
      </p:sp>
      <p:sp>
        <p:nvSpPr>
          <p:cNvPr id="34" name="Text 32"/>
          <p:cNvSpPr txBox="1"/>
          <p:nvPr/>
        </p:nvSpPr>
        <p:spPr>
          <a:xfrm>
            <a:off x="1856232" y="2606040"/>
            <a:ext cx="950976" cy="219456"/>
          </a:xfrm>
          <a:prstGeom prst="rect">
            <a:avLst/>
          </a:prstGeom>
          <a:noFill/>
          <a:ln/>
        </p:spPr>
        <p:txBody>
          <a:bodyPr wrap="square" lIns="0" tIns="0" rIns="0" bIns="0" rtlCol="0" anchor="t"/>
          <a:lstStyle/>
          <a:p>
            <a:pPr indent="0" marL="0">
              <a:buNone/>
            </a:pPr>
            <a:r>
              <a:rPr lang="en-US" sz="1000" b="1" dirty="0">
                <a:solidFill>
                  <a:schemeClr val="bg1"/>
                </a:solidFill>
              </a:rPr>
              <a:t>Web Server</a:t>
            </a:r>
            <a:endParaRPr lang="en-US" sz="1000" dirty="0"/>
          </a:p>
        </p:txBody>
      </p:sp>
      <p:sp>
        <p:nvSpPr>
          <p:cNvPr id="35" name="Text 33"/>
          <p:cNvSpPr txBox="1"/>
          <p:nvPr/>
        </p:nvSpPr>
        <p:spPr>
          <a:xfrm>
            <a:off x="1856232" y="2816352"/>
            <a:ext cx="950976" cy="164592"/>
          </a:xfrm>
          <a:prstGeom prst="rect">
            <a:avLst/>
          </a:prstGeom>
          <a:noFill/>
          <a:ln/>
        </p:spPr>
        <p:txBody>
          <a:bodyPr wrap="square" lIns="0" tIns="0" rIns="0" bIns="0" rtlCol="0" anchor="t"/>
          <a:lstStyle/>
          <a:p>
            <a:pPr indent="0" marL="0">
              <a:buNone/>
            </a:pPr>
            <a:r>
              <a:rPr lang="en-US" sz="800" dirty="0">
                <a:solidFill>
                  <a:schemeClr val="bg2"/>
                </a:solidFill>
                <a:latin typeface="Courier New" pitchFamily="34" charset="0"/>
                <a:ea typeface="Courier New" pitchFamily="34" charset="-122"/>
                <a:cs typeface="Courier New" pitchFamily="34" charset="-120"/>
              </a:rPr>
              <a:t>CANDIDATE</a:t>
            </a:r>
            <a:endParaRPr lang="en-US" sz="800" dirty="0"/>
          </a:p>
        </p:txBody>
      </p:sp>
      <p:sp>
        <p:nvSpPr>
          <p:cNvPr id="36" name="Shape 34"/>
          <p:cNvSpPr/>
          <p:nvPr/>
        </p:nvSpPr>
        <p:spPr>
          <a:xfrm>
            <a:off x="3017520" y="1371600"/>
            <a:ext cx="1097280" cy="457200"/>
          </a:xfrm>
          <a:prstGeom prst="roundRect">
            <a:avLst>
              <a:gd name="adj" fmla="val 10000"/>
            </a:avLst>
          </a:prstGeom>
          <a:solidFill>
            <a:schemeClr val="tx2"/>
          </a:solidFill>
          <a:ln w="22225">
            <a:solidFill>
              <a:schemeClr val="accent1"/>
            </a:solidFill>
            <a:prstDash val="solid"/>
          </a:ln>
        </p:spPr>
      </p:sp>
      <p:sp>
        <p:nvSpPr>
          <p:cNvPr id="37" name="Text 35"/>
          <p:cNvSpPr txBox="1"/>
          <p:nvPr/>
        </p:nvSpPr>
        <p:spPr>
          <a:xfrm>
            <a:off x="3090672" y="1417320"/>
            <a:ext cx="950976" cy="219456"/>
          </a:xfrm>
          <a:prstGeom prst="rect">
            <a:avLst/>
          </a:prstGeom>
          <a:noFill/>
          <a:ln/>
        </p:spPr>
        <p:txBody>
          <a:bodyPr wrap="square" lIns="0" tIns="0" rIns="0" bIns="0" rtlCol="0" anchor="t"/>
          <a:lstStyle/>
          <a:p>
            <a:pPr indent="0" marL="0">
              <a:buNone/>
            </a:pPr>
            <a:r>
              <a:rPr lang="en-US" sz="1000" b="1" dirty="0">
                <a:solidFill>
                  <a:schemeClr val="bg1"/>
                </a:solidFill>
              </a:rPr>
              <a:t>App Server</a:t>
            </a:r>
            <a:endParaRPr lang="en-US" sz="1000" dirty="0"/>
          </a:p>
        </p:txBody>
      </p:sp>
      <p:sp>
        <p:nvSpPr>
          <p:cNvPr id="38" name="Text 36"/>
          <p:cNvSpPr txBox="1"/>
          <p:nvPr/>
        </p:nvSpPr>
        <p:spPr>
          <a:xfrm>
            <a:off x="3090672" y="1627632"/>
            <a:ext cx="950976" cy="164592"/>
          </a:xfrm>
          <a:prstGeom prst="rect">
            <a:avLst/>
          </a:prstGeom>
          <a:noFill/>
          <a:ln/>
        </p:spPr>
        <p:txBody>
          <a:bodyPr wrap="square" lIns="0" tIns="0" rIns="0" bIns="0" rtlCol="0" anchor="t"/>
          <a:lstStyle/>
          <a:p>
            <a:pPr indent="0" marL="0">
              <a:buNone/>
            </a:pPr>
            <a:r>
              <a:rPr lang="en-US" sz="800" dirty="0">
                <a:solidFill>
                  <a:schemeClr val="bg2"/>
                </a:solidFill>
                <a:latin typeface="Courier New" pitchFamily="34" charset="0"/>
                <a:ea typeface="Courier New" pitchFamily="34" charset="-122"/>
                <a:cs typeface="Courier New" pitchFamily="34" charset="-120"/>
              </a:rPr>
              <a:t>CANDIDATE</a:t>
            </a:r>
            <a:endParaRPr lang="en-US" sz="800" dirty="0"/>
          </a:p>
        </p:txBody>
      </p:sp>
      <p:sp>
        <p:nvSpPr>
          <p:cNvPr id="39" name="Shape 37"/>
          <p:cNvSpPr/>
          <p:nvPr/>
        </p:nvSpPr>
        <p:spPr>
          <a:xfrm>
            <a:off x="3017520" y="3749040"/>
            <a:ext cx="1097280" cy="457200"/>
          </a:xfrm>
          <a:prstGeom prst="roundRect">
            <a:avLst>
              <a:gd name="adj" fmla="val 10000"/>
            </a:avLst>
          </a:prstGeom>
          <a:solidFill>
            <a:schemeClr val="tx2"/>
          </a:solidFill>
          <a:ln w="12700">
            <a:solidFill>
              <a:schemeClr val="accent6"/>
            </a:solidFill>
            <a:prstDash val="solid"/>
          </a:ln>
        </p:spPr>
      </p:sp>
      <p:sp>
        <p:nvSpPr>
          <p:cNvPr id="40" name="Text 38"/>
          <p:cNvSpPr txBox="1"/>
          <p:nvPr/>
        </p:nvSpPr>
        <p:spPr>
          <a:xfrm>
            <a:off x="3090672" y="3794760"/>
            <a:ext cx="950976" cy="219456"/>
          </a:xfrm>
          <a:prstGeom prst="rect">
            <a:avLst/>
          </a:prstGeom>
          <a:noFill/>
          <a:ln/>
        </p:spPr>
        <p:txBody>
          <a:bodyPr wrap="square" lIns="0" tIns="0" rIns="0" bIns="0" rtlCol="0" anchor="t"/>
          <a:lstStyle/>
          <a:p>
            <a:pPr indent="0" marL="0">
              <a:buNone/>
            </a:pPr>
            <a:r>
              <a:rPr lang="en-US" sz="1000" b="1" dirty="0">
                <a:solidFill>
                  <a:schemeClr val="bg1"/>
                </a:solidFill>
              </a:rPr>
              <a:t>Employee PC</a:t>
            </a:r>
            <a:endParaRPr lang="en-US" sz="1000" dirty="0"/>
          </a:p>
        </p:txBody>
      </p:sp>
      <p:sp>
        <p:nvSpPr>
          <p:cNvPr id="41" name="Text 39"/>
          <p:cNvSpPr txBox="1"/>
          <p:nvPr/>
        </p:nvSpPr>
        <p:spPr>
          <a:xfrm>
            <a:off x="3090672" y="4005072"/>
            <a:ext cx="950976" cy="164592"/>
          </a:xfrm>
          <a:prstGeom prst="rect">
            <a:avLst/>
          </a:prstGeom>
          <a:noFill/>
          <a:ln/>
        </p:spPr>
        <p:txBody>
          <a:bodyPr wrap="square" lIns="0" tIns="0" rIns="0" bIns="0" rtlCol="0" anchor="t"/>
          <a:lstStyle/>
          <a:p>
            <a:pPr indent="0" marL="0">
              <a:buNone/>
            </a:pPr>
            <a:r>
              <a:rPr lang="en-US" sz="800" dirty="0">
                <a:solidFill>
                  <a:schemeClr val="bg2"/>
                </a:solidFill>
                <a:latin typeface="Courier New" pitchFamily="34" charset="0"/>
                <a:ea typeface="Courier New" pitchFamily="34" charset="-122"/>
                <a:cs typeface="Courier New" pitchFamily="34" charset="-120"/>
              </a:rPr>
              <a:t>CANDIDATE</a:t>
            </a:r>
            <a:endParaRPr lang="en-US" sz="800" dirty="0"/>
          </a:p>
        </p:txBody>
      </p:sp>
      <p:sp>
        <p:nvSpPr>
          <p:cNvPr id="42" name="Shape 40"/>
          <p:cNvSpPr/>
          <p:nvPr/>
        </p:nvSpPr>
        <p:spPr>
          <a:xfrm>
            <a:off x="4251960" y="1371600"/>
            <a:ext cx="1097280" cy="457200"/>
          </a:xfrm>
          <a:prstGeom prst="roundRect">
            <a:avLst>
              <a:gd name="adj" fmla="val 10000"/>
            </a:avLst>
          </a:prstGeom>
          <a:solidFill>
            <a:schemeClr val="tx2"/>
          </a:solidFill>
          <a:ln w="12700">
            <a:solidFill>
              <a:schemeClr val="accent6"/>
            </a:solidFill>
            <a:prstDash val="solid"/>
          </a:ln>
        </p:spPr>
      </p:sp>
      <p:sp>
        <p:nvSpPr>
          <p:cNvPr id="43" name="Text 41"/>
          <p:cNvSpPr txBox="1"/>
          <p:nvPr/>
        </p:nvSpPr>
        <p:spPr>
          <a:xfrm>
            <a:off x="4325112" y="1417320"/>
            <a:ext cx="950976" cy="219456"/>
          </a:xfrm>
          <a:prstGeom prst="rect">
            <a:avLst/>
          </a:prstGeom>
          <a:noFill/>
          <a:ln/>
        </p:spPr>
        <p:txBody>
          <a:bodyPr wrap="square" lIns="0" tIns="0" rIns="0" bIns="0" rtlCol="0" anchor="t"/>
          <a:lstStyle/>
          <a:p>
            <a:pPr indent="0" marL="0">
              <a:buNone/>
            </a:pPr>
            <a:r>
              <a:rPr lang="en-US" sz="1000" b="1" dirty="0">
                <a:solidFill>
                  <a:schemeClr val="bg1"/>
                </a:solidFill>
              </a:rPr>
              <a:t>File Server</a:t>
            </a:r>
            <a:endParaRPr lang="en-US" sz="1000" dirty="0"/>
          </a:p>
        </p:txBody>
      </p:sp>
      <p:sp>
        <p:nvSpPr>
          <p:cNvPr id="44" name="Text 42"/>
          <p:cNvSpPr txBox="1"/>
          <p:nvPr/>
        </p:nvSpPr>
        <p:spPr>
          <a:xfrm>
            <a:off x="4325112" y="1627632"/>
            <a:ext cx="950976" cy="164592"/>
          </a:xfrm>
          <a:prstGeom prst="rect">
            <a:avLst/>
          </a:prstGeom>
          <a:noFill/>
          <a:ln/>
        </p:spPr>
        <p:txBody>
          <a:bodyPr wrap="square" lIns="0" tIns="0" rIns="0" bIns="0" rtlCol="0" anchor="t"/>
          <a:lstStyle/>
          <a:p>
            <a:pPr indent="0" marL="0">
              <a:buNone/>
            </a:pPr>
            <a:r>
              <a:rPr lang="en-US" sz="800" dirty="0">
                <a:solidFill>
                  <a:schemeClr val="bg2"/>
                </a:solidFill>
                <a:latin typeface="Courier New" pitchFamily="34" charset="0"/>
                <a:ea typeface="Courier New" pitchFamily="34" charset="-122"/>
                <a:cs typeface="Courier New" pitchFamily="34" charset="-120"/>
              </a:rPr>
              <a:t>CANDIDATE</a:t>
            </a:r>
            <a:endParaRPr lang="en-US" sz="800" dirty="0"/>
          </a:p>
        </p:txBody>
      </p:sp>
      <p:sp>
        <p:nvSpPr>
          <p:cNvPr id="45" name="Shape 43"/>
          <p:cNvSpPr/>
          <p:nvPr/>
        </p:nvSpPr>
        <p:spPr>
          <a:xfrm>
            <a:off x="4251960" y="3749040"/>
            <a:ext cx="1097280" cy="457200"/>
          </a:xfrm>
          <a:prstGeom prst="roundRect">
            <a:avLst>
              <a:gd name="adj" fmla="val 10000"/>
            </a:avLst>
          </a:prstGeom>
          <a:solidFill>
            <a:schemeClr val="tx2"/>
          </a:solidFill>
          <a:ln w="12700">
            <a:solidFill>
              <a:schemeClr val="accent6"/>
            </a:solidFill>
            <a:prstDash val="solid"/>
          </a:ln>
        </p:spPr>
      </p:sp>
      <p:sp>
        <p:nvSpPr>
          <p:cNvPr id="46" name="Text 44"/>
          <p:cNvSpPr txBox="1"/>
          <p:nvPr/>
        </p:nvSpPr>
        <p:spPr>
          <a:xfrm>
            <a:off x="4325112" y="3794760"/>
            <a:ext cx="950976" cy="219456"/>
          </a:xfrm>
          <a:prstGeom prst="rect">
            <a:avLst/>
          </a:prstGeom>
          <a:noFill/>
          <a:ln/>
        </p:spPr>
        <p:txBody>
          <a:bodyPr wrap="square" lIns="0" tIns="0" rIns="0" bIns="0" rtlCol="0" anchor="t"/>
          <a:lstStyle/>
          <a:p>
            <a:pPr indent="0" marL="0">
              <a:buNone/>
            </a:pPr>
            <a:r>
              <a:rPr lang="en-US" sz="1000" b="1" dirty="0">
                <a:solidFill>
                  <a:schemeClr val="bg1"/>
                </a:solidFill>
              </a:rPr>
              <a:t>Admin PC</a:t>
            </a:r>
            <a:endParaRPr lang="en-US" sz="1000" dirty="0"/>
          </a:p>
        </p:txBody>
      </p:sp>
      <p:sp>
        <p:nvSpPr>
          <p:cNvPr id="47" name="Text 45"/>
          <p:cNvSpPr txBox="1"/>
          <p:nvPr/>
        </p:nvSpPr>
        <p:spPr>
          <a:xfrm>
            <a:off x="4325112" y="4005072"/>
            <a:ext cx="950976" cy="164592"/>
          </a:xfrm>
          <a:prstGeom prst="rect">
            <a:avLst/>
          </a:prstGeom>
          <a:noFill/>
          <a:ln/>
        </p:spPr>
        <p:txBody>
          <a:bodyPr wrap="square" lIns="0" tIns="0" rIns="0" bIns="0" rtlCol="0" anchor="t"/>
          <a:lstStyle/>
          <a:p>
            <a:pPr indent="0" marL="0">
              <a:buNone/>
            </a:pPr>
            <a:r>
              <a:rPr lang="en-US" sz="800" dirty="0">
                <a:solidFill>
                  <a:schemeClr val="bg2"/>
                </a:solidFill>
                <a:latin typeface="Courier New" pitchFamily="34" charset="0"/>
                <a:ea typeface="Courier New" pitchFamily="34" charset="-122"/>
                <a:cs typeface="Courier New" pitchFamily="34" charset="-120"/>
              </a:rPr>
              <a:t>CANDIDATE</a:t>
            </a:r>
            <a:endParaRPr lang="en-US" sz="800" dirty="0"/>
          </a:p>
        </p:txBody>
      </p:sp>
      <p:sp>
        <p:nvSpPr>
          <p:cNvPr id="48" name="Shape 46"/>
          <p:cNvSpPr/>
          <p:nvPr/>
        </p:nvSpPr>
        <p:spPr>
          <a:xfrm>
            <a:off x="5486400" y="2560320"/>
            <a:ext cx="1097280" cy="457200"/>
          </a:xfrm>
          <a:prstGeom prst="roundRect">
            <a:avLst>
              <a:gd name="adj" fmla="val 10000"/>
            </a:avLst>
          </a:prstGeom>
          <a:solidFill>
            <a:schemeClr val="tx2"/>
          </a:solidFill>
          <a:ln w="22225">
            <a:solidFill>
              <a:schemeClr val="accent1"/>
            </a:solidFill>
            <a:prstDash val="solid"/>
          </a:ln>
        </p:spPr>
      </p:sp>
      <p:sp>
        <p:nvSpPr>
          <p:cNvPr id="49" name="Text 47"/>
          <p:cNvSpPr txBox="1"/>
          <p:nvPr/>
        </p:nvSpPr>
        <p:spPr>
          <a:xfrm>
            <a:off x="5559552" y="2606040"/>
            <a:ext cx="950976" cy="219456"/>
          </a:xfrm>
          <a:prstGeom prst="rect">
            <a:avLst/>
          </a:prstGeom>
          <a:noFill/>
          <a:ln/>
        </p:spPr>
        <p:txBody>
          <a:bodyPr wrap="square" lIns="0" tIns="0" rIns="0" bIns="0" rtlCol="0" anchor="t"/>
          <a:lstStyle/>
          <a:p>
            <a:pPr indent="0" marL="0">
              <a:buNone/>
            </a:pPr>
            <a:r>
              <a:rPr lang="en-US" sz="1000" b="1" dirty="0">
                <a:solidFill>
                  <a:schemeClr val="bg1"/>
                </a:solidFill>
              </a:rPr>
              <a:t>Database</a:t>
            </a:r>
            <a:endParaRPr lang="en-US" sz="1000" dirty="0"/>
          </a:p>
        </p:txBody>
      </p:sp>
      <p:sp>
        <p:nvSpPr>
          <p:cNvPr id="50" name="Text 48"/>
          <p:cNvSpPr txBox="1"/>
          <p:nvPr/>
        </p:nvSpPr>
        <p:spPr>
          <a:xfrm>
            <a:off x="5559552" y="2816352"/>
            <a:ext cx="950976" cy="164592"/>
          </a:xfrm>
          <a:prstGeom prst="rect">
            <a:avLst/>
          </a:prstGeom>
          <a:noFill/>
          <a:ln/>
        </p:spPr>
        <p:txBody>
          <a:bodyPr wrap="square" lIns="0" tIns="0" rIns="0" bIns="0" rtlCol="0" anchor="t"/>
          <a:lstStyle/>
          <a:p>
            <a:pPr indent="0" marL="0">
              <a:buNone/>
            </a:pPr>
            <a:r>
              <a:rPr lang="en-US" sz="800" dirty="0">
                <a:solidFill>
                  <a:schemeClr val="accent4"/>
                </a:solidFill>
                <a:latin typeface="Courier New" pitchFamily="34" charset="0"/>
                <a:ea typeface="Courier New" pitchFamily="34" charset="-122"/>
                <a:cs typeface="Courier New" pitchFamily="34" charset="-120"/>
              </a:rPr>
              <a:t>TARGET</a:t>
            </a:r>
            <a:endParaRPr lang="en-US" sz="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4434840"/>
          <a:ext cx="6035040" cy="914400"/>
        </p:xfrm>
        <a:graphic>
          <a:graphicData uri="http://schemas.openxmlformats.org/drawingml/2006/table">
            <a:tbl>
              <a:tblPr/>
              <a:tblGrid>
                <a:gridCol w="365760"/>
                <a:gridCol w="4937760"/>
                <a:gridCol w="731520"/>
              </a:tblGrid>
              <a:tr h="384048">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Route (cheapest loop-free, Yen’s algorithm)</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Cost</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384048">
                <a:tc>
                  <a:txBody>
                    <a:bodyPr/>
                    <a:lstStyle/>
                    <a:p>
                      <a:pPr algn="l" indent="0" marL="0">
                        <a:buNone/>
                      </a:pPr>
                      <a:r>
                        <a:rPr lang="en-US" sz="1200" dirty="0">
                          <a:solidFill>
                            <a:schemeClr val="bg1"/>
                          </a:solidFill>
                        </a:rPr>
                        <a:t>1</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Internet → Web Server → Application Server → Database</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accent1"/>
                          </a:solidFill>
                          <a:latin typeface="Courier New" pitchFamily="34" charset="0"/>
                          <a:ea typeface="Courier New" pitchFamily="34" charset="-122"/>
                          <a:cs typeface="Courier New" pitchFamily="34" charset="-120"/>
                        </a:rPr>
                        <a:t>8</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384048">
                <a:tc>
                  <a:txBody>
                    <a:bodyPr/>
                    <a:lstStyle/>
                    <a:p>
                      <a:pPr algn="l" indent="0" marL="0">
                        <a:buNone/>
                      </a:pPr>
                      <a:r>
                        <a:rPr lang="en-US" sz="1200" dirty="0">
                          <a:solidFill>
                            <a:schemeClr val="bg1"/>
                          </a:solidFill>
                        </a:rPr>
                        <a:t>2</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Internet → Web Server → Employee PC → Admin PC → Database</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9</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384048">
                <a:tc>
                  <a:txBody>
                    <a:bodyPr/>
                    <a:lstStyle/>
                    <a:p>
                      <a:pPr algn="l" indent="0" marL="0">
                        <a:buNone/>
                      </a:pPr>
                      <a:r>
                        <a:rPr lang="en-US" sz="1200" dirty="0">
                          <a:solidFill>
                            <a:schemeClr val="bg1"/>
                          </a:solidFill>
                        </a:rPr>
                        <a:t>3</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Internet → Web Server → App Server → File Server → Database</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10</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bl>
          </a:graphicData>
        </a:graphic>
      </p:graphicFrame>
      <p:sp>
        <p:nvSpPr>
          <p:cNvPr id="52" name="Shape 49"/>
          <p:cNvSpPr/>
          <p:nvPr/>
        </p:nvSpPr>
        <p:spPr>
          <a:xfrm>
            <a:off x="6903720" y="1371600"/>
            <a:ext cx="4709160" cy="2240280"/>
          </a:xfrm>
          <a:prstGeom prst="roundRect">
            <a:avLst>
              <a:gd name="adj" fmla="val 2449"/>
            </a:avLst>
          </a:prstGeom>
          <a:solidFill>
            <a:schemeClr val="tx2"/>
          </a:solidFill>
          <a:ln w="9525">
            <a:solidFill>
              <a:schemeClr val="accent5"/>
            </a:solidFill>
            <a:prstDash val="solid"/>
          </a:ln>
        </p:spPr>
      </p:sp>
      <p:sp>
        <p:nvSpPr>
          <p:cNvPr id="53" name="Text 50"/>
          <p:cNvSpPr txBox="1"/>
          <p:nvPr/>
        </p:nvSpPr>
        <p:spPr>
          <a:xfrm>
            <a:off x="7132320" y="1508760"/>
            <a:ext cx="4206240" cy="228600"/>
          </a:xfrm>
          <a:prstGeom prst="rect">
            <a:avLst/>
          </a:prstGeom>
          <a:noFill/>
          <a:ln/>
        </p:spPr>
        <p:txBody>
          <a:bodyPr wrap="square" lIns="0" tIns="0" rIns="0" bIns="0" rtlCol="0" anchor="t"/>
          <a:lstStyle/>
          <a:p>
            <a:pPr indent="0" marL="0">
              <a:buNone/>
            </a:pPr>
            <a:r>
              <a:rPr lang="en-US" sz="1000" b="1" spc="150" kern="0" dirty="0">
                <a:solidFill>
                  <a:schemeClr val="accent5"/>
                </a:solidFill>
                <a:latin typeface="Courier New" pitchFamily="34" charset="0"/>
                <a:ea typeface="Courier New" pitchFamily="34" charset="-122"/>
                <a:cs typeface="Courier New" pitchFamily="34" charset="-120"/>
              </a:rPr>
              <a:t>WHAT THE OUTPUT ESTABLISHES</a:t>
            </a:r>
            <a:endParaRPr lang="en-US" sz="1000" dirty="0"/>
          </a:p>
        </p:txBody>
      </p:sp>
      <p:sp>
        <p:nvSpPr>
          <p:cNvPr id="54" name="Text 51"/>
          <p:cNvSpPr txBox="1"/>
          <p:nvPr/>
        </p:nvSpPr>
        <p:spPr>
          <a:xfrm>
            <a:off x="7132320" y="1828800"/>
            <a:ext cx="4297680" cy="1737360"/>
          </a:xfrm>
          <a:prstGeom prst="rect">
            <a:avLst/>
          </a:prstGeom>
          <a:noFill/>
          <a:ln/>
        </p:spPr>
        <p:txBody>
          <a:bodyPr wrap="square" lIns="0" tIns="0" rIns="0" bIns="0" rtlCol="0" anchor="t"/>
          <a:lstStyle/>
          <a:p>
            <a:pPr marL="203200" indent="-203200">
              <a:spcAft>
                <a:spcPts val="500"/>
              </a:spcAft>
              <a:buSzPct val="100000"/>
              <a:buChar char="•"/>
            </a:pPr>
            <a:r>
              <a:rPr lang="en-US" sz="1400" dirty="0">
                <a:solidFill>
                  <a:schemeClr val="bg1"/>
                </a:solidFill>
              </a:rPr>
              <a:t>The minimum-cost route under the modelled weights</a:t>
            </a:r>
            <a:endParaRPr lang="en-US" sz="1400" dirty="0"/>
          </a:p>
          <a:p>
            <a:pPr marL="203200" indent="-203200">
              <a:spcAft>
                <a:spcPts val="500"/>
              </a:spcAft>
              <a:buSzPct val="100000"/>
              <a:buChar char="•"/>
            </a:pPr>
            <a:r>
              <a:rPr lang="en-US" sz="1400" dirty="0">
                <a:solidFill>
                  <a:schemeClr val="bg1"/>
                </a:solidFill>
              </a:rPr>
              <a:t>The next cheapest routes an attacker could use</a:t>
            </a:r>
            <a:endParaRPr lang="en-US" sz="1400" dirty="0"/>
          </a:p>
          <a:p>
            <a:pPr marL="203200" indent="-203200">
              <a:spcAft>
                <a:spcPts val="500"/>
              </a:spcAft>
              <a:buSzPct val="100000"/>
              <a:buChar char="•"/>
            </a:pPr>
            <a:r>
              <a:rPr lang="en-US" sz="1400" dirty="0">
                <a:solidFill>
                  <a:schemeClr val="bg1"/>
                </a:solidFill>
              </a:rPr>
              <a:t>Which routes each honeypot placement covers</a:t>
            </a:r>
            <a:endParaRPr lang="en-US" sz="1400" dirty="0"/>
          </a:p>
        </p:txBody>
      </p:sp>
      <p:sp>
        <p:nvSpPr>
          <p:cNvPr id="55" name="Shape 52"/>
          <p:cNvSpPr/>
          <p:nvPr/>
        </p:nvSpPr>
        <p:spPr>
          <a:xfrm>
            <a:off x="6903720" y="3794760"/>
            <a:ext cx="4709160" cy="2286000"/>
          </a:xfrm>
          <a:prstGeom prst="roundRect">
            <a:avLst>
              <a:gd name="adj" fmla="val 2400"/>
            </a:avLst>
          </a:prstGeom>
          <a:solidFill>
            <a:schemeClr val="tx2"/>
          </a:solidFill>
          <a:ln w="9525">
            <a:solidFill>
              <a:schemeClr val="accent4"/>
            </a:solidFill>
            <a:prstDash val="solid"/>
          </a:ln>
        </p:spPr>
      </p:sp>
      <p:sp>
        <p:nvSpPr>
          <p:cNvPr id="56" name="Text 53"/>
          <p:cNvSpPr txBox="1"/>
          <p:nvPr/>
        </p:nvSpPr>
        <p:spPr>
          <a:xfrm>
            <a:off x="7132320" y="3931920"/>
            <a:ext cx="4206240" cy="228600"/>
          </a:xfrm>
          <a:prstGeom prst="rect">
            <a:avLst/>
          </a:prstGeom>
          <a:noFill/>
          <a:ln/>
        </p:spPr>
        <p:txBody>
          <a:bodyPr wrap="square" lIns="0" tIns="0" rIns="0" bIns="0" rtlCol="0" anchor="t"/>
          <a:lstStyle/>
          <a:p>
            <a:pPr indent="0" marL="0">
              <a:buNone/>
            </a:pPr>
            <a:r>
              <a:rPr lang="en-US" sz="1000" b="1" spc="150" kern="0" dirty="0">
                <a:solidFill>
                  <a:schemeClr val="accent4"/>
                </a:solidFill>
                <a:latin typeface="Courier New" pitchFamily="34" charset="0"/>
                <a:ea typeface="Courier New" pitchFamily="34" charset="-122"/>
                <a:cs typeface="Courier New" pitchFamily="34" charset="-120"/>
              </a:rPr>
              <a:t>WHAT IT DOES NOT ESTABLISH</a:t>
            </a:r>
            <a:endParaRPr lang="en-US" sz="1000" dirty="0"/>
          </a:p>
        </p:txBody>
      </p:sp>
      <p:sp>
        <p:nvSpPr>
          <p:cNvPr id="57" name="Text 54"/>
          <p:cNvSpPr txBox="1"/>
          <p:nvPr/>
        </p:nvSpPr>
        <p:spPr>
          <a:xfrm>
            <a:off x="7132320" y="4251960"/>
            <a:ext cx="4297680" cy="1737360"/>
          </a:xfrm>
          <a:prstGeom prst="rect">
            <a:avLst/>
          </a:prstGeom>
          <a:noFill/>
          <a:ln/>
        </p:spPr>
        <p:txBody>
          <a:bodyPr wrap="square" lIns="0" tIns="0" rIns="0" bIns="0" rtlCol="0" anchor="t"/>
          <a:lstStyle/>
          <a:p>
            <a:pPr marL="203200" indent="-203200">
              <a:spcAft>
                <a:spcPts val="500"/>
              </a:spcAft>
              <a:buSzPct val="100000"/>
              <a:buChar char="•"/>
            </a:pPr>
            <a:r>
              <a:rPr lang="en-US" sz="1400" dirty="0">
                <a:solidFill>
                  <a:schemeClr val="bg1"/>
                </a:solidFill>
              </a:rPr>
              <a:t>That a link is actually exploitable</a:t>
            </a:r>
            <a:endParaRPr lang="en-US" sz="1400" dirty="0"/>
          </a:p>
          <a:p>
            <a:pPr marL="203200" indent="-203200">
              <a:spcAft>
                <a:spcPts val="500"/>
              </a:spcAft>
              <a:buSzPct val="100000"/>
              <a:buChar char="•"/>
            </a:pPr>
            <a:r>
              <a:rPr lang="en-US" sz="1400" dirty="0">
                <a:solidFill>
                  <a:schemeClr val="bg1"/>
                </a:solidFill>
              </a:rPr>
              <a:t>What a real attacker will do</a:t>
            </a:r>
            <a:endParaRPr lang="en-US" sz="1400" dirty="0"/>
          </a:p>
          <a:p>
            <a:pPr marL="203200" indent="-203200">
              <a:spcAft>
                <a:spcPts val="500"/>
              </a:spcAft>
              <a:buSzPct val="100000"/>
              <a:buChar char="•"/>
            </a:pPr>
            <a:r>
              <a:rPr lang="en-US" sz="1400" dirty="0">
                <a:solidFill>
                  <a:schemeClr val="bg1"/>
                </a:solidFill>
              </a:rPr>
              <a:t>Any probability of attack — this is not a trained model</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bg1"/>
                </a:solidFill>
                <a:latin typeface="Calibri" pitchFamily="34" charset="0"/>
                <a:ea typeface="Calibri" pitchFamily="34" charset="-122"/>
                <a:cs typeface="Calibri" pitchFamily="34" charset="-120"/>
              </a:rPr>
              <a:t>Honeypot placement: the deception score</a:t>
            </a:r>
            <a:endParaRPr lang="en-US" sz="3000" dirty="0"/>
          </a:p>
        </p:txBody>
      </p:sp>
      <p:sp>
        <p:nvSpPr>
          <p:cNvPr id="3" name="Shape 1"/>
          <p:cNvSpPr/>
          <p:nvPr/>
        </p:nvSpPr>
        <p:spPr>
          <a:xfrm>
            <a:off x="548640" y="1325880"/>
            <a:ext cx="11064240" cy="1143000"/>
          </a:xfrm>
          <a:prstGeom prst="roundRect">
            <a:avLst>
              <a:gd name="adj" fmla="val 4800"/>
            </a:avLst>
          </a:prstGeom>
          <a:solidFill>
            <a:schemeClr val="tx2"/>
          </a:solidFill>
          <a:ln w="9525">
            <a:solidFill>
              <a:schemeClr val="accent1"/>
            </a:solidFill>
            <a:prstDash val="solid"/>
          </a:ln>
        </p:spPr>
      </p:sp>
      <p:sp>
        <p:nvSpPr>
          <p:cNvPr id="4" name="Text 2"/>
          <p:cNvSpPr txBox="1"/>
          <p:nvPr/>
        </p:nvSpPr>
        <p:spPr>
          <a:xfrm>
            <a:off x="777240" y="1463040"/>
            <a:ext cx="10607040" cy="411480"/>
          </a:xfrm>
          <a:prstGeom prst="rect">
            <a:avLst/>
          </a:prstGeom>
          <a:noFill/>
          <a:ln/>
        </p:spPr>
        <p:txBody>
          <a:bodyPr wrap="square" lIns="0" tIns="0" rIns="0" bIns="0" rtlCol="0" anchor="t"/>
          <a:lstStyle/>
          <a:p>
            <a:pPr indent="0" marL="0">
              <a:buNone/>
            </a:pPr>
            <a:r>
              <a:rPr lang="en-US" sz="1500" b="1" dirty="0">
                <a:solidFill>
                  <a:schemeClr val="accent2"/>
                </a:solidFill>
                <a:latin typeface="Courier New" pitchFamily="34" charset="0"/>
                <a:ea typeface="Courier New" pitchFamily="34" charset="-122"/>
                <a:cs typeface="Courier New" pitchFamily="34" charset="-120"/>
              </a:rPr>
              <a:t>score(n) = ( path_freq(n) + 1 / (hops(n, target) + 1) + degree(n) ) ÷ deployment_cost(n)</a:t>
            </a:r>
            <a:endParaRPr lang="en-US" sz="1500" dirty="0"/>
          </a:p>
        </p:txBody>
      </p:sp>
      <p:sp>
        <p:nvSpPr>
          <p:cNvPr id="5" name="Text 3"/>
          <p:cNvSpPr txBox="1"/>
          <p:nvPr/>
        </p:nvSpPr>
        <p:spPr>
          <a:xfrm>
            <a:off x="777240" y="1920240"/>
            <a:ext cx="10607040" cy="502920"/>
          </a:xfrm>
          <a:prstGeom prst="rect">
            <a:avLst/>
          </a:prstGeom>
          <a:noFill/>
          <a:ln/>
        </p:spPr>
        <p:txBody>
          <a:bodyPr wrap="square" lIns="0" tIns="0" rIns="0" bIns="0" rtlCol="0" anchor="t"/>
          <a:lstStyle/>
          <a:p>
            <a:pPr indent="0" marL="0">
              <a:buNone/>
            </a:pPr>
            <a:r>
              <a:rPr lang="en-US" sz="1300" dirty="0">
                <a:solidFill>
                  <a:schemeClr val="bg1"/>
                </a:solidFill>
              </a:rPr>
              <a:t>path_freq = how many of the 4 algorithms’ paths contain n · proximity = closeness to the asset · degree = number of links · cost = simulated deployment cost. Pick the top-k nodes (k = budget). Start and target are never candidates.</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697480"/>
          <a:ext cx="6949440" cy="914400"/>
        </p:xfrm>
        <a:graphic>
          <a:graphicData uri="http://schemas.openxmlformats.org/drawingml/2006/table">
            <a:tbl>
              <a:tblPr/>
              <a:tblGrid>
                <a:gridCol w="1828800"/>
                <a:gridCol w="914400"/>
                <a:gridCol w="960120"/>
                <a:gridCol w="777240"/>
                <a:gridCol w="640080"/>
                <a:gridCol w="822960"/>
                <a:gridCol w="1005840"/>
              </a:tblGrid>
              <a:tr h="411480">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Candidate</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Path freq</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Proximity</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Degree</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Cost</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Score</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Selected (k=2)</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411480">
                <a:tc>
                  <a:txBody>
                    <a:bodyPr/>
                    <a:lstStyle/>
                    <a:p>
                      <a:pPr algn="l" indent="0" marL="0">
                        <a:buNone/>
                      </a:pPr>
                      <a:r>
                        <a:rPr lang="en-US" sz="1200" b="1" dirty="0">
                          <a:solidFill>
                            <a:schemeClr val="bg1"/>
                          </a:solidFill>
                        </a:rPr>
                        <a:t>Web Server</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4</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0.333</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3</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2</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accent1"/>
                          </a:solidFill>
                          <a:latin typeface="Courier New" pitchFamily="34" charset="0"/>
                          <a:ea typeface="Courier New" pitchFamily="34" charset="-122"/>
                          <a:cs typeface="Courier New" pitchFamily="34" charset="-120"/>
                        </a:rPr>
                        <a:t>3.667</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accent3"/>
                          </a:solidFill>
                        </a:rPr>
                        <a:t>Yes</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411480">
                <a:tc>
                  <a:txBody>
                    <a:bodyPr/>
                    <a:lstStyle/>
                    <a:p>
                      <a:pPr algn="l" indent="0" marL="0">
                        <a:buNone/>
                      </a:pPr>
                      <a:r>
                        <a:rPr lang="en-US" sz="1200" b="1" dirty="0">
                          <a:solidFill>
                            <a:schemeClr val="bg1"/>
                          </a:solidFill>
                        </a:rPr>
                        <a:t>Employee PC</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0</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0.333</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3</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1</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b="1" dirty="0">
                          <a:solidFill>
                            <a:schemeClr val="accent1"/>
                          </a:solidFill>
                          <a:latin typeface="Courier New" pitchFamily="34" charset="0"/>
                          <a:ea typeface="Courier New" pitchFamily="34" charset="-122"/>
                          <a:cs typeface="Courier New" pitchFamily="34" charset="-120"/>
                        </a:rPr>
                        <a:t>3.333</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accent3"/>
                          </a:solidFill>
                        </a:rPr>
                        <a:t>Yes</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411480">
                <a:tc>
                  <a:txBody>
                    <a:bodyPr/>
                    <a:lstStyle/>
                    <a:p>
                      <a:pPr algn="l" indent="0" marL="0">
                        <a:buNone/>
                      </a:pPr>
                      <a:r>
                        <a:rPr lang="en-US" sz="1200" dirty="0">
                          <a:solidFill>
                            <a:schemeClr val="bg1"/>
                          </a:solidFill>
                        </a:rPr>
                        <a:t>Application Server</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4</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0.5</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3</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3</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2.5</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No</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411480">
                <a:tc>
                  <a:txBody>
                    <a:bodyPr/>
                    <a:lstStyle/>
                    <a:p>
                      <a:pPr algn="l" indent="0" marL="0">
                        <a:buNone/>
                      </a:pPr>
                      <a:r>
                        <a:rPr lang="en-US" sz="1200" dirty="0">
                          <a:solidFill>
                            <a:schemeClr val="bg1"/>
                          </a:solidFill>
                        </a:rPr>
                        <a:t>File Server</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0</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0.5</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3</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2</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1.75</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No</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411480">
                <a:tc>
                  <a:txBody>
                    <a:bodyPr/>
                    <a:lstStyle/>
                    <a:p>
                      <a:pPr algn="l" indent="0" marL="0">
                        <a:buNone/>
                      </a:pPr>
                      <a:r>
                        <a:rPr lang="en-US" sz="1200" dirty="0">
                          <a:solidFill>
                            <a:schemeClr val="bg1"/>
                          </a:solidFill>
                        </a:rPr>
                        <a:t>Admin PC</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0</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0.5</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2</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2</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1.25</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No</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bl>
          </a:graphicData>
        </a:graphic>
      </p:graphicFrame>
      <p:sp>
        <p:nvSpPr>
          <p:cNvPr id="7" name="Text 4"/>
          <p:cNvSpPr txBox="1"/>
          <p:nvPr/>
        </p:nvSpPr>
        <p:spPr>
          <a:xfrm>
            <a:off x="548640" y="5257800"/>
            <a:ext cx="6949440" cy="274320"/>
          </a:xfrm>
          <a:prstGeom prst="rect">
            <a:avLst/>
          </a:prstGeom>
          <a:noFill/>
          <a:ln/>
        </p:spPr>
        <p:txBody>
          <a:bodyPr wrap="square" lIns="0" tIns="0" rIns="0" bIns="0" rtlCol="0" anchor="t"/>
          <a:lstStyle/>
          <a:p>
            <a:pPr indent="0" marL="0">
              <a:buNone/>
            </a:pPr>
            <a:r>
              <a:rPr lang="en-US" sz="1100" i="1" dirty="0">
                <a:solidFill>
                  <a:schemeClr val="bg2"/>
                </a:solidFill>
              </a:rPr>
              <a:t>Real output of POST /api/simulate (A*, budget 2) on the built-in network.</a:t>
            </a:r>
            <a:endParaRPr lang="en-US" sz="1100" dirty="0"/>
          </a:p>
        </p:txBody>
      </p:sp>
      <p:sp>
        <p:nvSpPr>
          <p:cNvPr id="8" name="Shape 5"/>
          <p:cNvSpPr/>
          <p:nvPr/>
        </p:nvSpPr>
        <p:spPr>
          <a:xfrm>
            <a:off x="7818120" y="2697480"/>
            <a:ext cx="3794760" cy="3383280"/>
          </a:xfrm>
          <a:prstGeom prst="roundRect">
            <a:avLst>
              <a:gd name="adj" fmla="val 1622"/>
            </a:avLst>
          </a:prstGeom>
          <a:solidFill>
            <a:schemeClr val="tx2"/>
          </a:solidFill>
          <a:ln w="9525">
            <a:solidFill>
              <a:schemeClr val="accent6"/>
            </a:solidFill>
            <a:prstDash val="solid"/>
          </a:ln>
        </p:spPr>
      </p:sp>
      <p:sp>
        <p:nvSpPr>
          <p:cNvPr id="9" name="Text 6"/>
          <p:cNvSpPr txBox="1"/>
          <p:nvPr/>
        </p:nvSpPr>
        <p:spPr>
          <a:xfrm>
            <a:off x="8046720" y="2834640"/>
            <a:ext cx="3383280" cy="228600"/>
          </a:xfrm>
          <a:prstGeom prst="rect">
            <a:avLst/>
          </a:prstGeom>
          <a:noFill/>
          <a:ln/>
        </p:spPr>
        <p:txBody>
          <a:bodyPr wrap="square" lIns="0" tIns="0" rIns="0" bIns="0" rtlCol="0" anchor="t"/>
          <a:lstStyle/>
          <a:p>
            <a:pPr indent="0" marL="0">
              <a:buNone/>
            </a:pPr>
            <a:r>
              <a:rPr lang="en-US" sz="1000" b="1" spc="150" kern="0" dirty="0">
                <a:solidFill>
                  <a:schemeClr val="accent1"/>
                </a:solidFill>
                <a:latin typeface="Courier New" pitchFamily="34" charset="0"/>
                <a:ea typeface="Courier New" pitchFamily="34" charset="-122"/>
                <a:cs typeface="Courier New" pitchFamily="34" charset="-120"/>
              </a:rPr>
              <a:t>WORKED CHECK: WEB SERVER</a:t>
            </a:r>
            <a:endParaRPr lang="en-US" sz="1000" dirty="0"/>
          </a:p>
        </p:txBody>
      </p:sp>
      <p:sp>
        <p:nvSpPr>
          <p:cNvPr id="10" name="Text 7"/>
          <p:cNvSpPr txBox="1"/>
          <p:nvPr/>
        </p:nvSpPr>
        <p:spPr>
          <a:xfrm>
            <a:off x="8046720" y="3154680"/>
            <a:ext cx="3383280" cy="109728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(4 + 1/(2+1) + 3) ÷ 2</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(4 + 0.333 + 3) ÷ 2</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7.333 ÷ 2 = 3.667</a:t>
            </a:r>
            <a:endParaRPr lang="en-US" sz="1400" dirty="0"/>
          </a:p>
        </p:txBody>
      </p:sp>
      <p:sp>
        <p:nvSpPr>
          <p:cNvPr id="11" name="Text 8"/>
          <p:cNvSpPr txBox="1"/>
          <p:nvPr/>
        </p:nvSpPr>
        <p:spPr>
          <a:xfrm>
            <a:off x="8046720" y="4389120"/>
            <a:ext cx="3383280" cy="228600"/>
          </a:xfrm>
          <a:prstGeom prst="rect">
            <a:avLst/>
          </a:prstGeom>
          <a:noFill/>
          <a:ln/>
        </p:spPr>
        <p:txBody>
          <a:bodyPr wrap="square" lIns="0" tIns="0" rIns="0" bIns="0" rtlCol="0" anchor="t"/>
          <a:lstStyle/>
          <a:p>
            <a:pPr indent="0" marL="0">
              <a:buNone/>
            </a:pPr>
            <a:r>
              <a:rPr lang="en-US" sz="1000" b="1" spc="150" kern="0" dirty="0">
                <a:solidFill>
                  <a:schemeClr val="bg2"/>
                </a:solidFill>
                <a:latin typeface="Courier New" pitchFamily="34" charset="0"/>
                <a:ea typeface="Courier New" pitchFamily="34" charset="-122"/>
                <a:cs typeface="Courier New" pitchFamily="34" charset="-120"/>
              </a:rPr>
              <a:t>HONEST LABEL</a:t>
            </a:r>
            <a:endParaRPr lang="en-US" sz="1000" dirty="0"/>
          </a:p>
        </p:txBody>
      </p:sp>
      <p:sp>
        <p:nvSpPr>
          <p:cNvPr id="12" name="Text 9"/>
          <p:cNvSpPr txBox="1"/>
          <p:nvPr/>
        </p:nvSpPr>
        <p:spPr>
          <a:xfrm>
            <a:off x="8046720" y="4663440"/>
            <a:ext cx="3429000" cy="1371600"/>
          </a:xfrm>
          <a:prstGeom prst="rect">
            <a:avLst/>
          </a:prstGeom>
          <a:noFill/>
          <a:ln/>
        </p:spPr>
        <p:txBody>
          <a:bodyPr wrap="square" lIns="0" tIns="0" rIns="0" bIns="0" rtlCol="0" anchor="t"/>
          <a:lstStyle/>
          <a:p>
            <a:pPr indent="0" marL="0">
              <a:buNone/>
            </a:pPr>
            <a:r>
              <a:rPr lang="en-US" sz="1200" dirty="0">
                <a:solidFill>
                  <a:schemeClr val="bg2"/>
                </a:solidFill>
              </a:rPr>
              <a:t>This is a transparent greedy heuristic, not an optimisation guarantee. Employee PC is chosen mainly for low cost, though no predicted path uses it.</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bg1"/>
                </a:solidFill>
                <a:latin typeface="Calibri" pitchFamily="34" charset="0"/>
                <a:ea typeface="Calibri" pitchFamily="34" charset="-122"/>
                <a:cs typeface="Calibri" pitchFamily="34" charset="-120"/>
              </a:rPr>
              <a:t>What “AI” means in this project</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3017520"/>
                <a:gridCol w="3566160"/>
                <a:gridCol w="1828800"/>
                <a:gridCol w="2651760"/>
              </a:tblGrid>
              <a:tr h="402336">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Technique family</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Implemented as</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Status</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File</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402336">
                <a:tc>
                  <a:txBody>
                    <a:bodyPr/>
                    <a:lstStyle/>
                    <a:p>
                      <a:pPr algn="l" indent="0" marL="0">
                        <a:buNone/>
                      </a:pPr>
                      <a:r>
                        <a:rPr lang="en-US" sz="1200" dirty="0">
                          <a:solidFill>
                            <a:schemeClr val="bg1"/>
                          </a:solidFill>
                        </a:rPr>
                        <a:t>Graph search (uninformed / informed)</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BFS, DFS, UCS, A*</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accent5"/>
                          </a:solidFill>
                        </a:rPr>
                        <a:t>Implemented, tested</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ai/bfs.py … ai/astar.py</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402336">
                <a:tc>
                  <a:txBody>
                    <a:bodyPr/>
                    <a:lstStyle/>
                    <a:p>
                      <a:pPr algn="l" indent="0" marL="0">
                        <a:buNone/>
                      </a:pPr>
                      <a:r>
                        <a:rPr lang="en-US" sz="1200" dirty="0">
                          <a:solidFill>
                            <a:schemeClr val="bg1"/>
                          </a:solidFill>
                        </a:rPr>
                        <a:t>Intelligent agents</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Goal-based attacker, utility-based defender</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accent5"/>
                          </a:solidFill>
                        </a:rPr>
                        <a:t>Implemented, tested</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app/services/agents.py</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402336">
                <a:tc>
                  <a:txBody>
                    <a:bodyPr/>
                    <a:lstStyle/>
                    <a:p>
                      <a:pPr algn="l" indent="0" marL="0">
                        <a:buNone/>
                      </a:pPr>
                      <a:r>
                        <a:rPr lang="en-US" sz="1200" dirty="0">
                          <a:solidFill>
                            <a:schemeClr val="bg1"/>
                          </a:solidFill>
                        </a:rPr>
                        <a:t>Heuristic decision-making</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Greedy deception score</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accent5"/>
                          </a:solidFill>
                        </a:rPr>
                        <a:t>Implemented, tested</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ai/optimizer.py</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402336">
                <a:tc>
                  <a:txBody>
                    <a:bodyPr/>
                    <a:lstStyle/>
                    <a:p>
                      <a:pPr algn="l" indent="0" marL="0">
                        <a:buNone/>
                      </a:pPr>
                      <a:r>
                        <a:rPr lang="en-US" sz="1200" dirty="0">
                          <a:solidFill>
                            <a:schemeClr val="bg1"/>
                          </a:solidFill>
                        </a:rPr>
                        <a:t>Optimisation (local / evolutionary)</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Hill Climbing, Genetic Algorithm</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accent5"/>
                          </a:solidFill>
                        </a:rPr>
                        <a:t>Implemented, tested</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ai/hill_climbing.py, genetic.py</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402336">
                <a:tc>
                  <a:txBody>
                    <a:bodyPr/>
                    <a:lstStyle/>
                    <a:p>
                      <a:pPr algn="l" indent="0" marL="0">
                        <a:buNone/>
                      </a:pPr>
                      <a:r>
                        <a:rPr lang="en-US" sz="1200" dirty="0">
                          <a:solidFill>
                            <a:schemeClr val="bg1"/>
                          </a:solidFill>
                        </a:rPr>
                        <a:t>Adversarial search</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Minimax, Alpha-Beta on attacker-vs-defender game</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accent5"/>
                          </a:solidFill>
                        </a:rPr>
                        <a:t>Implemented, tested</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ai/minimax.py, alpha_beta.py</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402336">
                <a:tc>
                  <a:txBody>
                    <a:bodyPr/>
                    <a:lstStyle/>
                    <a:p>
                      <a:pPr algn="l" indent="0" marL="0">
                        <a:buNone/>
                      </a:pPr>
                      <a:r>
                        <a:rPr lang="en-US" sz="1200" dirty="0">
                          <a:solidFill>
                            <a:schemeClr val="bg1"/>
                          </a:solidFill>
                        </a:rPr>
                        <a:t>Probabilistic reasoning</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Sequential Bayes updates (assumed likelihoods)</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accent5"/>
                          </a:solidFill>
                        </a:rPr>
                        <a:t>Implemented, tested</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ai/bayesian.py</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402336">
                <a:tc>
                  <a:txBody>
                    <a:bodyPr/>
                    <a:lstStyle/>
                    <a:p>
                      <a:pPr algn="l" indent="0" marL="0">
                        <a:buNone/>
                      </a:pPr>
                      <a:r>
                        <a:rPr lang="en-US" sz="1200" dirty="0">
                          <a:solidFill>
                            <a:schemeClr val="bg1"/>
                          </a:solidFill>
                        </a:rPr>
                        <a:t>Classical planning</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STRIPS-style forward / backward search</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accent5"/>
                          </a:solidFill>
                        </a:rPr>
                        <a:t>Implemented, tested</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ai/planning.py</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402336">
                <a:tc>
                  <a:txBody>
                    <a:bodyPr/>
                    <a:lstStyle/>
                    <a:p>
                      <a:pPr algn="l" indent="0" marL="0">
                        <a:buNone/>
                      </a:pPr>
                      <a:r>
                        <a:rPr lang="en-US" sz="1200" b="1" dirty="0">
                          <a:solidFill>
                            <a:schemeClr val="bg1"/>
                          </a:solidFill>
                        </a:rPr>
                        <a:t>Machine learning</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No trained or learned model</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b="1" dirty="0">
                          <a:solidFill>
                            <a:schemeClr val="accent4"/>
                          </a:solidFill>
                        </a:rPr>
                        <a:t>NOT implemented</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bl>
          </a:graphicData>
        </a:graphic>
      </p:graphicFrame>
      <p:sp>
        <p:nvSpPr>
          <p:cNvPr id="4" name="Shape 1"/>
          <p:cNvSpPr/>
          <p:nvPr/>
        </p:nvSpPr>
        <p:spPr>
          <a:xfrm>
            <a:off x="548640" y="5257800"/>
            <a:ext cx="11064240" cy="868680"/>
          </a:xfrm>
          <a:prstGeom prst="roundRect">
            <a:avLst>
              <a:gd name="adj" fmla="val 6316"/>
            </a:avLst>
          </a:prstGeom>
          <a:solidFill>
            <a:schemeClr val="tx2"/>
          </a:solidFill>
          <a:ln w="9525">
            <a:solidFill>
              <a:schemeClr val="accent1"/>
            </a:solidFill>
            <a:prstDash val="solid"/>
          </a:ln>
        </p:spPr>
      </p:sp>
      <p:sp>
        <p:nvSpPr>
          <p:cNvPr id="5" name="Text 2"/>
          <p:cNvSpPr txBox="1"/>
          <p:nvPr/>
        </p:nvSpPr>
        <p:spPr>
          <a:xfrm>
            <a:off x="777240" y="5358384"/>
            <a:ext cx="10607040" cy="685800"/>
          </a:xfrm>
          <a:prstGeom prst="rect">
            <a:avLst/>
          </a:prstGeom>
          <a:noFill/>
          <a:ln/>
        </p:spPr>
        <p:txBody>
          <a:bodyPr wrap="square" lIns="0" tIns="0" rIns="0" bIns="0" rtlCol="0" anchor="t"/>
          <a:lstStyle/>
          <a:p>
            <a:pPr indent="0" marL="0">
              <a:buNone/>
            </a:pPr>
            <a:r>
              <a:rPr lang="en-US" sz="1400" dirty="0">
                <a:solidFill>
                  <a:schemeClr val="accent2"/>
                </a:solidFill>
              </a:rPr>
              <a:t>Why interpretable methods: every output can be traced to a formula, a search order or an assumption — essential when a security decision has to be justified and checked.</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bg1"/>
                </a:solidFill>
                <a:latin typeface="Calibri" pitchFamily="34" charset="0"/>
                <a:ea typeface="Calibri" pitchFamily="34" charset="-122"/>
                <a:cs typeface="Calibri" pitchFamily="34" charset="-120"/>
              </a:rPr>
              <a:t>End-to-end execution flow of one simulation</a:t>
            </a:r>
            <a:endParaRPr lang="en-US" sz="3000" dirty="0"/>
          </a:p>
        </p:txBody>
      </p:sp>
      <p:sp>
        <p:nvSpPr>
          <p:cNvPr id="3" name="Shape 1"/>
          <p:cNvSpPr/>
          <p:nvPr/>
        </p:nvSpPr>
        <p:spPr>
          <a:xfrm>
            <a:off x="548640" y="1417320"/>
            <a:ext cx="2514600" cy="1965960"/>
          </a:xfrm>
          <a:prstGeom prst="roundRect">
            <a:avLst>
              <a:gd name="adj" fmla="val 2791"/>
            </a:avLst>
          </a:prstGeom>
          <a:solidFill>
            <a:schemeClr val="tx2"/>
          </a:solidFill>
          <a:ln w="9525">
            <a:solidFill>
              <a:schemeClr val="accent6"/>
            </a:solidFill>
            <a:prstDash val="solid"/>
          </a:ln>
        </p:spPr>
      </p:sp>
      <p:sp>
        <p:nvSpPr>
          <p:cNvPr id="4" name="Text 2"/>
          <p:cNvSpPr txBox="1"/>
          <p:nvPr/>
        </p:nvSpPr>
        <p:spPr>
          <a:xfrm>
            <a:off x="713232" y="1527048"/>
            <a:ext cx="457200" cy="365760"/>
          </a:xfrm>
          <a:prstGeom prst="rect">
            <a:avLst/>
          </a:prstGeom>
          <a:noFill/>
          <a:ln/>
        </p:spPr>
        <p:txBody>
          <a:bodyPr wrap="square" lIns="0" tIns="0" rIns="0" bIns="0" rtlCol="0" anchor="t"/>
          <a:lstStyle/>
          <a:p>
            <a:pPr indent="0" marL="0">
              <a:buNone/>
            </a:pPr>
            <a:r>
              <a:rPr lang="en-US" sz="1800" b="1" dirty="0">
                <a:solidFill>
                  <a:schemeClr val="accent1"/>
                </a:solidFill>
                <a:latin typeface="Courier New" pitchFamily="34" charset="0"/>
                <a:ea typeface="Courier New" pitchFamily="34" charset="-122"/>
                <a:cs typeface="Courier New" pitchFamily="34" charset="-120"/>
              </a:rPr>
              <a:t>1</a:t>
            </a:r>
            <a:endParaRPr lang="en-US" sz="1800" dirty="0"/>
          </a:p>
        </p:txBody>
      </p:sp>
      <p:sp>
        <p:nvSpPr>
          <p:cNvPr id="5" name="Text 3"/>
          <p:cNvSpPr txBox="1"/>
          <p:nvPr/>
        </p:nvSpPr>
        <p:spPr>
          <a:xfrm>
            <a:off x="1143000" y="1554480"/>
            <a:ext cx="1828800" cy="320040"/>
          </a:xfrm>
          <a:prstGeom prst="rect">
            <a:avLst/>
          </a:prstGeom>
          <a:noFill/>
          <a:ln/>
        </p:spPr>
        <p:txBody>
          <a:bodyPr wrap="square" lIns="0" tIns="0" rIns="0" bIns="0" rtlCol="0" anchor="t"/>
          <a:lstStyle/>
          <a:p>
            <a:pPr indent="0" marL="0">
              <a:buNone/>
            </a:pPr>
            <a:r>
              <a:rPr lang="en-US" sz="1500" b="1" dirty="0">
                <a:solidFill>
                  <a:schemeClr val="bg1"/>
                </a:solidFill>
              </a:rPr>
              <a:t>User input</a:t>
            </a:r>
            <a:endParaRPr lang="en-US" sz="1500" dirty="0"/>
          </a:p>
        </p:txBody>
      </p:sp>
      <p:sp>
        <p:nvSpPr>
          <p:cNvPr id="6" name="Text 4"/>
          <p:cNvSpPr txBox="1"/>
          <p:nvPr/>
        </p:nvSpPr>
        <p:spPr>
          <a:xfrm>
            <a:off x="713232" y="1984248"/>
            <a:ext cx="2240280" cy="731520"/>
          </a:xfrm>
          <a:prstGeom prst="rect">
            <a:avLst/>
          </a:prstGeom>
          <a:noFill/>
          <a:ln/>
        </p:spPr>
        <p:txBody>
          <a:bodyPr wrap="square" lIns="0" tIns="0" rIns="0" bIns="0" rtlCol="0" anchor="t"/>
          <a:lstStyle/>
          <a:p>
            <a:pPr indent="0" marL="0">
              <a:buNone/>
            </a:pPr>
            <a:r>
              <a:rPr lang="en-US" sz="1300" dirty="0">
                <a:solidFill>
                  <a:schemeClr val="bg1"/>
                </a:solidFill>
              </a:rPr>
              <a:t>Run Simulation clicked</a:t>
            </a:r>
            <a:endParaRPr lang="en-US" sz="1300" dirty="0"/>
          </a:p>
        </p:txBody>
      </p:sp>
      <p:sp>
        <p:nvSpPr>
          <p:cNvPr id="7" name="Text 5"/>
          <p:cNvSpPr txBox="1"/>
          <p:nvPr/>
        </p:nvSpPr>
        <p:spPr>
          <a:xfrm>
            <a:off x="713232" y="2743200"/>
            <a:ext cx="2240280" cy="548640"/>
          </a:xfrm>
          <a:prstGeom prst="rect">
            <a:avLst/>
          </a:prstGeom>
          <a:noFill/>
          <a:ln/>
        </p:spPr>
        <p:txBody>
          <a:bodyPr wrap="square" lIns="0" tIns="0" rIns="0" bIns="0" rtlCol="0" anchor="t"/>
          <a:lstStyle/>
          <a:p>
            <a:pPr indent="0" marL="0">
              <a:buNone/>
            </a:pPr>
            <a:r>
              <a:rPr lang="en-US" sz="1000" dirty="0">
                <a:solidFill>
                  <a:schemeClr val="bg2"/>
                </a:solidFill>
                <a:latin typeface="Courier New" pitchFamily="34" charset="0"/>
                <a:ea typeface="Courier New" pitchFamily="34" charset="-122"/>
                <a:cs typeface="Courier New" pitchFamily="34" charset="-120"/>
              </a:rPr>
              <a:t>SimulationControls.tsx → SimulationPanel.handleRun</a:t>
            </a:r>
            <a:endParaRPr lang="en-US" sz="1000" dirty="0"/>
          </a:p>
        </p:txBody>
      </p:sp>
      <p:sp>
        <p:nvSpPr>
          <p:cNvPr id="8" name="Shape 6"/>
          <p:cNvSpPr/>
          <p:nvPr/>
        </p:nvSpPr>
        <p:spPr>
          <a:xfrm>
            <a:off x="3063240" y="2395728"/>
            <a:ext cx="320040" cy="914"/>
          </a:xfrm>
          <a:prstGeom prst="line">
            <a:avLst/>
          </a:prstGeom>
          <a:noFill/>
          <a:ln w="19050">
            <a:solidFill>
              <a:schemeClr val="accent1"/>
            </a:solidFill>
            <a:prstDash val="solid"/>
            <a:tailEnd type="triangle"/>
          </a:ln>
        </p:spPr>
      </p:sp>
      <p:sp>
        <p:nvSpPr>
          <p:cNvPr id="9" name="Shape 7"/>
          <p:cNvSpPr/>
          <p:nvPr/>
        </p:nvSpPr>
        <p:spPr>
          <a:xfrm>
            <a:off x="3383280" y="1417320"/>
            <a:ext cx="2514600" cy="1965960"/>
          </a:xfrm>
          <a:prstGeom prst="roundRect">
            <a:avLst>
              <a:gd name="adj" fmla="val 2791"/>
            </a:avLst>
          </a:prstGeom>
          <a:solidFill>
            <a:schemeClr val="tx2"/>
          </a:solidFill>
          <a:ln w="9525">
            <a:solidFill>
              <a:schemeClr val="accent6"/>
            </a:solidFill>
            <a:prstDash val="solid"/>
          </a:ln>
        </p:spPr>
      </p:sp>
      <p:sp>
        <p:nvSpPr>
          <p:cNvPr id="10" name="Text 8"/>
          <p:cNvSpPr txBox="1"/>
          <p:nvPr/>
        </p:nvSpPr>
        <p:spPr>
          <a:xfrm>
            <a:off x="3547872" y="1527048"/>
            <a:ext cx="457200" cy="365760"/>
          </a:xfrm>
          <a:prstGeom prst="rect">
            <a:avLst/>
          </a:prstGeom>
          <a:noFill/>
          <a:ln/>
        </p:spPr>
        <p:txBody>
          <a:bodyPr wrap="square" lIns="0" tIns="0" rIns="0" bIns="0" rtlCol="0" anchor="t"/>
          <a:lstStyle/>
          <a:p>
            <a:pPr indent="0" marL="0">
              <a:buNone/>
            </a:pPr>
            <a:r>
              <a:rPr lang="en-US" sz="1800" b="1" dirty="0">
                <a:solidFill>
                  <a:schemeClr val="accent1"/>
                </a:solidFill>
                <a:latin typeface="Courier New" pitchFamily="34" charset="0"/>
                <a:ea typeface="Courier New" pitchFamily="34" charset="-122"/>
                <a:cs typeface="Courier New" pitchFamily="34" charset="-120"/>
              </a:rPr>
              <a:t>2</a:t>
            </a:r>
            <a:endParaRPr lang="en-US" sz="1800" dirty="0"/>
          </a:p>
        </p:txBody>
      </p:sp>
      <p:sp>
        <p:nvSpPr>
          <p:cNvPr id="11" name="Text 9"/>
          <p:cNvSpPr txBox="1"/>
          <p:nvPr/>
        </p:nvSpPr>
        <p:spPr>
          <a:xfrm>
            <a:off x="3977640" y="1554480"/>
            <a:ext cx="1828800" cy="320040"/>
          </a:xfrm>
          <a:prstGeom prst="rect">
            <a:avLst/>
          </a:prstGeom>
          <a:noFill/>
          <a:ln/>
        </p:spPr>
        <p:txBody>
          <a:bodyPr wrap="square" lIns="0" tIns="0" rIns="0" bIns="0" rtlCol="0" anchor="t"/>
          <a:lstStyle/>
          <a:p>
            <a:pPr indent="0" marL="0">
              <a:buNone/>
            </a:pPr>
            <a:r>
              <a:rPr lang="en-US" sz="1500" b="1" dirty="0">
                <a:solidFill>
                  <a:schemeClr val="bg1"/>
                </a:solidFill>
              </a:rPr>
              <a:t>API request</a:t>
            </a:r>
            <a:endParaRPr lang="en-US" sz="1500" dirty="0"/>
          </a:p>
        </p:txBody>
      </p:sp>
      <p:sp>
        <p:nvSpPr>
          <p:cNvPr id="12" name="Text 10"/>
          <p:cNvSpPr txBox="1"/>
          <p:nvPr/>
        </p:nvSpPr>
        <p:spPr>
          <a:xfrm>
            <a:off x="3547872" y="1984248"/>
            <a:ext cx="2240280" cy="731520"/>
          </a:xfrm>
          <a:prstGeom prst="rect">
            <a:avLst/>
          </a:prstGeom>
          <a:noFill/>
          <a:ln/>
        </p:spPr>
        <p:txBody>
          <a:bodyPr wrap="square" lIns="0" tIns="0" rIns="0" bIns="0" rtlCol="0" anchor="t"/>
          <a:lstStyle/>
          <a:p>
            <a:pPr indent="0" marL="0">
              <a:buNone/>
            </a:pPr>
            <a:r>
              <a:rPr lang="en-US" sz="1300" dirty="0">
                <a:solidFill>
                  <a:schemeClr val="bg1"/>
                </a:solidFill>
              </a:rPr>
              <a:t>runSimulation() → POST /api/simulate</a:t>
            </a:r>
            <a:endParaRPr lang="en-US" sz="1300" dirty="0"/>
          </a:p>
        </p:txBody>
      </p:sp>
      <p:sp>
        <p:nvSpPr>
          <p:cNvPr id="13" name="Text 11"/>
          <p:cNvSpPr txBox="1"/>
          <p:nvPr/>
        </p:nvSpPr>
        <p:spPr>
          <a:xfrm>
            <a:off x="3547872" y="2743200"/>
            <a:ext cx="2240280" cy="548640"/>
          </a:xfrm>
          <a:prstGeom prst="rect">
            <a:avLst/>
          </a:prstGeom>
          <a:noFill/>
          <a:ln/>
        </p:spPr>
        <p:txBody>
          <a:bodyPr wrap="square" lIns="0" tIns="0" rIns="0" bIns="0" rtlCol="0" anchor="t"/>
          <a:lstStyle/>
          <a:p>
            <a:pPr indent="0" marL="0">
              <a:buNone/>
            </a:pPr>
            <a:r>
              <a:rPr lang="en-US" sz="1000" dirty="0">
                <a:solidFill>
                  <a:schemeClr val="bg2"/>
                </a:solidFill>
                <a:latin typeface="Courier New" pitchFamily="34" charset="0"/>
                <a:ea typeface="Courier New" pitchFamily="34" charset="-122"/>
                <a:cs typeface="Courier New" pitchFamily="34" charset="-120"/>
              </a:rPr>
              <a:t>frontend/src/api/client.ts</a:t>
            </a:r>
            <a:endParaRPr lang="en-US" sz="1000" dirty="0"/>
          </a:p>
        </p:txBody>
      </p:sp>
      <p:sp>
        <p:nvSpPr>
          <p:cNvPr id="14" name="Shape 12"/>
          <p:cNvSpPr/>
          <p:nvPr/>
        </p:nvSpPr>
        <p:spPr>
          <a:xfrm>
            <a:off x="5897880" y="2395728"/>
            <a:ext cx="320040" cy="914"/>
          </a:xfrm>
          <a:prstGeom prst="line">
            <a:avLst/>
          </a:prstGeom>
          <a:noFill/>
          <a:ln w="19050">
            <a:solidFill>
              <a:schemeClr val="accent1"/>
            </a:solidFill>
            <a:prstDash val="solid"/>
            <a:tailEnd type="triangle"/>
          </a:ln>
        </p:spPr>
      </p:sp>
      <p:sp>
        <p:nvSpPr>
          <p:cNvPr id="15" name="Shape 13"/>
          <p:cNvSpPr/>
          <p:nvPr/>
        </p:nvSpPr>
        <p:spPr>
          <a:xfrm>
            <a:off x="6217920" y="1417320"/>
            <a:ext cx="2514600" cy="1965960"/>
          </a:xfrm>
          <a:prstGeom prst="roundRect">
            <a:avLst>
              <a:gd name="adj" fmla="val 2791"/>
            </a:avLst>
          </a:prstGeom>
          <a:solidFill>
            <a:schemeClr val="tx2"/>
          </a:solidFill>
          <a:ln w="9525">
            <a:solidFill>
              <a:schemeClr val="accent6"/>
            </a:solidFill>
            <a:prstDash val="solid"/>
          </a:ln>
        </p:spPr>
      </p:sp>
      <p:sp>
        <p:nvSpPr>
          <p:cNvPr id="16" name="Text 14"/>
          <p:cNvSpPr txBox="1"/>
          <p:nvPr/>
        </p:nvSpPr>
        <p:spPr>
          <a:xfrm>
            <a:off x="6382512" y="1527048"/>
            <a:ext cx="457200" cy="365760"/>
          </a:xfrm>
          <a:prstGeom prst="rect">
            <a:avLst/>
          </a:prstGeom>
          <a:noFill/>
          <a:ln/>
        </p:spPr>
        <p:txBody>
          <a:bodyPr wrap="square" lIns="0" tIns="0" rIns="0" bIns="0" rtlCol="0" anchor="t"/>
          <a:lstStyle/>
          <a:p>
            <a:pPr indent="0" marL="0">
              <a:buNone/>
            </a:pPr>
            <a:r>
              <a:rPr lang="en-US" sz="1800" b="1" dirty="0">
                <a:solidFill>
                  <a:schemeClr val="accent1"/>
                </a:solidFill>
                <a:latin typeface="Courier New" pitchFamily="34" charset="0"/>
                <a:ea typeface="Courier New" pitchFamily="34" charset="-122"/>
                <a:cs typeface="Courier New" pitchFamily="34" charset="-120"/>
              </a:rPr>
              <a:t>3</a:t>
            </a:r>
            <a:endParaRPr lang="en-US" sz="1800" dirty="0"/>
          </a:p>
        </p:txBody>
      </p:sp>
      <p:sp>
        <p:nvSpPr>
          <p:cNvPr id="17" name="Text 15"/>
          <p:cNvSpPr txBox="1"/>
          <p:nvPr/>
        </p:nvSpPr>
        <p:spPr>
          <a:xfrm>
            <a:off x="6812280" y="1554480"/>
            <a:ext cx="1828800" cy="320040"/>
          </a:xfrm>
          <a:prstGeom prst="rect">
            <a:avLst/>
          </a:prstGeom>
          <a:noFill/>
          <a:ln/>
        </p:spPr>
        <p:txBody>
          <a:bodyPr wrap="square" lIns="0" tIns="0" rIns="0" bIns="0" rtlCol="0" anchor="t"/>
          <a:lstStyle/>
          <a:p>
            <a:pPr indent="0" marL="0">
              <a:buNone/>
            </a:pPr>
            <a:r>
              <a:rPr lang="en-US" sz="1500" b="1" dirty="0">
                <a:solidFill>
                  <a:schemeClr val="bg1"/>
                </a:solidFill>
              </a:rPr>
              <a:t>Validation</a:t>
            </a:r>
            <a:endParaRPr lang="en-US" sz="1500" dirty="0"/>
          </a:p>
        </p:txBody>
      </p:sp>
      <p:sp>
        <p:nvSpPr>
          <p:cNvPr id="18" name="Text 16"/>
          <p:cNvSpPr txBox="1"/>
          <p:nvPr/>
        </p:nvSpPr>
        <p:spPr>
          <a:xfrm>
            <a:off x="6382512" y="1984248"/>
            <a:ext cx="2240280" cy="731520"/>
          </a:xfrm>
          <a:prstGeom prst="rect">
            <a:avLst/>
          </a:prstGeom>
          <a:noFill/>
          <a:ln/>
        </p:spPr>
        <p:txBody>
          <a:bodyPr wrap="square" lIns="0" tIns="0" rIns="0" bIns="0" rtlCol="0" anchor="t"/>
          <a:lstStyle/>
          <a:p>
            <a:pPr indent="0" marL="0">
              <a:buNone/>
            </a:pPr>
            <a:r>
              <a:rPr lang="en-US" sz="1300" dirty="0">
                <a:solidFill>
                  <a:schemeClr val="bg1"/>
                </a:solidFill>
              </a:rPr>
              <a:t>Pydantic SimulationRequest</a:t>
            </a:r>
            <a:endParaRPr lang="en-US" sz="1300" dirty="0"/>
          </a:p>
        </p:txBody>
      </p:sp>
      <p:sp>
        <p:nvSpPr>
          <p:cNvPr id="19" name="Text 17"/>
          <p:cNvSpPr txBox="1"/>
          <p:nvPr/>
        </p:nvSpPr>
        <p:spPr>
          <a:xfrm>
            <a:off x="6382512" y="2743200"/>
            <a:ext cx="2240280" cy="548640"/>
          </a:xfrm>
          <a:prstGeom prst="rect">
            <a:avLst/>
          </a:prstGeom>
          <a:noFill/>
          <a:ln/>
        </p:spPr>
        <p:txBody>
          <a:bodyPr wrap="square" lIns="0" tIns="0" rIns="0" bIns="0" rtlCol="0" anchor="t"/>
          <a:lstStyle/>
          <a:p>
            <a:pPr indent="0" marL="0">
              <a:buNone/>
            </a:pPr>
            <a:r>
              <a:rPr lang="en-US" sz="1000" dirty="0">
                <a:solidFill>
                  <a:schemeClr val="bg2"/>
                </a:solidFill>
                <a:latin typeface="Courier New" pitchFamily="34" charset="0"/>
                <a:ea typeface="Courier New" pitchFamily="34" charset="-122"/>
                <a:cs typeface="Courier New" pitchFamily="34" charset="-120"/>
              </a:rPr>
              <a:t>algorithm enum, honeypot_count 0–5</a:t>
            </a:r>
            <a:endParaRPr lang="en-US" sz="1000" dirty="0"/>
          </a:p>
        </p:txBody>
      </p:sp>
      <p:sp>
        <p:nvSpPr>
          <p:cNvPr id="20" name="Shape 18"/>
          <p:cNvSpPr/>
          <p:nvPr/>
        </p:nvSpPr>
        <p:spPr>
          <a:xfrm>
            <a:off x="8732520" y="2395728"/>
            <a:ext cx="320040" cy="914"/>
          </a:xfrm>
          <a:prstGeom prst="line">
            <a:avLst/>
          </a:prstGeom>
          <a:noFill/>
          <a:ln w="19050">
            <a:solidFill>
              <a:schemeClr val="accent1"/>
            </a:solidFill>
            <a:prstDash val="solid"/>
            <a:tailEnd type="triangle"/>
          </a:ln>
        </p:spPr>
      </p:sp>
      <p:sp>
        <p:nvSpPr>
          <p:cNvPr id="21" name="Shape 19"/>
          <p:cNvSpPr/>
          <p:nvPr/>
        </p:nvSpPr>
        <p:spPr>
          <a:xfrm>
            <a:off x="9052560" y="1417320"/>
            <a:ext cx="2514600" cy="1965960"/>
          </a:xfrm>
          <a:prstGeom prst="roundRect">
            <a:avLst>
              <a:gd name="adj" fmla="val 2791"/>
            </a:avLst>
          </a:prstGeom>
          <a:solidFill>
            <a:schemeClr val="tx2"/>
          </a:solidFill>
          <a:ln w="9525">
            <a:solidFill>
              <a:schemeClr val="accent6"/>
            </a:solidFill>
            <a:prstDash val="solid"/>
          </a:ln>
        </p:spPr>
      </p:sp>
      <p:sp>
        <p:nvSpPr>
          <p:cNvPr id="22" name="Text 20"/>
          <p:cNvSpPr txBox="1"/>
          <p:nvPr/>
        </p:nvSpPr>
        <p:spPr>
          <a:xfrm>
            <a:off x="9217152" y="1527048"/>
            <a:ext cx="457200" cy="365760"/>
          </a:xfrm>
          <a:prstGeom prst="rect">
            <a:avLst/>
          </a:prstGeom>
          <a:noFill/>
          <a:ln/>
        </p:spPr>
        <p:txBody>
          <a:bodyPr wrap="square" lIns="0" tIns="0" rIns="0" bIns="0" rtlCol="0" anchor="t"/>
          <a:lstStyle/>
          <a:p>
            <a:pPr indent="0" marL="0">
              <a:buNone/>
            </a:pPr>
            <a:r>
              <a:rPr lang="en-US" sz="1800" b="1" dirty="0">
                <a:solidFill>
                  <a:schemeClr val="accent1"/>
                </a:solidFill>
                <a:latin typeface="Courier New" pitchFamily="34" charset="0"/>
                <a:ea typeface="Courier New" pitchFamily="34" charset="-122"/>
                <a:cs typeface="Courier New" pitchFamily="34" charset="-120"/>
              </a:rPr>
              <a:t>4</a:t>
            </a:r>
            <a:endParaRPr lang="en-US" sz="1800" dirty="0"/>
          </a:p>
        </p:txBody>
      </p:sp>
      <p:sp>
        <p:nvSpPr>
          <p:cNvPr id="23" name="Text 21"/>
          <p:cNvSpPr txBox="1"/>
          <p:nvPr/>
        </p:nvSpPr>
        <p:spPr>
          <a:xfrm>
            <a:off x="9646920" y="1554480"/>
            <a:ext cx="1828800" cy="320040"/>
          </a:xfrm>
          <a:prstGeom prst="rect">
            <a:avLst/>
          </a:prstGeom>
          <a:noFill/>
          <a:ln/>
        </p:spPr>
        <p:txBody>
          <a:bodyPr wrap="square" lIns="0" tIns="0" rIns="0" bIns="0" rtlCol="0" anchor="t"/>
          <a:lstStyle/>
          <a:p>
            <a:pPr indent="0" marL="0">
              <a:buNone/>
            </a:pPr>
            <a:r>
              <a:rPr lang="en-US" sz="1500" b="1" dirty="0">
                <a:solidFill>
                  <a:schemeClr val="bg1"/>
                </a:solidFill>
              </a:rPr>
              <a:t>Graph</a:t>
            </a:r>
            <a:endParaRPr lang="en-US" sz="1500" dirty="0"/>
          </a:p>
        </p:txBody>
      </p:sp>
      <p:sp>
        <p:nvSpPr>
          <p:cNvPr id="24" name="Text 22"/>
          <p:cNvSpPr txBox="1"/>
          <p:nvPr/>
        </p:nvSpPr>
        <p:spPr>
          <a:xfrm>
            <a:off x="9217152" y="1984248"/>
            <a:ext cx="2240280" cy="731520"/>
          </a:xfrm>
          <a:prstGeom prst="rect">
            <a:avLst/>
          </a:prstGeom>
          <a:noFill/>
          <a:ln/>
        </p:spPr>
        <p:txBody>
          <a:bodyPr wrap="square" lIns="0" tIns="0" rIns="0" bIns="0" rtlCol="0" anchor="t"/>
          <a:lstStyle/>
          <a:p>
            <a:pPr indent="0" marL="0">
              <a:buNone/>
            </a:pPr>
            <a:r>
              <a:rPr lang="en-US" sz="1300" dirty="0">
                <a:solidFill>
                  <a:schemeClr val="bg1"/>
                </a:solidFill>
              </a:rPr>
              <a:t>build_network() or graph_from_scenario()</a:t>
            </a:r>
            <a:endParaRPr lang="en-US" sz="1300" dirty="0"/>
          </a:p>
        </p:txBody>
      </p:sp>
      <p:sp>
        <p:nvSpPr>
          <p:cNvPr id="25" name="Text 23"/>
          <p:cNvSpPr txBox="1"/>
          <p:nvPr/>
        </p:nvSpPr>
        <p:spPr>
          <a:xfrm>
            <a:off x="9217152" y="2743200"/>
            <a:ext cx="2240280" cy="548640"/>
          </a:xfrm>
          <a:prstGeom prst="rect">
            <a:avLst/>
          </a:prstGeom>
          <a:noFill/>
          <a:ln/>
        </p:spPr>
        <p:txBody>
          <a:bodyPr wrap="square" lIns="0" tIns="0" rIns="0" bIns="0" rtlCol="0" anchor="t"/>
          <a:lstStyle/>
          <a:p>
            <a:pPr indent="0" marL="0">
              <a:buNone/>
            </a:pPr>
            <a:r>
              <a:rPr lang="en-US" sz="1000" dirty="0">
                <a:solidFill>
                  <a:schemeClr val="bg2"/>
                </a:solidFill>
                <a:latin typeface="Courier New" pitchFamily="34" charset="0"/>
                <a:ea typeface="Courier New" pitchFamily="34" charset="-122"/>
                <a:cs typeface="Courier New" pitchFamily="34" charset="-120"/>
              </a:rPr>
              <a:t>simulation_service.py</a:t>
            </a:r>
            <a:endParaRPr lang="en-US" sz="1000" dirty="0"/>
          </a:p>
        </p:txBody>
      </p:sp>
      <p:sp>
        <p:nvSpPr>
          <p:cNvPr id="26" name="Shape 24"/>
          <p:cNvSpPr/>
          <p:nvPr/>
        </p:nvSpPr>
        <p:spPr>
          <a:xfrm>
            <a:off x="548640" y="3794760"/>
            <a:ext cx="2514600" cy="1965960"/>
          </a:xfrm>
          <a:prstGeom prst="roundRect">
            <a:avLst>
              <a:gd name="adj" fmla="val 2791"/>
            </a:avLst>
          </a:prstGeom>
          <a:solidFill>
            <a:schemeClr val="tx2"/>
          </a:solidFill>
          <a:ln w="9525">
            <a:solidFill>
              <a:schemeClr val="accent1"/>
            </a:solidFill>
            <a:prstDash val="solid"/>
          </a:ln>
        </p:spPr>
      </p:sp>
      <p:sp>
        <p:nvSpPr>
          <p:cNvPr id="27" name="Text 25"/>
          <p:cNvSpPr txBox="1"/>
          <p:nvPr/>
        </p:nvSpPr>
        <p:spPr>
          <a:xfrm>
            <a:off x="713232" y="3904488"/>
            <a:ext cx="457200" cy="365760"/>
          </a:xfrm>
          <a:prstGeom prst="rect">
            <a:avLst/>
          </a:prstGeom>
          <a:noFill/>
          <a:ln/>
        </p:spPr>
        <p:txBody>
          <a:bodyPr wrap="square" lIns="0" tIns="0" rIns="0" bIns="0" rtlCol="0" anchor="t"/>
          <a:lstStyle/>
          <a:p>
            <a:pPr indent="0" marL="0">
              <a:buNone/>
            </a:pPr>
            <a:r>
              <a:rPr lang="en-US" sz="1800" b="1" dirty="0">
                <a:solidFill>
                  <a:schemeClr val="accent1"/>
                </a:solidFill>
                <a:latin typeface="Courier New" pitchFamily="34" charset="0"/>
                <a:ea typeface="Courier New" pitchFamily="34" charset="-122"/>
                <a:cs typeface="Courier New" pitchFamily="34" charset="-120"/>
              </a:rPr>
              <a:t>5</a:t>
            </a:r>
            <a:endParaRPr lang="en-US" sz="1800" dirty="0"/>
          </a:p>
        </p:txBody>
      </p:sp>
      <p:sp>
        <p:nvSpPr>
          <p:cNvPr id="28" name="Text 26"/>
          <p:cNvSpPr txBox="1"/>
          <p:nvPr/>
        </p:nvSpPr>
        <p:spPr>
          <a:xfrm>
            <a:off x="1143000" y="3931920"/>
            <a:ext cx="1828800" cy="320040"/>
          </a:xfrm>
          <a:prstGeom prst="rect">
            <a:avLst/>
          </a:prstGeom>
          <a:noFill/>
          <a:ln/>
        </p:spPr>
        <p:txBody>
          <a:bodyPr wrap="square" lIns="0" tIns="0" rIns="0" bIns="0" rtlCol="0" anchor="t"/>
          <a:lstStyle/>
          <a:p>
            <a:pPr indent="0" marL="0">
              <a:buNone/>
            </a:pPr>
            <a:r>
              <a:rPr lang="en-US" sz="1500" b="1" dirty="0">
                <a:solidFill>
                  <a:schemeClr val="bg1"/>
                </a:solidFill>
              </a:rPr>
              <a:t>Attacker</a:t>
            </a:r>
            <a:endParaRPr lang="en-US" sz="1500" dirty="0"/>
          </a:p>
        </p:txBody>
      </p:sp>
      <p:sp>
        <p:nvSpPr>
          <p:cNvPr id="29" name="Text 27"/>
          <p:cNvSpPr txBox="1"/>
          <p:nvPr/>
        </p:nvSpPr>
        <p:spPr>
          <a:xfrm>
            <a:off x="713232" y="4361688"/>
            <a:ext cx="2240280" cy="731520"/>
          </a:xfrm>
          <a:prstGeom prst="rect">
            <a:avLst/>
          </a:prstGeom>
          <a:noFill/>
          <a:ln/>
        </p:spPr>
        <p:txBody>
          <a:bodyPr wrap="square" lIns="0" tIns="0" rIns="0" bIns="0" rtlCol="0" anchor="t"/>
          <a:lstStyle/>
          <a:p>
            <a:pPr indent="0" marL="0">
              <a:buNone/>
            </a:pPr>
            <a:r>
              <a:rPr lang="en-US" sz="1300" dirty="0">
                <a:solidFill>
                  <a:schemeClr val="bg1"/>
                </a:solidFill>
              </a:rPr>
              <a:t>run_all_algorithms() + select_attacker_path()</a:t>
            </a:r>
            <a:endParaRPr lang="en-US" sz="1300" dirty="0"/>
          </a:p>
        </p:txBody>
      </p:sp>
      <p:sp>
        <p:nvSpPr>
          <p:cNvPr id="30" name="Text 28"/>
          <p:cNvSpPr txBox="1"/>
          <p:nvPr/>
        </p:nvSpPr>
        <p:spPr>
          <a:xfrm>
            <a:off x="713232" y="5120640"/>
            <a:ext cx="2240280" cy="548640"/>
          </a:xfrm>
          <a:prstGeom prst="rect">
            <a:avLst/>
          </a:prstGeom>
          <a:noFill/>
          <a:ln/>
        </p:spPr>
        <p:txBody>
          <a:bodyPr wrap="square" lIns="0" tIns="0" rIns="0" bIns="0" rtlCol="0" anchor="t"/>
          <a:lstStyle/>
          <a:p>
            <a:pPr indent="0" marL="0">
              <a:buNone/>
            </a:pPr>
            <a:r>
              <a:rPr lang="en-US" sz="1000" dirty="0">
                <a:solidFill>
                  <a:schemeClr val="bg2"/>
                </a:solidFill>
                <a:latin typeface="Courier New" pitchFamily="34" charset="0"/>
                <a:ea typeface="Courier New" pitchFamily="34" charset="-122"/>
                <a:cs typeface="Courier New" pitchFamily="34" charset="-120"/>
              </a:rPr>
              <a:t>ai/attacker.py</a:t>
            </a:r>
            <a:endParaRPr lang="en-US" sz="1000" dirty="0"/>
          </a:p>
        </p:txBody>
      </p:sp>
      <p:sp>
        <p:nvSpPr>
          <p:cNvPr id="31" name="Shape 29"/>
          <p:cNvSpPr/>
          <p:nvPr/>
        </p:nvSpPr>
        <p:spPr>
          <a:xfrm>
            <a:off x="3063240" y="4773168"/>
            <a:ext cx="320040" cy="914"/>
          </a:xfrm>
          <a:prstGeom prst="line">
            <a:avLst/>
          </a:prstGeom>
          <a:noFill/>
          <a:ln w="19050">
            <a:solidFill>
              <a:schemeClr val="accent1"/>
            </a:solidFill>
            <a:prstDash val="solid"/>
            <a:tailEnd type="triangle"/>
          </a:ln>
        </p:spPr>
      </p:sp>
      <p:sp>
        <p:nvSpPr>
          <p:cNvPr id="32" name="Shape 30"/>
          <p:cNvSpPr/>
          <p:nvPr/>
        </p:nvSpPr>
        <p:spPr>
          <a:xfrm>
            <a:off x="3383280" y="3794760"/>
            <a:ext cx="2514600" cy="1965960"/>
          </a:xfrm>
          <a:prstGeom prst="roundRect">
            <a:avLst>
              <a:gd name="adj" fmla="val 2791"/>
            </a:avLst>
          </a:prstGeom>
          <a:solidFill>
            <a:schemeClr val="tx2"/>
          </a:solidFill>
          <a:ln w="9525">
            <a:solidFill>
              <a:schemeClr val="accent1"/>
            </a:solidFill>
            <a:prstDash val="solid"/>
          </a:ln>
        </p:spPr>
      </p:sp>
      <p:sp>
        <p:nvSpPr>
          <p:cNvPr id="33" name="Text 31"/>
          <p:cNvSpPr txBox="1"/>
          <p:nvPr/>
        </p:nvSpPr>
        <p:spPr>
          <a:xfrm>
            <a:off x="3547872" y="3904488"/>
            <a:ext cx="457200" cy="365760"/>
          </a:xfrm>
          <a:prstGeom prst="rect">
            <a:avLst/>
          </a:prstGeom>
          <a:noFill/>
          <a:ln/>
        </p:spPr>
        <p:txBody>
          <a:bodyPr wrap="square" lIns="0" tIns="0" rIns="0" bIns="0" rtlCol="0" anchor="t"/>
          <a:lstStyle/>
          <a:p>
            <a:pPr indent="0" marL="0">
              <a:buNone/>
            </a:pPr>
            <a:r>
              <a:rPr lang="en-US" sz="1800" b="1" dirty="0">
                <a:solidFill>
                  <a:schemeClr val="accent1"/>
                </a:solidFill>
                <a:latin typeface="Courier New" pitchFamily="34" charset="0"/>
                <a:ea typeface="Courier New" pitchFamily="34" charset="-122"/>
                <a:cs typeface="Courier New" pitchFamily="34" charset="-120"/>
              </a:rPr>
              <a:t>6</a:t>
            </a:r>
            <a:endParaRPr lang="en-US" sz="1800" dirty="0"/>
          </a:p>
        </p:txBody>
      </p:sp>
      <p:sp>
        <p:nvSpPr>
          <p:cNvPr id="34" name="Text 32"/>
          <p:cNvSpPr txBox="1"/>
          <p:nvPr/>
        </p:nvSpPr>
        <p:spPr>
          <a:xfrm>
            <a:off x="3977640" y="3931920"/>
            <a:ext cx="1828800" cy="320040"/>
          </a:xfrm>
          <a:prstGeom prst="rect">
            <a:avLst/>
          </a:prstGeom>
          <a:noFill/>
          <a:ln/>
        </p:spPr>
        <p:txBody>
          <a:bodyPr wrap="square" lIns="0" tIns="0" rIns="0" bIns="0" rtlCol="0" anchor="t"/>
          <a:lstStyle/>
          <a:p>
            <a:pPr indent="0" marL="0">
              <a:buNone/>
            </a:pPr>
            <a:r>
              <a:rPr lang="en-US" sz="1500" b="1" dirty="0">
                <a:solidFill>
                  <a:schemeClr val="bg1"/>
                </a:solidFill>
              </a:rPr>
              <a:t>Defender</a:t>
            </a:r>
            <a:endParaRPr lang="en-US" sz="1500" dirty="0"/>
          </a:p>
        </p:txBody>
      </p:sp>
      <p:sp>
        <p:nvSpPr>
          <p:cNvPr id="35" name="Text 33"/>
          <p:cNvSpPr txBox="1"/>
          <p:nvPr/>
        </p:nvSpPr>
        <p:spPr>
          <a:xfrm>
            <a:off x="3547872" y="4361688"/>
            <a:ext cx="2240280" cy="731520"/>
          </a:xfrm>
          <a:prstGeom prst="rect">
            <a:avLst/>
          </a:prstGeom>
          <a:noFill/>
          <a:ln/>
        </p:spPr>
        <p:txBody>
          <a:bodyPr wrap="square" lIns="0" tIns="0" rIns="0" bIns="0" rtlCol="0" anchor="t"/>
          <a:lstStyle/>
          <a:p>
            <a:pPr indent="0" marL="0">
              <a:buNone/>
            </a:pPr>
            <a:r>
              <a:rPr lang="en-US" sz="1300" dirty="0">
                <a:solidFill>
                  <a:schemeClr val="bg1"/>
                </a:solidFill>
              </a:rPr>
              <a:t>plan_defense() → score_candidates()</a:t>
            </a:r>
            <a:endParaRPr lang="en-US" sz="1300" dirty="0"/>
          </a:p>
        </p:txBody>
      </p:sp>
      <p:sp>
        <p:nvSpPr>
          <p:cNvPr id="36" name="Text 34"/>
          <p:cNvSpPr txBox="1"/>
          <p:nvPr/>
        </p:nvSpPr>
        <p:spPr>
          <a:xfrm>
            <a:off x="3547872" y="5120640"/>
            <a:ext cx="2240280" cy="548640"/>
          </a:xfrm>
          <a:prstGeom prst="rect">
            <a:avLst/>
          </a:prstGeom>
          <a:noFill/>
          <a:ln/>
        </p:spPr>
        <p:txBody>
          <a:bodyPr wrap="square" lIns="0" tIns="0" rIns="0" bIns="0" rtlCol="0" anchor="t"/>
          <a:lstStyle/>
          <a:p>
            <a:pPr indent="0" marL="0">
              <a:buNone/>
            </a:pPr>
            <a:r>
              <a:rPr lang="en-US" sz="1000" dirty="0">
                <a:solidFill>
                  <a:schemeClr val="bg2"/>
                </a:solidFill>
                <a:latin typeface="Courier New" pitchFamily="34" charset="0"/>
                <a:ea typeface="Courier New" pitchFamily="34" charset="-122"/>
                <a:cs typeface="Courier New" pitchFamily="34" charset="-120"/>
              </a:rPr>
              <a:t>ai/defender.py, ai/optimizer.py</a:t>
            </a:r>
            <a:endParaRPr lang="en-US" sz="1000" dirty="0"/>
          </a:p>
        </p:txBody>
      </p:sp>
      <p:sp>
        <p:nvSpPr>
          <p:cNvPr id="37" name="Shape 35"/>
          <p:cNvSpPr/>
          <p:nvPr/>
        </p:nvSpPr>
        <p:spPr>
          <a:xfrm>
            <a:off x="5897880" y="4773168"/>
            <a:ext cx="320040" cy="914"/>
          </a:xfrm>
          <a:prstGeom prst="line">
            <a:avLst/>
          </a:prstGeom>
          <a:noFill/>
          <a:ln w="19050">
            <a:solidFill>
              <a:schemeClr val="accent1"/>
            </a:solidFill>
            <a:prstDash val="solid"/>
            <a:tailEnd type="triangle"/>
          </a:ln>
        </p:spPr>
      </p:sp>
      <p:sp>
        <p:nvSpPr>
          <p:cNvPr id="38" name="Shape 36"/>
          <p:cNvSpPr/>
          <p:nvPr/>
        </p:nvSpPr>
        <p:spPr>
          <a:xfrm>
            <a:off x="6217920" y="3794760"/>
            <a:ext cx="2514600" cy="1965960"/>
          </a:xfrm>
          <a:prstGeom prst="roundRect">
            <a:avLst>
              <a:gd name="adj" fmla="val 2791"/>
            </a:avLst>
          </a:prstGeom>
          <a:solidFill>
            <a:schemeClr val="tx2"/>
          </a:solidFill>
          <a:ln w="9525">
            <a:solidFill>
              <a:schemeClr val="accent6"/>
            </a:solidFill>
            <a:prstDash val="solid"/>
          </a:ln>
        </p:spPr>
      </p:sp>
      <p:sp>
        <p:nvSpPr>
          <p:cNvPr id="39" name="Text 37"/>
          <p:cNvSpPr txBox="1"/>
          <p:nvPr/>
        </p:nvSpPr>
        <p:spPr>
          <a:xfrm>
            <a:off x="6382512" y="3904488"/>
            <a:ext cx="457200" cy="365760"/>
          </a:xfrm>
          <a:prstGeom prst="rect">
            <a:avLst/>
          </a:prstGeom>
          <a:noFill/>
          <a:ln/>
        </p:spPr>
        <p:txBody>
          <a:bodyPr wrap="square" lIns="0" tIns="0" rIns="0" bIns="0" rtlCol="0" anchor="t"/>
          <a:lstStyle/>
          <a:p>
            <a:pPr indent="0" marL="0">
              <a:buNone/>
            </a:pPr>
            <a:r>
              <a:rPr lang="en-US" sz="1800" b="1" dirty="0">
                <a:solidFill>
                  <a:schemeClr val="accent1"/>
                </a:solidFill>
                <a:latin typeface="Courier New" pitchFamily="34" charset="0"/>
                <a:ea typeface="Courier New" pitchFamily="34" charset="-122"/>
                <a:cs typeface="Courier New" pitchFamily="34" charset="-120"/>
              </a:rPr>
              <a:t>7</a:t>
            </a:r>
            <a:endParaRPr lang="en-US" sz="1800" dirty="0"/>
          </a:p>
        </p:txBody>
      </p:sp>
      <p:sp>
        <p:nvSpPr>
          <p:cNvPr id="40" name="Text 38"/>
          <p:cNvSpPr txBox="1"/>
          <p:nvPr/>
        </p:nvSpPr>
        <p:spPr>
          <a:xfrm>
            <a:off x="6812280" y="3931920"/>
            <a:ext cx="1828800" cy="320040"/>
          </a:xfrm>
          <a:prstGeom prst="rect">
            <a:avLst/>
          </a:prstGeom>
          <a:noFill/>
          <a:ln/>
        </p:spPr>
        <p:txBody>
          <a:bodyPr wrap="square" lIns="0" tIns="0" rIns="0" bIns="0" rtlCol="0" anchor="t"/>
          <a:lstStyle/>
          <a:p>
            <a:pPr indent="0" marL="0">
              <a:buNone/>
            </a:pPr>
            <a:r>
              <a:rPr lang="en-US" sz="1500" b="1" dirty="0">
                <a:solidFill>
                  <a:schemeClr val="bg1"/>
                </a:solidFill>
              </a:rPr>
              <a:t>Outcome</a:t>
            </a:r>
            <a:endParaRPr lang="en-US" sz="1500" dirty="0"/>
          </a:p>
        </p:txBody>
      </p:sp>
      <p:sp>
        <p:nvSpPr>
          <p:cNvPr id="41" name="Text 39"/>
          <p:cNvSpPr txBox="1"/>
          <p:nvPr/>
        </p:nvSpPr>
        <p:spPr>
          <a:xfrm>
            <a:off x="6382512" y="4361688"/>
            <a:ext cx="2240280" cy="731520"/>
          </a:xfrm>
          <a:prstGeom prst="rect">
            <a:avLst/>
          </a:prstGeom>
          <a:noFill/>
          <a:ln/>
        </p:spPr>
        <p:txBody>
          <a:bodyPr wrap="square" lIns="0" tIns="0" rIns="0" bIns="0" rtlCol="0" anchor="t"/>
          <a:lstStyle/>
          <a:p>
            <a:pPr indent="0" marL="0">
              <a:buNone/>
            </a:pPr>
            <a:r>
              <a:rPr lang="en-US" sz="1300" dirty="0">
                <a:solidFill>
                  <a:schemeClr val="bg1"/>
                </a:solidFill>
              </a:rPr>
              <a:t>evaluate_interception() · alternative_paths() · explanations</a:t>
            </a:r>
            <a:endParaRPr lang="en-US" sz="1300" dirty="0"/>
          </a:p>
        </p:txBody>
      </p:sp>
      <p:sp>
        <p:nvSpPr>
          <p:cNvPr id="42" name="Text 40"/>
          <p:cNvSpPr txBox="1"/>
          <p:nvPr/>
        </p:nvSpPr>
        <p:spPr>
          <a:xfrm>
            <a:off x="6382512" y="5120640"/>
            <a:ext cx="2240280" cy="548640"/>
          </a:xfrm>
          <a:prstGeom prst="rect">
            <a:avLst/>
          </a:prstGeom>
          <a:noFill/>
          <a:ln/>
        </p:spPr>
        <p:txBody>
          <a:bodyPr wrap="square" lIns="0" tIns="0" rIns="0" bIns="0" rtlCol="0" anchor="t"/>
          <a:lstStyle/>
          <a:p>
            <a:pPr indent="0" marL="0">
              <a:buNone/>
            </a:pPr>
            <a:r>
              <a:rPr lang="en-US" sz="1000" dirty="0">
                <a:solidFill>
                  <a:schemeClr val="bg2"/>
                </a:solidFill>
                <a:latin typeface="Courier New" pitchFamily="34" charset="0"/>
                <a:ea typeface="Courier New" pitchFamily="34" charset="-122"/>
                <a:cs typeface="Courier New" pitchFamily="34" charset="-120"/>
              </a:rPr>
              <a:t>SimulationResponse JSON</a:t>
            </a:r>
            <a:endParaRPr lang="en-US" sz="1000" dirty="0"/>
          </a:p>
        </p:txBody>
      </p:sp>
      <p:sp>
        <p:nvSpPr>
          <p:cNvPr id="43" name="Shape 41"/>
          <p:cNvSpPr/>
          <p:nvPr/>
        </p:nvSpPr>
        <p:spPr>
          <a:xfrm>
            <a:off x="8732520" y="4773168"/>
            <a:ext cx="320040" cy="914"/>
          </a:xfrm>
          <a:prstGeom prst="line">
            <a:avLst/>
          </a:prstGeom>
          <a:noFill/>
          <a:ln w="19050">
            <a:solidFill>
              <a:schemeClr val="accent1"/>
            </a:solidFill>
            <a:prstDash val="solid"/>
            <a:tailEnd type="triangle"/>
          </a:ln>
        </p:spPr>
      </p:sp>
      <p:sp>
        <p:nvSpPr>
          <p:cNvPr id="44" name="Shape 42"/>
          <p:cNvSpPr/>
          <p:nvPr/>
        </p:nvSpPr>
        <p:spPr>
          <a:xfrm>
            <a:off x="9052560" y="3794760"/>
            <a:ext cx="2514600" cy="1965960"/>
          </a:xfrm>
          <a:prstGeom prst="roundRect">
            <a:avLst>
              <a:gd name="adj" fmla="val 2791"/>
            </a:avLst>
          </a:prstGeom>
          <a:solidFill>
            <a:schemeClr val="tx2"/>
          </a:solidFill>
          <a:ln w="9525">
            <a:solidFill>
              <a:schemeClr val="accent6"/>
            </a:solidFill>
            <a:prstDash val="solid"/>
          </a:ln>
        </p:spPr>
      </p:sp>
      <p:sp>
        <p:nvSpPr>
          <p:cNvPr id="45" name="Text 43"/>
          <p:cNvSpPr txBox="1"/>
          <p:nvPr/>
        </p:nvSpPr>
        <p:spPr>
          <a:xfrm>
            <a:off x="9217152" y="3904488"/>
            <a:ext cx="457200" cy="365760"/>
          </a:xfrm>
          <a:prstGeom prst="rect">
            <a:avLst/>
          </a:prstGeom>
          <a:noFill/>
          <a:ln/>
        </p:spPr>
        <p:txBody>
          <a:bodyPr wrap="square" lIns="0" tIns="0" rIns="0" bIns="0" rtlCol="0" anchor="t"/>
          <a:lstStyle/>
          <a:p>
            <a:pPr indent="0" marL="0">
              <a:buNone/>
            </a:pPr>
            <a:r>
              <a:rPr lang="en-US" sz="1800" b="1" dirty="0">
                <a:solidFill>
                  <a:schemeClr val="accent1"/>
                </a:solidFill>
                <a:latin typeface="Courier New" pitchFamily="34" charset="0"/>
                <a:ea typeface="Courier New" pitchFamily="34" charset="-122"/>
                <a:cs typeface="Courier New" pitchFamily="34" charset="-120"/>
              </a:rPr>
              <a:t>8</a:t>
            </a:r>
            <a:endParaRPr lang="en-US" sz="1800" dirty="0"/>
          </a:p>
        </p:txBody>
      </p:sp>
      <p:sp>
        <p:nvSpPr>
          <p:cNvPr id="46" name="Text 44"/>
          <p:cNvSpPr txBox="1"/>
          <p:nvPr/>
        </p:nvSpPr>
        <p:spPr>
          <a:xfrm>
            <a:off x="9646920" y="3931920"/>
            <a:ext cx="1828800" cy="320040"/>
          </a:xfrm>
          <a:prstGeom prst="rect">
            <a:avLst/>
          </a:prstGeom>
          <a:noFill/>
          <a:ln/>
        </p:spPr>
        <p:txBody>
          <a:bodyPr wrap="square" lIns="0" tIns="0" rIns="0" bIns="0" rtlCol="0" anchor="t"/>
          <a:lstStyle/>
          <a:p>
            <a:pPr indent="0" marL="0">
              <a:buNone/>
            </a:pPr>
            <a:r>
              <a:rPr lang="en-US" sz="1500" b="1" dirty="0">
                <a:solidFill>
                  <a:schemeClr val="bg1"/>
                </a:solidFill>
              </a:rPr>
              <a:t>Render</a:t>
            </a:r>
            <a:endParaRPr lang="en-US" sz="1500" dirty="0"/>
          </a:p>
        </p:txBody>
      </p:sp>
      <p:sp>
        <p:nvSpPr>
          <p:cNvPr id="47" name="Text 45"/>
          <p:cNvSpPr txBox="1"/>
          <p:nvPr/>
        </p:nvSpPr>
        <p:spPr>
          <a:xfrm>
            <a:off x="9217152" y="4361688"/>
            <a:ext cx="2240280" cy="731520"/>
          </a:xfrm>
          <a:prstGeom prst="rect">
            <a:avLst/>
          </a:prstGeom>
          <a:noFill/>
          <a:ln/>
        </p:spPr>
        <p:txBody>
          <a:bodyPr wrap="square" lIns="0" tIns="0" rIns="0" bIns="0" rtlCol="0" anchor="t"/>
          <a:lstStyle/>
          <a:p>
            <a:pPr indent="0" marL="0">
              <a:buNone/>
            </a:pPr>
            <a:r>
              <a:rPr lang="en-US" sz="1300" dirty="0">
                <a:solidFill>
                  <a:schemeClr val="bg1"/>
                </a:solidFill>
              </a:rPr>
              <a:t>ResultPanel + NetworkGraph + Dashboard</a:t>
            </a:r>
            <a:endParaRPr lang="en-US" sz="1300" dirty="0"/>
          </a:p>
        </p:txBody>
      </p:sp>
      <p:sp>
        <p:nvSpPr>
          <p:cNvPr id="48" name="Text 46"/>
          <p:cNvSpPr txBox="1"/>
          <p:nvPr/>
        </p:nvSpPr>
        <p:spPr>
          <a:xfrm>
            <a:off x="9217152" y="5120640"/>
            <a:ext cx="2240280" cy="548640"/>
          </a:xfrm>
          <a:prstGeom prst="rect">
            <a:avLst/>
          </a:prstGeom>
          <a:noFill/>
          <a:ln/>
        </p:spPr>
        <p:txBody>
          <a:bodyPr wrap="square" lIns="0" tIns="0" rIns="0" bIns="0" rtlCol="0" anchor="t"/>
          <a:lstStyle/>
          <a:p>
            <a:pPr indent="0" marL="0">
              <a:buNone/>
            </a:pPr>
            <a:r>
              <a:rPr lang="en-US" sz="1000" dirty="0">
                <a:solidFill>
                  <a:schemeClr val="bg2"/>
                </a:solidFill>
                <a:latin typeface="Courier New" pitchFamily="34" charset="0"/>
                <a:ea typeface="Courier New" pitchFamily="34" charset="-122"/>
                <a:cs typeface="Courier New" pitchFamily="34" charset="-120"/>
              </a:rPr>
              <a:t>gold route, decoys, scores</a:t>
            </a:r>
            <a:endParaRPr lang="en-US" sz="1000" dirty="0"/>
          </a:p>
        </p:txBody>
      </p:sp>
      <p:sp>
        <p:nvSpPr>
          <p:cNvPr id="49" name="Shape 47"/>
          <p:cNvSpPr/>
          <p:nvPr/>
        </p:nvSpPr>
        <p:spPr>
          <a:xfrm flipV="1">
            <a:off x="1801368" y="3383280"/>
            <a:ext cx="8503920" cy="411480"/>
          </a:xfrm>
          <a:prstGeom prst="line">
            <a:avLst/>
          </a:prstGeom>
          <a:noFill/>
          <a:ln w="12700">
            <a:solidFill>
              <a:schemeClr val="accent6"/>
            </a:solidFill>
            <a:prstDash val="dash"/>
            <a:tailEnd type="triangle"/>
          </a:ln>
        </p:spPr>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bg1"/>
                </a:solidFill>
                <a:latin typeface="Calibri" pitchFamily="34" charset="0"/>
                <a:ea typeface="Calibri" pitchFamily="34" charset="-122"/>
                <a:cs typeface="Calibri" pitchFamily="34" charset="-120"/>
              </a:rPr>
              <a:t>Application walkthrough: attack path analysis</a:t>
            </a:r>
            <a:endParaRPr lang="en-US" sz="3000" dirty="0"/>
          </a:p>
        </p:txBody>
      </p:sp>
      <p:pic>
        <p:nvPicPr>
          <p:cNvPr id="3" name="Image 0" descr="C:\Users\Jahnavi\AppData\Local\Temp\claude\D--cyber-deception-ai\95aac7b6-75a2-494c-bb70-9e76fbec4776\scratchpad\deck\crops\02_attack_path_workspace.jpg">    </p:cNvPr>
          <p:cNvPicPr>
            <a:picLocks noChangeAspect="1"/>
          </p:cNvPicPr>
          <p:nvPr/>
        </p:nvPicPr>
        <p:blipFill>
          <a:blip r:embed="rId1"/>
          <a:stretch>
            <a:fillRect/>
          </a:stretch>
        </p:blipFill>
        <p:spPr>
          <a:xfrm>
            <a:off x="548640" y="1280160"/>
            <a:ext cx="6537960" cy="4343400"/>
          </a:xfrm>
          <a:prstGeom prst="rect">
            <a:avLst/>
          </a:prstGeom>
        </p:spPr>
      </p:pic>
      <p:pic>
        <p:nvPicPr>
          <p:cNvPr id="4" name="Image 1" descr="C:\Users\Jahnavi\AppData\Local\Temp\claude\D--cyber-deception-ai\95aac7b6-75a2-494c-bb70-9e76fbec4776\scratchpad\deck\crops\03_attack_path_results.jpg">    </p:cNvPr>
          <p:cNvPicPr>
            <a:picLocks noChangeAspect="1"/>
          </p:cNvPicPr>
          <p:nvPr/>
        </p:nvPicPr>
        <p:blipFill>
          <a:blip r:embed="rId2"/>
          <a:stretch>
            <a:fillRect/>
          </a:stretch>
        </p:blipFill>
        <p:spPr>
          <a:xfrm>
            <a:off x="7315200" y="1280160"/>
            <a:ext cx="4297680" cy="2889504"/>
          </a:xfrm>
          <a:prstGeom prst="rect">
            <a:avLst/>
          </a:prstGeom>
        </p:spPr>
      </p:pic>
      <p:sp>
        <p:nvSpPr>
          <p:cNvPr id="5" name="Text 1"/>
          <p:cNvSpPr txBox="1"/>
          <p:nvPr/>
        </p:nvSpPr>
        <p:spPr>
          <a:xfrm>
            <a:off x="548640" y="5715000"/>
            <a:ext cx="6537960" cy="274320"/>
          </a:xfrm>
          <a:prstGeom prst="rect">
            <a:avLst/>
          </a:prstGeom>
          <a:noFill/>
          <a:ln/>
        </p:spPr>
        <p:txBody>
          <a:bodyPr wrap="square" lIns="0" tIns="0" rIns="0" bIns="0" rtlCol="0" anchor="t"/>
          <a:lstStyle/>
          <a:p>
            <a:pPr indent="0" marL="0">
              <a:buNone/>
            </a:pPr>
            <a:r>
              <a:rPr lang="en-US" sz="1100" i="1" dirty="0">
                <a:solidFill>
                  <a:schemeClr val="bg2"/>
                </a:solidFill>
              </a:rPr>
              <a:t>Real screenshots of the running app (local Vite + Docker backend, 2026-10-21).</a:t>
            </a:r>
            <a:endParaRPr lang="en-US" sz="1100" dirty="0"/>
          </a:p>
        </p:txBody>
      </p:sp>
      <p:sp>
        <p:nvSpPr>
          <p:cNvPr id="6" name="Text 2"/>
          <p:cNvSpPr txBox="1"/>
          <p:nvPr/>
        </p:nvSpPr>
        <p:spPr>
          <a:xfrm>
            <a:off x="7315200" y="4389120"/>
            <a:ext cx="4297680" cy="1737360"/>
          </a:xfrm>
          <a:prstGeom prst="rect">
            <a:avLst/>
          </a:prstGeom>
          <a:noFill/>
          <a:ln/>
        </p:spPr>
        <p:txBody>
          <a:bodyPr wrap="square" lIns="0" tIns="0" rIns="0" bIns="0" rtlCol="0" anchor="t"/>
          <a:lstStyle/>
          <a:p>
            <a:pPr marL="203200" indent="-203200">
              <a:spcAft>
                <a:spcPts val="600"/>
              </a:spcAft>
              <a:buSzPct val="100000"/>
              <a:buChar char="•"/>
            </a:pPr>
            <a:r>
              <a:rPr lang="en-US" sz="1300" b="1" dirty="0">
                <a:solidFill>
                  <a:schemeClr val="accent2"/>
                </a:solidFill>
              </a:rPr>
              <a:t>Left: </a:t>
            </a:r>
            <a:pPr indent="0" marL="0">
              <a:buNone/>
            </a:pPr>
            <a:r>
              <a:rPr lang="en-US" sz="1300" dirty="0">
                <a:solidFill>
                  <a:schemeClr val="bg1"/>
                </a:solidFill>
              </a:rPr>
              <a:t>configuration panel, graph with the A* route in gold and decoys tagged</a:t>
            </a:r>
            <a:endParaRPr lang="en-US" sz="1300" dirty="0"/>
          </a:p>
          <a:p>
            <a:pPr marL="203200" indent="-203200">
              <a:spcAft>
                <a:spcPts val="600"/>
              </a:spcAft>
              <a:buSzPct val="100000"/>
              <a:buChar char="•"/>
            </a:pPr>
            <a:r>
              <a:rPr lang="en-US" sz="1300" b="1" dirty="0">
                <a:solidFill>
                  <a:schemeClr val="accent2"/>
                </a:solidFill>
              </a:rPr>
              <a:t>Right: </a:t>
            </a:r>
            <a:pPr indent="0" marL="0">
              <a:buNone/>
            </a:pPr>
            <a:r>
              <a:rPr lang="en-US" sz="1300" dirty="0">
                <a:solidFill>
                  <a:schemeClr val="bg1"/>
                </a:solidFill>
              </a:rPr>
              <a:t>result — cost 8, 7 nodes explored, intercepted at Web Server (step 1), score table</a:t>
            </a:r>
            <a:endParaRPr lang="en-US" sz="1300" dirty="0"/>
          </a:p>
          <a:p>
            <a:pPr marL="203200" indent="-203200">
              <a:spcAft>
                <a:spcPts val="600"/>
              </a:spcAft>
              <a:buSzPct val="100000"/>
              <a:buChar char="•"/>
            </a:pPr>
            <a:r>
              <a:rPr lang="en-US" sz="1300" b="1" dirty="0">
                <a:solidFill>
                  <a:schemeClr val="accent2"/>
                </a:solidFill>
              </a:rPr>
              <a:t>Evidence: </a:t>
            </a:r>
            <a:pPr indent="0" marL="0">
              <a:buNone/>
            </a:pPr>
            <a:r>
              <a:rPr lang="en-US" sz="1300" dirty="0">
                <a:solidFill>
                  <a:schemeClr val="bg1"/>
                </a:solidFill>
              </a:rPr>
              <a:t>values match the API output and the tests</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bg1"/>
                </a:solidFill>
                <a:latin typeface="Calibri" pitchFamily="34" charset="0"/>
                <a:ea typeface="Calibri" pitchFamily="34" charset="-122"/>
                <a:cs typeface="Calibri" pitchFamily="34" charset="-120"/>
              </a:rPr>
              <a:t>Application walkthrough: placement and topology</a:t>
            </a:r>
            <a:endParaRPr lang="en-US" sz="3000" dirty="0"/>
          </a:p>
        </p:txBody>
      </p:sp>
      <p:pic>
        <p:nvPicPr>
          <p:cNvPr id="3" name="Image 0" descr="C:\Users\Jahnavi\AppData\Local\Temp\claude\D--cyber-deception-ai\95aac7b6-75a2-494c-bb70-9e76fbec4776\scratchpad\deck\crops\07_honeypot_method_comparison.jpg">    </p:cNvPr>
          <p:cNvPicPr>
            <a:picLocks noChangeAspect="1"/>
          </p:cNvPicPr>
          <p:nvPr/>
        </p:nvPicPr>
        <p:blipFill>
          <a:blip r:embed="rId1"/>
          <a:stretch>
            <a:fillRect/>
          </a:stretch>
        </p:blipFill>
        <p:spPr>
          <a:xfrm>
            <a:off x="548640" y="1417320"/>
            <a:ext cx="5212080" cy="2130552"/>
          </a:xfrm>
          <a:prstGeom prst="rect">
            <a:avLst/>
          </a:prstGeom>
        </p:spPr>
      </p:pic>
      <p:pic>
        <p:nvPicPr>
          <p:cNvPr id="4" name="Image 1" descr="C:\Users\Jahnavi\AppData\Local\Temp\claude\D--cyber-deception-ai\95aac7b6-75a2-494c-bb70-9e76fbec4776\scratchpad\deck\crops\05_network_topology_inspector.jpg">    </p:cNvPr>
          <p:cNvPicPr>
            <a:picLocks noChangeAspect="1"/>
          </p:cNvPicPr>
          <p:nvPr/>
        </p:nvPicPr>
        <p:blipFill>
          <a:blip r:embed="rId2"/>
          <a:stretch>
            <a:fillRect/>
          </a:stretch>
        </p:blipFill>
        <p:spPr>
          <a:xfrm>
            <a:off x="5989320" y="1280160"/>
            <a:ext cx="5623560" cy="3383280"/>
          </a:xfrm>
          <a:prstGeom prst="rect">
            <a:avLst/>
          </a:prstGeom>
        </p:spPr>
      </p:pic>
      <p:sp>
        <p:nvSpPr>
          <p:cNvPr id="5" name="Text 1"/>
          <p:cNvSpPr txBox="1"/>
          <p:nvPr/>
        </p:nvSpPr>
        <p:spPr>
          <a:xfrm>
            <a:off x="548640" y="3639312"/>
            <a:ext cx="5212080" cy="274320"/>
          </a:xfrm>
          <a:prstGeom prst="rect">
            <a:avLst/>
          </a:prstGeom>
          <a:noFill/>
          <a:ln/>
        </p:spPr>
        <p:txBody>
          <a:bodyPr wrap="square" lIns="0" tIns="0" rIns="0" bIns="0" rtlCol="0" anchor="t"/>
          <a:lstStyle/>
          <a:p>
            <a:pPr indent="0" marL="0">
              <a:buNone/>
            </a:pPr>
            <a:r>
              <a:rPr lang="en-US" sz="1100" i="1" dirty="0">
                <a:solidFill>
                  <a:schemeClr val="bg2"/>
                </a:solidFill>
              </a:rPr>
              <a:t>Honeypot Placement: greedy vs Hill Climbing vs Genetic Algorithm on the same scenario.</a:t>
            </a:r>
            <a:endParaRPr lang="en-US" sz="1100" dirty="0"/>
          </a:p>
        </p:txBody>
      </p:sp>
      <p:sp>
        <p:nvSpPr>
          <p:cNvPr id="6" name="Text 2"/>
          <p:cNvSpPr txBox="1"/>
          <p:nvPr/>
        </p:nvSpPr>
        <p:spPr>
          <a:xfrm>
            <a:off x="5989320" y="4754880"/>
            <a:ext cx="5623560" cy="274320"/>
          </a:xfrm>
          <a:prstGeom prst="rect">
            <a:avLst/>
          </a:prstGeom>
          <a:noFill/>
          <a:ln/>
        </p:spPr>
        <p:txBody>
          <a:bodyPr wrap="square" lIns="0" tIns="0" rIns="0" bIns="0" rtlCol="0" anchor="t"/>
          <a:lstStyle/>
          <a:p>
            <a:pPr indent="0" marL="0">
              <a:buNone/>
            </a:pPr>
            <a:r>
              <a:rPr lang="en-US" sz="1100" i="1" dirty="0">
                <a:solidFill>
                  <a:schemeClr val="bg2"/>
                </a:solidFill>
              </a:rPr>
              <a:t>Network Topology: selecting a host opens its real properties and links.</a:t>
            </a:r>
            <a:endParaRPr lang="en-US" sz="1100" dirty="0"/>
          </a:p>
        </p:txBody>
      </p:sp>
      <p:sp>
        <p:nvSpPr>
          <p:cNvPr id="7" name="Shape 3"/>
          <p:cNvSpPr/>
          <p:nvPr/>
        </p:nvSpPr>
        <p:spPr>
          <a:xfrm>
            <a:off x="548640" y="4069080"/>
            <a:ext cx="5212080" cy="2011680"/>
          </a:xfrm>
          <a:prstGeom prst="roundRect">
            <a:avLst>
              <a:gd name="adj" fmla="val 2727"/>
            </a:avLst>
          </a:prstGeom>
          <a:solidFill>
            <a:schemeClr val="tx2"/>
          </a:solidFill>
          <a:ln w="9525">
            <a:solidFill>
              <a:schemeClr val="accent6"/>
            </a:solidFill>
            <a:prstDash val="solid"/>
          </a:ln>
        </p:spPr>
      </p:sp>
      <p:sp>
        <p:nvSpPr>
          <p:cNvPr id="8" name="Text 4"/>
          <p:cNvSpPr txBox="1"/>
          <p:nvPr/>
        </p:nvSpPr>
        <p:spPr>
          <a:xfrm>
            <a:off x="777240" y="4224528"/>
            <a:ext cx="4800600" cy="1737360"/>
          </a:xfrm>
          <a:prstGeom prst="rect">
            <a:avLst/>
          </a:prstGeom>
          <a:noFill/>
          <a:ln/>
        </p:spPr>
        <p:txBody>
          <a:bodyPr wrap="square" lIns="0" tIns="0" rIns="0" bIns="0" rtlCol="0" anchor="t"/>
          <a:lstStyle/>
          <a:p>
            <a:pPr indent="0" marL="0">
              <a:buNone/>
            </a:pPr>
            <a:r>
              <a:rPr lang="en-US" sz="1400" dirty="0">
                <a:solidFill>
                  <a:schemeClr val="accent2"/>
                </a:solidFill>
              </a:rPr>
              <a:t>Greedy picks {Web Server, Employee PC}; Hill Climbing {Application Server, Employee PC}; GA {File Server, Web Server}. Both optimisers reach fitness 6.2667 and all three placements cover 3/3 cheapest routes.</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bg1"/>
                </a:solidFill>
                <a:latin typeface="Calibri" pitchFamily="34" charset="0"/>
                <a:ea typeface="Calibri" pitchFamily="34" charset="-122"/>
                <a:cs typeface="Calibri" pitchFamily="34" charset="-120"/>
              </a:rPr>
              <a:t>Implementation details: two key functions</a:t>
            </a:r>
            <a:endParaRPr lang="en-US" sz="3000" dirty="0"/>
          </a:p>
        </p:txBody>
      </p:sp>
      <p:sp>
        <p:nvSpPr>
          <p:cNvPr id="3" name="Shape 1"/>
          <p:cNvSpPr/>
          <p:nvPr/>
        </p:nvSpPr>
        <p:spPr>
          <a:xfrm>
            <a:off x="548640" y="1280160"/>
            <a:ext cx="5669280" cy="4800600"/>
          </a:xfrm>
          <a:prstGeom prst="roundRect">
            <a:avLst>
              <a:gd name="adj" fmla="val 1143"/>
            </a:avLst>
          </a:prstGeom>
          <a:solidFill>
            <a:schemeClr val="tx2"/>
          </a:solidFill>
          <a:ln w="9525">
            <a:solidFill>
              <a:schemeClr val="accent6"/>
            </a:solidFill>
            <a:prstDash val="solid"/>
          </a:ln>
        </p:spPr>
      </p:sp>
      <p:sp>
        <p:nvSpPr>
          <p:cNvPr id="4" name="Text 2"/>
          <p:cNvSpPr txBox="1"/>
          <p:nvPr/>
        </p:nvSpPr>
        <p:spPr>
          <a:xfrm>
            <a:off x="777240" y="1417320"/>
            <a:ext cx="5212080" cy="228600"/>
          </a:xfrm>
          <a:prstGeom prst="rect">
            <a:avLst/>
          </a:prstGeom>
          <a:noFill/>
          <a:ln/>
        </p:spPr>
        <p:txBody>
          <a:bodyPr wrap="square" lIns="0" tIns="0" rIns="0" bIns="0" rtlCol="0" anchor="t"/>
          <a:lstStyle/>
          <a:p>
            <a:pPr indent="0" marL="0">
              <a:buNone/>
            </a:pPr>
            <a:r>
              <a:rPr lang="en-US" sz="1000" b="1" spc="150" kern="0" dirty="0">
                <a:solidFill>
                  <a:schemeClr val="accent1"/>
                </a:solidFill>
                <a:latin typeface="Courier New" pitchFamily="34" charset="0"/>
                <a:ea typeface="Courier New" pitchFamily="34" charset="-122"/>
                <a:cs typeface="Courier New" pitchFamily="34" charset="-120"/>
              </a:rPr>
              <a:t>BACKEND/AI/UCS.PY — CORE LOOP</a:t>
            </a:r>
            <a:endParaRPr lang="en-US" sz="1000" dirty="0"/>
          </a:p>
        </p:txBody>
      </p:sp>
      <p:sp>
        <p:nvSpPr>
          <p:cNvPr id="5" name="Text 3"/>
          <p:cNvSpPr txBox="1"/>
          <p:nvPr/>
        </p:nvSpPr>
        <p:spPr>
          <a:xfrm>
            <a:off x="777240" y="1737360"/>
            <a:ext cx="5349240" cy="4206240"/>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while frontier:</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cost, _, current, path = heapq.heappop(frontier)</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if current in visited: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continue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visited.add(current)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nodes_explored += 1</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if current == goal:</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return path, cost, nodes_explored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for neighbor in graph.neighbors(current):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new_cost = cost + graph[current][neighbor]["weight"]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if (neighbor not in best_cost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or new_cost &lt; best_cost[neighbor]):</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best_cost[neighbor] = new_cost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counter += 1</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heapq.heappush(frontier,</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(new_cost, counter, neighbor,</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path + [neighbor]))</a:t>
            </a:r>
            <a:endParaRPr lang="en-US" sz="1100" dirty="0"/>
          </a:p>
        </p:txBody>
      </p:sp>
      <p:sp>
        <p:nvSpPr>
          <p:cNvPr id="6" name="Shape 4"/>
          <p:cNvSpPr/>
          <p:nvPr/>
        </p:nvSpPr>
        <p:spPr>
          <a:xfrm>
            <a:off x="6400800" y="1280160"/>
            <a:ext cx="5212080" cy="4800600"/>
          </a:xfrm>
          <a:prstGeom prst="roundRect">
            <a:avLst>
              <a:gd name="adj" fmla="val 1143"/>
            </a:avLst>
          </a:prstGeom>
          <a:solidFill>
            <a:schemeClr val="tx2"/>
          </a:solidFill>
          <a:ln w="9525">
            <a:solidFill>
              <a:schemeClr val="accent6"/>
            </a:solidFill>
            <a:prstDash val="solid"/>
          </a:ln>
        </p:spPr>
      </p:sp>
      <p:sp>
        <p:nvSpPr>
          <p:cNvPr id="7" name="Text 5"/>
          <p:cNvSpPr txBox="1"/>
          <p:nvPr/>
        </p:nvSpPr>
        <p:spPr>
          <a:xfrm>
            <a:off x="6629400" y="1417320"/>
            <a:ext cx="4754880" cy="228600"/>
          </a:xfrm>
          <a:prstGeom prst="rect">
            <a:avLst/>
          </a:prstGeom>
          <a:noFill/>
          <a:ln/>
        </p:spPr>
        <p:txBody>
          <a:bodyPr wrap="square" lIns="0" tIns="0" rIns="0" bIns="0" rtlCol="0" anchor="t"/>
          <a:lstStyle/>
          <a:p>
            <a:pPr indent="0" marL="0">
              <a:buNone/>
            </a:pPr>
            <a:r>
              <a:rPr lang="en-US" sz="1000" b="1" spc="150" kern="0" dirty="0">
                <a:solidFill>
                  <a:schemeClr val="accent1"/>
                </a:solidFill>
                <a:latin typeface="Courier New" pitchFamily="34" charset="0"/>
                <a:ea typeface="Courier New" pitchFamily="34" charset="-122"/>
                <a:cs typeface="Courier New" pitchFamily="34" charset="-120"/>
              </a:rPr>
              <a:t>BACKEND/AI/OPTIMIZER.PY — SCORE_CANDIDATES</a:t>
            </a:r>
            <a:endParaRPr lang="en-US" sz="1000" dirty="0"/>
          </a:p>
        </p:txBody>
      </p:sp>
      <p:sp>
        <p:nvSpPr>
          <p:cNvPr id="8" name="Text 6"/>
          <p:cNvSpPr txBox="1"/>
          <p:nvPr/>
        </p:nvSpPr>
        <p:spPr>
          <a:xfrm>
            <a:off x="6629400" y="1737360"/>
            <a:ext cx="4892040" cy="4206240"/>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for node in candidates: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freq = _attack_path_frequency(node, candidate_paths)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proximity = round(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_target_proximity(graph, node, target), 3)</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connectivity = _node_connectivity(graph, node)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cost = (DEPLOYMENT_COST if deployment_costs is None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else deployment_costs).get(node, 1)</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raw_score = (freq + proximity + connectivity) / cost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scored.append({...,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"deception_score": round(raw_score, 3)})</a:t>
            </a:r>
            <a:endParaRPr lang="en-US" sz="1100" dirty="0"/>
          </a:p>
          <a:p>
            <a:pPr indent="0" marL="0">
              <a:buNone/>
            </a:pP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scored.sort(key=lambda x: x["deception_score"],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reverse=True)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selected = [item["node"] for item in scored[:top_n]]</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return scored, selected</a:t>
            </a:r>
            <a:endParaRPr lang="en-US" sz="11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bg1"/>
                </a:solidFill>
                <a:latin typeface="Calibri" pitchFamily="34" charset="0"/>
                <a:ea typeface="Calibri" pitchFamily="34" charset="-122"/>
                <a:cs typeface="Calibri" pitchFamily="34" charset="-120"/>
              </a:rPr>
              <a:t>Testing and validation</a:t>
            </a:r>
            <a:endParaRPr lang="en-US" sz="3000" dirty="0"/>
          </a:p>
        </p:txBody>
      </p:sp>
      <p:sp>
        <p:nvSpPr>
          <p:cNvPr id="3" name="Shape 1"/>
          <p:cNvSpPr/>
          <p:nvPr/>
        </p:nvSpPr>
        <p:spPr>
          <a:xfrm>
            <a:off x="548640" y="1325880"/>
            <a:ext cx="2606040" cy="1325880"/>
          </a:xfrm>
          <a:prstGeom prst="roundRect">
            <a:avLst>
              <a:gd name="adj" fmla="val 4138"/>
            </a:avLst>
          </a:prstGeom>
          <a:solidFill>
            <a:schemeClr val="tx2"/>
          </a:solidFill>
          <a:ln w="9525">
            <a:solidFill>
              <a:schemeClr val="accent6"/>
            </a:solidFill>
            <a:prstDash val="solid"/>
          </a:ln>
        </p:spPr>
      </p:sp>
      <p:sp>
        <p:nvSpPr>
          <p:cNvPr id="4" name="Text 2"/>
          <p:cNvSpPr txBox="1"/>
          <p:nvPr/>
        </p:nvSpPr>
        <p:spPr>
          <a:xfrm>
            <a:off x="731520" y="1417320"/>
            <a:ext cx="2286000" cy="685800"/>
          </a:xfrm>
          <a:prstGeom prst="rect">
            <a:avLst/>
          </a:prstGeom>
          <a:noFill/>
          <a:ln/>
        </p:spPr>
        <p:txBody>
          <a:bodyPr wrap="square" lIns="0" tIns="0" rIns="0" bIns="0" rtlCol="0" anchor="t"/>
          <a:lstStyle/>
          <a:p>
            <a:pPr indent="0" marL="0">
              <a:buNone/>
            </a:pPr>
            <a:r>
              <a:rPr lang="en-US" sz="3600" b="1" dirty="0">
                <a:solidFill>
                  <a:schemeClr val="accent1"/>
                </a:solidFill>
                <a:latin typeface="Courier New" pitchFamily="34" charset="0"/>
                <a:ea typeface="Courier New" pitchFamily="34" charset="-122"/>
                <a:cs typeface="Courier New" pitchFamily="34" charset="-120"/>
              </a:rPr>
              <a:t>170</a:t>
            </a:r>
            <a:endParaRPr lang="en-US" sz="3600" dirty="0"/>
          </a:p>
        </p:txBody>
      </p:sp>
      <p:sp>
        <p:nvSpPr>
          <p:cNvPr id="5" name="Text 3"/>
          <p:cNvSpPr txBox="1"/>
          <p:nvPr/>
        </p:nvSpPr>
        <p:spPr>
          <a:xfrm>
            <a:off x="731520" y="2103120"/>
            <a:ext cx="2286000" cy="457200"/>
          </a:xfrm>
          <a:prstGeom prst="rect">
            <a:avLst/>
          </a:prstGeom>
          <a:noFill/>
          <a:ln/>
        </p:spPr>
        <p:txBody>
          <a:bodyPr wrap="square" lIns="0" tIns="0" rIns="0" bIns="0" rtlCol="0" anchor="t"/>
          <a:lstStyle/>
          <a:p>
            <a:pPr indent="0" marL="0">
              <a:buNone/>
            </a:pPr>
            <a:r>
              <a:rPr lang="en-US" sz="1200" dirty="0">
                <a:solidFill>
                  <a:schemeClr val="bg2"/>
                </a:solidFill>
              </a:rPr>
              <a:t>backend pytest tests passed</a:t>
            </a:r>
            <a:endParaRPr lang="en-US" sz="1200" dirty="0"/>
          </a:p>
        </p:txBody>
      </p:sp>
      <p:sp>
        <p:nvSpPr>
          <p:cNvPr id="6" name="Shape 4"/>
          <p:cNvSpPr/>
          <p:nvPr/>
        </p:nvSpPr>
        <p:spPr>
          <a:xfrm>
            <a:off x="3364992" y="1325880"/>
            <a:ext cx="2606040" cy="1325880"/>
          </a:xfrm>
          <a:prstGeom prst="roundRect">
            <a:avLst>
              <a:gd name="adj" fmla="val 4138"/>
            </a:avLst>
          </a:prstGeom>
          <a:solidFill>
            <a:schemeClr val="tx2"/>
          </a:solidFill>
          <a:ln w="9525">
            <a:solidFill>
              <a:schemeClr val="accent6"/>
            </a:solidFill>
            <a:prstDash val="solid"/>
          </a:ln>
        </p:spPr>
      </p:sp>
      <p:sp>
        <p:nvSpPr>
          <p:cNvPr id="7" name="Text 5"/>
          <p:cNvSpPr txBox="1"/>
          <p:nvPr/>
        </p:nvSpPr>
        <p:spPr>
          <a:xfrm>
            <a:off x="3547872" y="1417320"/>
            <a:ext cx="2286000" cy="685800"/>
          </a:xfrm>
          <a:prstGeom prst="rect">
            <a:avLst/>
          </a:prstGeom>
          <a:noFill/>
          <a:ln/>
        </p:spPr>
        <p:txBody>
          <a:bodyPr wrap="square" lIns="0" tIns="0" rIns="0" bIns="0" rtlCol="0" anchor="t"/>
          <a:lstStyle/>
          <a:p>
            <a:pPr indent="0" marL="0">
              <a:buNone/>
            </a:pPr>
            <a:r>
              <a:rPr lang="en-US" sz="3600" b="1" dirty="0">
                <a:solidFill>
                  <a:schemeClr val="accent1"/>
                </a:solidFill>
                <a:latin typeface="Courier New" pitchFamily="34" charset="0"/>
                <a:ea typeface="Courier New" pitchFamily="34" charset="-122"/>
                <a:cs typeface="Courier New" pitchFamily="34" charset="-120"/>
              </a:rPr>
              <a:t>44</a:t>
            </a:r>
            <a:endParaRPr lang="en-US" sz="3600" dirty="0"/>
          </a:p>
        </p:txBody>
      </p:sp>
      <p:sp>
        <p:nvSpPr>
          <p:cNvPr id="8" name="Text 6"/>
          <p:cNvSpPr txBox="1"/>
          <p:nvPr/>
        </p:nvSpPr>
        <p:spPr>
          <a:xfrm>
            <a:off x="3547872" y="2103120"/>
            <a:ext cx="2286000" cy="457200"/>
          </a:xfrm>
          <a:prstGeom prst="rect">
            <a:avLst/>
          </a:prstGeom>
          <a:noFill/>
          <a:ln/>
        </p:spPr>
        <p:txBody>
          <a:bodyPr wrap="square" lIns="0" tIns="0" rIns="0" bIns="0" rtlCol="0" anchor="t"/>
          <a:lstStyle/>
          <a:p>
            <a:pPr indent="0" marL="0">
              <a:buNone/>
            </a:pPr>
            <a:r>
              <a:rPr lang="en-US" sz="1200" dirty="0">
                <a:solidFill>
                  <a:schemeClr val="bg2"/>
                </a:solidFill>
              </a:rPr>
              <a:t>frontend Vitest tests passed</a:t>
            </a:r>
            <a:endParaRPr lang="en-US" sz="1200" dirty="0"/>
          </a:p>
        </p:txBody>
      </p:sp>
      <p:sp>
        <p:nvSpPr>
          <p:cNvPr id="9" name="Shape 7"/>
          <p:cNvSpPr/>
          <p:nvPr/>
        </p:nvSpPr>
        <p:spPr>
          <a:xfrm>
            <a:off x="6181344" y="1325880"/>
            <a:ext cx="2606040" cy="1325880"/>
          </a:xfrm>
          <a:prstGeom prst="roundRect">
            <a:avLst>
              <a:gd name="adj" fmla="val 4138"/>
            </a:avLst>
          </a:prstGeom>
          <a:solidFill>
            <a:schemeClr val="tx2"/>
          </a:solidFill>
          <a:ln w="9525">
            <a:solidFill>
              <a:schemeClr val="accent6"/>
            </a:solidFill>
            <a:prstDash val="solid"/>
          </a:ln>
        </p:spPr>
      </p:sp>
      <p:sp>
        <p:nvSpPr>
          <p:cNvPr id="10" name="Text 8"/>
          <p:cNvSpPr txBox="1"/>
          <p:nvPr/>
        </p:nvSpPr>
        <p:spPr>
          <a:xfrm>
            <a:off x="6364224" y="1417320"/>
            <a:ext cx="2286000" cy="685800"/>
          </a:xfrm>
          <a:prstGeom prst="rect">
            <a:avLst/>
          </a:prstGeom>
          <a:noFill/>
          <a:ln/>
        </p:spPr>
        <p:txBody>
          <a:bodyPr wrap="square" lIns="0" tIns="0" rIns="0" bIns="0" rtlCol="0" anchor="t"/>
          <a:lstStyle/>
          <a:p>
            <a:pPr indent="0" marL="0">
              <a:buNone/>
            </a:pPr>
            <a:r>
              <a:rPr lang="en-US" sz="3600" b="1" dirty="0">
                <a:solidFill>
                  <a:schemeClr val="accent1"/>
                </a:solidFill>
                <a:latin typeface="Courier New" pitchFamily="34" charset="0"/>
                <a:ea typeface="Courier New" pitchFamily="34" charset="-122"/>
                <a:cs typeface="Courier New" pitchFamily="34" charset="-120"/>
              </a:rPr>
              <a:t>0</a:t>
            </a:r>
            <a:endParaRPr lang="en-US" sz="3600" dirty="0"/>
          </a:p>
        </p:txBody>
      </p:sp>
      <p:sp>
        <p:nvSpPr>
          <p:cNvPr id="11" name="Text 9"/>
          <p:cNvSpPr txBox="1"/>
          <p:nvPr/>
        </p:nvSpPr>
        <p:spPr>
          <a:xfrm>
            <a:off x="6364224" y="2103120"/>
            <a:ext cx="2286000" cy="457200"/>
          </a:xfrm>
          <a:prstGeom prst="rect">
            <a:avLst/>
          </a:prstGeom>
          <a:noFill/>
          <a:ln/>
        </p:spPr>
        <p:txBody>
          <a:bodyPr wrap="square" lIns="0" tIns="0" rIns="0" bIns="0" rtlCol="0" anchor="t"/>
          <a:lstStyle/>
          <a:p>
            <a:pPr indent="0" marL="0">
              <a:buNone/>
            </a:pPr>
            <a:r>
              <a:rPr lang="en-US" sz="1200" dirty="0">
                <a:solidFill>
                  <a:schemeClr val="bg2"/>
                </a:solidFill>
              </a:rPr>
              <a:t>TypeScript errors (tsc --noEmit)</a:t>
            </a:r>
            <a:endParaRPr lang="en-US" sz="1200" dirty="0"/>
          </a:p>
        </p:txBody>
      </p:sp>
      <p:sp>
        <p:nvSpPr>
          <p:cNvPr id="12" name="Shape 10"/>
          <p:cNvSpPr/>
          <p:nvPr/>
        </p:nvSpPr>
        <p:spPr>
          <a:xfrm>
            <a:off x="8997696" y="1325880"/>
            <a:ext cx="2606040" cy="1325880"/>
          </a:xfrm>
          <a:prstGeom prst="roundRect">
            <a:avLst>
              <a:gd name="adj" fmla="val 4138"/>
            </a:avLst>
          </a:prstGeom>
          <a:solidFill>
            <a:schemeClr val="tx2"/>
          </a:solidFill>
          <a:ln w="9525">
            <a:solidFill>
              <a:schemeClr val="accent6"/>
            </a:solidFill>
            <a:prstDash val="solid"/>
          </a:ln>
        </p:spPr>
      </p:sp>
      <p:sp>
        <p:nvSpPr>
          <p:cNvPr id="13" name="Text 11"/>
          <p:cNvSpPr txBox="1"/>
          <p:nvPr/>
        </p:nvSpPr>
        <p:spPr>
          <a:xfrm>
            <a:off x="9180576" y="1417320"/>
            <a:ext cx="2286000" cy="685800"/>
          </a:xfrm>
          <a:prstGeom prst="rect">
            <a:avLst/>
          </a:prstGeom>
          <a:noFill/>
          <a:ln/>
        </p:spPr>
        <p:txBody>
          <a:bodyPr wrap="square" lIns="0" tIns="0" rIns="0" bIns="0" rtlCol="0" anchor="t"/>
          <a:lstStyle/>
          <a:p>
            <a:pPr indent="0" marL="0">
              <a:buNone/>
            </a:pPr>
            <a:r>
              <a:rPr lang="en-US" sz="3600" b="1" dirty="0">
                <a:solidFill>
                  <a:schemeClr val="accent1"/>
                </a:solidFill>
                <a:latin typeface="Courier New" pitchFamily="34" charset="0"/>
                <a:ea typeface="Courier New" pitchFamily="34" charset="-122"/>
                <a:cs typeface="Courier New" pitchFamily="34" charset="-120"/>
              </a:rPr>
              <a:t>✓</a:t>
            </a:r>
            <a:endParaRPr lang="en-US" sz="3600" dirty="0"/>
          </a:p>
        </p:txBody>
      </p:sp>
      <p:sp>
        <p:nvSpPr>
          <p:cNvPr id="14" name="Text 12"/>
          <p:cNvSpPr txBox="1"/>
          <p:nvPr/>
        </p:nvSpPr>
        <p:spPr>
          <a:xfrm>
            <a:off x="9180576" y="2103120"/>
            <a:ext cx="2286000" cy="457200"/>
          </a:xfrm>
          <a:prstGeom prst="rect">
            <a:avLst/>
          </a:prstGeom>
          <a:noFill/>
          <a:ln/>
        </p:spPr>
        <p:txBody>
          <a:bodyPr wrap="square" lIns="0" tIns="0" rIns="0" bIns="0" rtlCol="0" anchor="t"/>
          <a:lstStyle/>
          <a:p>
            <a:pPr indent="0" marL="0">
              <a:buNone/>
            </a:pPr>
            <a:r>
              <a:rPr lang="en-US" sz="1200" dirty="0">
                <a:solidFill>
                  <a:schemeClr val="bg2"/>
                </a:solidFill>
              </a:rPr>
              <a:t>production build + Docker stack</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2834640"/>
          <a:ext cx="11064240" cy="914400"/>
        </p:xfrm>
        <a:graphic>
          <a:graphicData uri="http://schemas.openxmlformats.org/drawingml/2006/table">
            <a:tbl>
              <a:tblPr/>
              <a:tblGrid>
                <a:gridCol w="4023360"/>
                <a:gridCol w="1097280"/>
                <a:gridCol w="5943600"/>
              </a:tblGrid>
              <a:tr h="457200">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Test file</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Tests</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What it proves</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457200">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test_search_edge_cases.py</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31</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Unreachable, cycles, start = goal, unknown nodes, BFS hops vs UCS cost, UCS/A* = NetworkX on random graphs</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457200">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test_search.py</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4</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Valid paths for all four; UCS = brute-force minimum; A* = UCS</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457200">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test_advanced_ai.py · test_ai_api.py</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23 · 14</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Alpha-Beta = Minimax with fewer nodes; Bayes rules; optimisers within budget</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457200">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test_simulation_api · scenario · session</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6 · 10 · 8</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API validation (404/422), alternative routes, saved-scenario runs, stepping</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457200">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test_planning · experiments · persistence</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19 · 19 · 23</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Plans valid, strategies compared, database round-trips and 503 handling</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bl>
          </a:graphicData>
        </a:graphic>
      </p:graphicFrame>
      <p:sp>
        <p:nvSpPr>
          <p:cNvPr id="16" name="Text 13"/>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100" i="1" dirty="0">
                <a:solidFill>
                  <a:schemeClr val="bg2"/>
                </a:solidFill>
              </a:rPr>
              <a:t>Not covered: no automated browser end-to-end suite (UI flows verified manually in a browser); no performance benchmarking.</a:t>
            </a:r>
            <a:endParaRPr lang="en-US" sz="11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bg1"/>
                </a:solidFill>
                <a:latin typeface="Calibri" pitchFamily="34" charset="0"/>
                <a:ea typeface="Calibri" pitchFamily="34" charset="-122"/>
                <a:cs typeface="Calibri" pitchFamily="34" charset="-120"/>
              </a:rPr>
              <a:t>Results and observations (simulated network)</a:t>
            </a:r>
            <a:endParaRPr lang="en-US" sz="3000" dirty="0"/>
          </a:p>
        </p:txBody>
      </p:sp>
      <p:graphicFrame>
        <p:nvGraphicFramePr>
          <p:cNvPr id="3" name="Chart 0" descr=""/>
          <p:cNvGraphicFramePr/>
          <p:nvPr/>
        </p:nvGraphicFramePr>
        <p:xfrm>
          <a:off x="548640" y="1325880"/>
          <a:ext cx="6035040" cy="39319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303520"/>
            <a:ext cx="6035040" cy="274320"/>
          </a:xfrm>
          <a:prstGeom prst="rect">
            <a:avLst/>
          </a:prstGeom>
          <a:noFill/>
          <a:ln/>
        </p:spPr>
        <p:txBody>
          <a:bodyPr wrap="square" lIns="0" tIns="0" rIns="0" bIns="0" rtlCol="0" anchor="t"/>
          <a:lstStyle/>
          <a:p>
            <a:pPr indent="0" marL="0">
              <a:buNone/>
            </a:pPr>
            <a:r>
              <a:rPr lang="en-US" sz="1100" i="1" dirty="0">
                <a:solidFill>
                  <a:schemeClr val="bg2"/>
                </a:solidFill>
              </a:rPr>
              <a:t>Source: Experiment Lab / POST /api/experiments/run. Only the random strategy varies between runs.</a:t>
            </a:r>
            <a:endParaRPr lang="en-US" sz="1100" dirty="0"/>
          </a:p>
        </p:txBody>
      </p:sp>
      <p:sp>
        <p:nvSpPr>
          <p:cNvPr id="5" name="Shape 2"/>
          <p:cNvSpPr/>
          <p:nvPr/>
        </p:nvSpPr>
        <p:spPr>
          <a:xfrm>
            <a:off x="6903720" y="1325880"/>
            <a:ext cx="4709160" cy="1920240"/>
          </a:xfrm>
          <a:prstGeom prst="roundRect">
            <a:avLst>
              <a:gd name="adj" fmla="val 2857"/>
            </a:avLst>
          </a:prstGeom>
          <a:solidFill>
            <a:schemeClr val="tx2"/>
          </a:solidFill>
          <a:ln w="9525">
            <a:solidFill>
              <a:schemeClr val="accent6"/>
            </a:solidFill>
            <a:prstDash val="solid"/>
          </a:ln>
        </p:spPr>
      </p:sp>
      <p:sp>
        <p:nvSpPr>
          <p:cNvPr id="6" name="Text 3"/>
          <p:cNvSpPr txBox="1"/>
          <p:nvPr/>
        </p:nvSpPr>
        <p:spPr>
          <a:xfrm>
            <a:off x="7132320" y="1463040"/>
            <a:ext cx="4206240" cy="228600"/>
          </a:xfrm>
          <a:prstGeom prst="rect">
            <a:avLst/>
          </a:prstGeom>
          <a:noFill/>
          <a:ln/>
        </p:spPr>
        <p:txBody>
          <a:bodyPr wrap="square" lIns="0" tIns="0" rIns="0" bIns="0" rtlCol="0" anchor="t"/>
          <a:lstStyle/>
          <a:p>
            <a:pPr indent="0" marL="0">
              <a:buNone/>
            </a:pPr>
            <a:r>
              <a:rPr lang="en-US" sz="1000" b="1" spc="150" kern="0" dirty="0">
                <a:solidFill>
                  <a:schemeClr val="accent1"/>
                </a:solidFill>
                <a:latin typeface="Courier New" pitchFamily="34" charset="0"/>
                <a:ea typeface="Courier New" pitchFamily="34" charset="-122"/>
                <a:cs typeface="Courier New" pitchFamily="34" charset="-120"/>
              </a:rPr>
              <a:t>ADVERSARIAL SEARCH, DEPTH 4</a:t>
            </a:r>
            <a:endParaRPr lang="en-US" sz="1000" dirty="0"/>
          </a:p>
        </p:txBody>
      </p:sp>
      <p:sp>
        <p:nvSpPr>
          <p:cNvPr id="7" name="Text 4"/>
          <p:cNvSpPr txBox="1"/>
          <p:nvPr/>
        </p:nvSpPr>
        <p:spPr>
          <a:xfrm>
            <a:off x="7132320" y="1783080"/>
            <a:ext cx="4297680" cy="137160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Minimax: 69 states visited</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Alpha-Beta: 35 states, 14 branches pruned</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Same decision and value (2.6667)</a:t>
            </a:r>
            <a:endParaRPr lang="en-US" sz="1400" dirty="0"/>
          </a:p>
        </p:txBody>
      </p:sp>
      <p:sp>
        <p:nvSpPr>
          <p:cNvPr id="8" name="Shape 5"/>
          <p:cNvSpPr/>
          <p:nvPr/>
        </p:nvSpPr>
        <p:spPr>
          <a:xfrm>
            <a:off x="6903720" y="3429000"/>
            <a:ext cx="4709160" cy="2651760"/>
          </a:xfrm>
          <a:prstGeom prst="roundRect">
            <a:avLst>
              <a:gd name="adj" fmla="val 2069"/>
            </a:avLst>
          </a:prstGeom>
          <a:solidFill>
            <a:schemeClr val="tx2"/>
          </a:solidFill>
          <a:ln w="9525">
            <a:solidFill>
              <a:schemeClr val="accent3"/>
            </a:solidFill>
            <a:prstDash val="solid"/>
          </a:ln>
        </p:spPr>
      </p:sp>
      <p:sp>
        <p:nvSpPr>
          <p:cNvPr id="9" name="Text 6"/>
          <p:cNvSpPr txBox="1"/>
          <p:nvPr/>
        </p:nvSpPr>
        <p:spPr>
          <a:xfrm>
            <a:off x="7132320" y="3566160"/>
            <a:ext cx="4206240" cy="228600"/>
          </a:xfrm>
          <a:prstGeom prst="rect">
            <a:avLst/>
          </a:prstGeom>
          <a:noFill/>
          <a:ln/>
        </p:spPr>
        <p:txBody>
          <a:bodyPr wrap="square" lIns="0" tIns="0" rIns="0" bIns="0" rtlCol="0" anchor="t"/>
          <a:lstStyle/>
          <a:p>
            <a:pPr indent="0" marL="0">
              <a:buNone/>
            </a:pPr>
            <a:r>
              <a:rPr lang="en-US" sz="1000" b="1" spc="150" kern="0" dirty="0">
                <a:solidFill>
                  <a:schemeClr val="accent3"/>
                </a:solidFill>
                <a:latin typeface="Courier New" pitchFamily="34" charset="0"/>
                <a:ea typeface="Courier New" pitchFamily="34" charset="-122"/>
                <a:cs typeface="Courier New" pitchFamily="34" charset="-120"/>
              </a:rPr>
              <a:t>CRITICAL CAVEAT</a:t>
            </a:r>
            <a:endParaRPr lang="en-US" sz="1000" dirty="0"/>
          </a:p>
        </p:txBody>
      </p:sp>
      <p:sp>
        <p:nvSpPr>
          <p:cNvPr id="10" name="Text 7"/>
          <p:cNvSpPr txBox="1"/>
          <p:nvPr/>
        </p:nvSpPr>
        <p:spPr>
          <a:xfrm>
            <a:off x="7132320" y="3886200"/>
            <a:ext cx="4297680" cy="2103120"/>
          </a:xfrm>
          <a:prstGeom prst="rect">
            <a:avLst/>
          </a:prstGeom>
          <a:noFill/>
          <a:ln/>
        </p:spPr>
        <p:txBody>
          <a:bodyPr wrap="square" lIns="0" tIns="0" rIns="0" bIns="0" rtlCol="0" anchor="t"/>
          <a:lstStyle/>
          <a:p>
            <a:pPr indent="0" marL="0">
              <a:buNone/>
            </a:pPr>
            <a:r>
              <a:rPr lang="en-US" sz="1300" dirty="0">
                <a:solidFill>
                  <a:schemeClr val="bg1"/>
                </a:solidFill>
              </a:rPr>
              <a:t>Internet has one neighbour (Web Server), so every route passes through it — a chokepoint. Any method that picks Web Server intercepts 100%. This shows the pipeline works; it is not evidence that the method generalises to real networks.</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bg1"/>
                </a:solidFill>
                <a:latin typeface="Calibri" pitchFamily="34" charset="0"/>
                <a:ea typeface="Calibri" pitchFamily="34" charset="-122"/>
                <a:cs typeface="Calibri" pitchFamily="34" charset="-120"/>
              </a:rPr>
              <a:t>Security, safety and limitations</a:t>
            </a:r>
            <a:endParaRPr lang="en-US" sz="3000" dirty="0"/>
          </a:p>
        </p:txBody>
      </p:sp>
      <p:sp>
        <p:nvSpPr>
          <p:cNvPr id="3" name="Shape 1"/>
          <p:cNvSpPr/>
          <p:nvPr/>
        </p:nvSpPr>
        <p:spPr>
          <a:xfrm>
            <a:off x="548640" y="1325880"/>
            <a:ext cx="5394960" cy="4754880"/>
          </a:xfrm>
          <a:prstGeom prst="roundRect">
            <a:avLst>
              <a:gd name="adj" fmla="val 1154"/>
            </a:avLst>
          </a:prstGeom>
          <a:solidFill>
            <a:schemeClr val="tx2"/>
          </a:solidFill>
          <a:ln w="9525">
            <a:solidFill>
              <a:schemeClr val="accent5"/>
            </a:solidFill>
            <a:prstDash val="solid"/>
          </a:ln>
        </p:spPr>
      </p:sp>
      <p:sp>
        <p:nvSpPr>
          <p:cNvPr id="4" name="Text 2"/>
          <p:cNvSpPr txBox="1"/>
          <p:nvPr/>
        </p:nvSpPr>
        <p:spPr>
          <a:xfrm>
            <a:off x="777240" y="1463040"/>
            <a:ext cx="4937760" cy="228600"/>
          </a:xfrm>
          <a:prstGeom prst="rect">
            <a:avLst/>
          </a:prstGeom>
          <a:noFill/>
          <a:ln/>
        </p:spPr>
        <p:txBody>
          <a:bodyPr wrap="square" lIns="0" tIns="0" rIns="0" bIns="0" rtlCol="0" anchor="t"/>
          <a:lstStyle/>
          <a:p>
            <a:pPr indent="0" marL="0">
              <a:buNone/>
            </a:pPr>
            <a:r>
              <a:rPr lang="en-US" sz="1000" b="1" spc="150" kern="0" dirty="0">
                <a:solidFill>
                  <a:schemeClr val="accent5"/>
                </a:solidFill>
                <a:latin typeface="Courier New" pitchFamily="34" charset="0"/>
                <a:ea typeface="Courier New" pitchFamily="34" charset="-122"/>
                <a:cs typeface="Courier New" pitchFamily="34" charset="-120"/>
              </a:rPr>
              <a:t>SAFE-BY-DESIGN SIMULATION</a:t>
            </a:r>
            <a:endParaRPr lang="en-US" sz="1000" dirty="0"/>
          </a:p>
        </p:txBody>
      </p:sp>
      <p:sp>
        <p:nvSpPr>
          <p:cNvPr id="5" name="Text 3"/>
          <p:cNvSpPr txBox="1"/>
          <p:nvPr/>
        </p:nvSpPr>
        <p:spPr>
          <a:xfrm>
            <a:off x="777240" y="1828800"/>
            <a:ext cx="4983480" cy="4114800"/>
          </a:xfrm>
          <a:prstGeom prst="rect">
            <a:avLst/>
          </a:prstGeom>
          <a:noFill/>
          <a:ln/>
        </p:spPr>
        <p:txBody>
          <a:bodyPr wrap="square" lIns="0" tIns="0" rIns="0" bIns="0" rtlCol="0" anchor="t"/>
          <a:lstStyle/>
          <a:p>
            <a:pPr marL="203200" indent="-203200">
              <a:spcAft>
                <a:spcPts val="700"/>
              </a:spcAft>
              <a:buSzPct val="100000"/>
              <a:buChar char="•"/>
            </a:pPr>
            <a:r>
              <a:rPr lang="en-US" sz="1400" dirty="0">
                <a:solidFill>
                  <a:schemeClr val="bg1"/>
                </a:solidFill>
              </a:rPr>
              <a:t>Synthetic hosts only: no IPs, scanning, exploits or credentials</a:t>
            </a:r>
            <a:endParaRPr lang="en-US" sz="1400" dirty="0"/>
          </a:p>
          <a:p>
            <a:pPr marL="203200" indent="-203200">
              <a:spcAft>
                <a:spcPts val="700"/>
              </a:spcAft>
              <a:buSzPct val="100000"/>
              <a:buChar char="•"/>
            </a:pPr>
            <a:r>
              <a:rPr lang="en-US" sz="1400" dirty="0">
                <a:solidFill>
                  <a:schemeClr val="bg1"/>
                </a:solidFill>
              </a:rPr>
              <a:t>No real honeypots deployed; nothing leaves the local stack</a:t>
            </a:r>
            <a:endParaRPr lang="en-US" sz="1400" dirty="0"/>
          </a:p>
          <a:p>
            <a:pPr marL="203200" indent="-203200">
              <a:spcAft>
                <a:spcPts val="700"/>
              </a:spcAft>
              <a:buSzPct val="100000"/>
              <a:buChar char="•"/>
            </a:pPr>
            <a:r>
              <a:rPr lang="en-US" sz="1400" dirty="0">
                <a:solidFill>
                  <a:schemeClr val="bg1"/>
                </a:solidFill>
              </a:rPr>
              <a:t>Pydantic validation at the API boundary (422 on bad input)</a:t>
            </a:r>
            <a:endParaRPr lang="en-US" sz="1400" dirty="0"/>
          </a:p>
          <a:p>
            <a:pPr marL="203200" indent="-203200">
              <a:spcAft>
                <a:spcPts val="700"/>
              </a:spcAft>
              <a:buSzPct val="100000"/>
              <a:buChar char="•"/>
            </a:pPr>
            <a:r>
              <a:rPr lang="en-US" sz="1400" dirty="0">
                <a:solidFill>
                  <a:schemeClr val="bg1"/>
                </a:solidFill>
              </a:rPr>
              <a:t>CORS restricted to configured origins; wildcard rejected</a:t>
            </a:r>
            <a:endParaRPr lang="en-US" sz="1400" dirty="0"/>
          </a:p>
          <a:p>
            <a:pPr marL="203200" indent="-203200">
              <a:spcAft>
                <a:spcPts val="700"/>
              </a:spcAft>
              <a:buSzPct val="100000"/>
              <a:buChar char="•"/>
            </a:pPr>
            <a:r>
              <a:rPr lang="en-US" sz="1400" dirty="0">
                <a:solidFill>
                  <a:schemeClr val="bg1"/>
                </a:solidFill>
              </a:rPr>
              <a:t>No secrets in the frontend bundle; .env is git-ignored</a:t>
            </a:r>
            <a:endParaRPr lang="en-US" sz="1400" dirty="0"/>
          </a:p>
          <a:p>
            <a:pPr marL="203200" indent="-203200">
              <a:spcAft>
                <a:spcPts val="700"/>
              </a:spcAft>
              <a:buSzPct val="100000"/>
              <a:buChar char="•"/>
            </a:pPr>
            <a:r>
              <a:rPr lang="en-US" sz="1400" dirty="0">
                <a:solidFill>
                  <a:schemeClr val="bg1"/>
                </a:solidFill>
              </a:rPr>
              <a:t>No command execution or unsafe deserialisation</a:t>
            </a:r>
            <a:endParaRPr lang="en-US" sz="1400" dirty="0"/>
          </a:p>
        </p:txBody>
      </p:sp>
      <p:sp>
        <p:nvSpPr>
          <p:cNvPr id="6" name="Shape 4"/>
          <p:cNvSpPr/>
          <p:nvPr/>
        </p:nvSpPr>
        <p:spPr>
          <a:xfrm>
            <a:off x="6263640" y="1325880"/>
            <a:ext cx="5349240" cy="4754880"/>
          </a:xfrm>
          <a:prstGeom prst="roundRect">
            <a:avLst>
              <a:gd name="adj" fmla="val 1154"/>
            </a:avLst>
          </a:prstGeom>
          <a:solidFill>
            <a:schemeClr val="tx2"/>
          </a:solidFill>
          <a:ln w="9525">
            <a:solidFill>
              <a:schemeClr val="accent3"/>
            </a:solidFill>
            <a:prstDash val="solid"/>
          </a:ln>
        </p:spPr>
      </p:sp>
      <p:sp>
        <p:nvSpPr>
          <p:cNvPr id="7" name="Text 5"/>
          <p:cNvSpPr txBox="1"/>
          <p:nvPr/>
        </p:nvSpPr>
        <p:spPr>
          <a:xfrm>
            <a:off x="6492240" y="1463040"/>
            <a:ext cx="4846320" cy="228600"/>
          </a:xfrm>
          <a:prstGeom prst="rect">
            <a:avLst/>
          </a:prstGeom>
          <a:noFill/>
          <a:ln/>
        </p:spPr>
        <p:txBody>
          <a:bodyPr wrap="square" lIns="0" tIns="0" rIns="0" bIns="0" rtlCol="0" anchor="t"/>
          <a:lstStyle/>
          <a:p>
            <a:pPr indent="0" marL="0">
              <a:buNone/>
            </a:pPr>
            <a:r>
              <a:rPr lang="en-US" sz="1000" b="1" spc="150" kern="0" dirty="0">
                <a:solidFill>
                  <a:schemeClr val="accent3"/>
                </a:solidFill>
                <a:latin typeface="Courier New" pitchFamily="34" charset="0"/>
                <a:ea typeface="Courier New" pitchFamily="34" charset="-122"/>
                <a:cs typeface="Courier New" pitchFamily="34" charset="-120"/>
              </a:rPr>
              <a:t>LIMITATIONS</a:t>
            </a:r>
            <a:endParaRPr lang="en-US" sz="1000" dirty="0"/>
          </a:p>
        </p:txBody>
      </p:sp>
      <p:sp>
        <p:nvSpPr>
          <p:cNvPr id="8" name="Text 6"/>
          <p:cNvSpPr txBox="1"/>
          <p:nvPr/>
        </p:nvSpPr>
        <p:spPr>
          <a:xfrm>
            <a:off x="6492240" y="1828800"/>
            <a:ext cx="4937760" cy="4114800"/>
          </a:xfrm>
          <a:prstGeom prst="rect">
            <a:avLst/>
          </a:prstGeom>
          <a:noFill/>
          <a:ln/>
        </p:spPr>
        <p:txBody>
          <a:bodyPr wrap="square" lIns="0" tIns="0" rIns="0" bIns="0" rtlCol="0" anchor="t"/>
          <a:lstStyle/>
          <a:p>
            <a:pPr marL="203200" indent="-203200">
              <a:spcAft>
                <a:spcPts val="700"/>
              </a:spcAft>
              <a:buSzPct val="100000"/>
              <a:buChar char="•"/>
            </a:pPr>
            <a:r>
              <a:rPr lang="en-US" sz="1400" b="1" dirty="0">
                <a:solidFill>
                  <a:schemeClr val="accent2"/>
                </a:solidFill>
              </a:rPr>
              <a:t>Model: </a:t>
            </a:r>
            <a:pPr indent="0" marL="0">
              <a:buNone/>
            </a:pPr>
            <a:r>
              <a:rPr lang="en-US" sz="1400" dirty="0">
                <a:solidFill>
                  <a:schemeClr val="bg1"/>
                </a:solidFill>
              </a:rPr>
              <a:t>one 7-host topology; hand-set weights, costs and priors</a:t>
            </a:r>
            <a:endParaRPr lang="en-US" sz="1400" dirty="0"/>
          </a:p>
          <a:p>
            <a:pPr marL="203200" indent="-203200">
              <a:spcAft>
                <a:spcPts val="700"/>
              </a:spcAft>
              <a:buSzPct val="100000"/>
              <a:buChar char="•"/>
            </a:pPr>
            <a:r>
              <a:rPr lang="en-US" sz="1400" b="1" dirty="0">
                <a:solidFill>
                  <a:schemeClr val="accent2"/>
                </a:solidFill>
              </a:rPr>
              <a:t>Route ≠ attack: </a:t>
            </a:r>
            <a:pPr indent="0" marL="0">
              <a:buNone/>
            </a:pPr>
            <a:r>
              <a:rPr lang="en-US" sz="1400" dirty="0">
                <a:solidFill>
                  <a:schemeClr val="bg1"/>
                </a:solidFill>
              </a:rPr>
              <a:t>a modelled link is not proof of exploitability</a:t>
            </a:r>
            <a:endParaRPr lang="en-US" sz="1400" dirty="0"/>
          </a:p>
          <a:p>
            <a:pPr marL="203200" indent="-203200">
              <a:spcAft>
                <a:spcPts val="700"/>
              </a:spcAft>
              <a:buSzPct val="100000"/>
              <a:buChar char="•"/>
            </a:pPr>
            <a:r>
              <a:rPr lang="en-US" sz="1400" b="1" dirty="0">
                <a:solidFill>
                  <a:schemeClr val="accent2"/>
                </a:solidFill>
              </a:rPr>
              <a:t>Attacker: </a:t>
            </a:r>
            <a:pPr indent="0" marL="0">
              <a:buNone/>
            </a:pPr>
            <a:r>
              <a:rPr lang="en-US" sz="1400" dirty="0">
                <a:solidFill>
                  <a:schemeClr val="bg1"/>
                </a:solidFill>
              </a:rPr>
              <a:t>assumed rational, cost-minimising, fully informed</a:t>
            </a:r>
            <a:endParaRPr lang="en-US" sz="1400" dirty="0"/>
          </a:p>
          <a:p>
            <a:pPr marL="203200" indent="-203200">
              <a:spcAft>
                <a:spcPts val="700"/>
              </a:spcAft>
              <a:buSzPct val="100000"/>
              <a:buChar char="•"/>
            </a:pPr>
            <a:r>
              <a:rPr lang="en-US" sz="1400" b="1" dirty="0">
                <a:solidFill>
                  <a:schemeClr val="accent2"/>
                </a:solidFill>
              </a:rPr>
              <a:t>Heuristic: </a:t>
            </a:r>
            <a:pPr indent="0" marL="0">
              <a:buNone/>
            </a:pPr>
            <a:r>
              <a:rPr lang="en-US" sz="1400" dirty="0">
                <a:solidFill>
                  <a:schemeClr val="bg1"/>
                </a:solidFill>
              </a:rPr>
              <a:t>greedy score ignores redundancy between decoys</a:t>
            </a:r>
            <a:endParaRPr lang="en-US" sz="1400" dirty="0"/>
          </a:p>
          <a:p>
            <a:pPr marL="203200" indent="-203200">
              <a:spcAft>
                <a:spcPts val="700"/>
              </a:spcAft>
              <a:buSzPct val="100000"/>
              <a:buChar char="•"/>
            </a:pPr>
            <a:r>
              <a:rPr lang="en-US" sz="1400" b="1" dirty="0">
                <a:solidFill>
                  <a:schemeClr val="accent2"/>
                </a:solidFill>
              </a:rPr>
              <a:t>Evaluation: </a:t>
            </a:r>
            <a:pPr indent="0" marL="0">
              <a:buNone/>
            </a:pPr>
            <a:r>
              <a:rPr lang="en-US" sz="1400" dirty="0">
                <a:solidFill>
                  <a:schemeClr val="bg1"/>
                </a:solidFill>
              </a:rPr>
              <a:t>chokepoint makes interception trivial; no real data</a:t>
            </a:r>
            <a:endParaRPr lang="en-US" sz="1400" dirty="0"/>
          </a:p>
          <a:p>
            <a:pPr marL="203200" indent="-203200">
              <a:spcAft>
                <a:spcPts val="700"/>
              </a:spcAft>
              <a:buSzPct val="100000"/>
              <a:buChar char="•"/>
            </a:pPr>
            <a:r>
              <a:rPr lang="en-US" sz="1400" b="1" dirty="0">
                <a:solidFill>
                  <a:schemeClr val="accent2"/>
                </a:solidFill>
              </a:rPr>
              <a:t>Deception realism: </a:t>
            </a:r>
            <a:pPr indent="0" marL="0">
              <a:buNone/>
            </a:pPr>
            <a:r>
              <a:rPr lang="en-US" sz="1400" dirty="0">
                <a:solidFill>
                  <a:schemeClr val="bg1"/>
                </a:solidFill>
              </a:rPr>
              <a:t>decoy fingerprinting and false positives not modelled</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bg1"/>
                </a:solidFill>
                <a:latin typeface="Calibri" pitchFamily="34" charset="0"/>
                <a:ea typeface="Calibri" pitchFamily="34" charset="-122"/>
                <a:cs typeface="Calibri" pitchFamily="34" charset="-120"/>
              </a:rPr>
              <a:t>Future scope (not implemented)</a:t>
            </a:r>
            <a:endParaRPr lang="en-US" sz="3000" dirty="0"/>
          </a:p>
        </p:txBody>
      </p:sp>
      <p:sp>
        <p:nvSpPr>
          <p:cNvPr id="3" name="Shape 1"/>
          <p:cNvSpPr/>
          <p:nvPr/>
        </p:nvSpPr>
        <p:spPr>
          <a:xfrm>
            <a:off x="548640" y="1371600"/>
            <a:ext cx="3566160" cy="2148840"/>
          </a:xfrm>
          <a:prstGeom prst="roundRect">
            <a:avLst>
              <a:gd name="adj" fmla="val 2553"/>
            </a:avLst>
          </a:prstGeom>
          <a:solidFill>
            <a:schemeClr val="tx2"/>
          </a:solidFill>
          <a:ln w="9525">
            <a:solidFill>
              <a:schemeClr val="accent6"/>
            </a:solidFill>
            <a:prstDash val="solid"/>
          </a:ln>
        </p:spPr>
      </p:sp>
      <p:sp>
        <p:nvSpPr>
          <p:cNvPr id="4" name="Text 2"/>
          <p:cNvSpPr txBox="1"/>
          <p:nvPr/>
        </p:nvSpPr>
        <p:spPr>
          <a:xfrm>
            <a:off x="749808" y="1554480"/>
            <a:ext cx="3200400" cy="365760"/>
          </a:xfrm>
          <a:prstGeom prst="rect">
            <a:avLst/>
          </a:prstGeom>
          <a:noFill/>
          <a:ln/>
        </p:spPr>
        <p:txBody>
          <a:bodyPr wrap="square" lIns="0" tIns="0" rIns="0" bIns="0" rtlCol="0" anchor="t"/>
          <a:lstStyle/>
          <a:p>
            <a:pPr indent="0" marL="0">
              <a:buNone/>
            </a:pPr>
            <a:r>
              <a:rPr lang="en-US" sz="1600" b="1" dirty="0">
                <a:solidFill>
                  <a:schemeClr val="accent2"/>
                </a:solidFill>
              </a:rPr>
              <a:t>Richer network models</a:t>
            </a:r>
            <a:endParaRPr lang="en-US" sz="1600" dirty="0"/>
          </a:p>
        </p:txBody>
      </p:sp>
      <p:sp>
        <p:nvSpPr>
          <p:cNvPr id="5" name="Text 3"/>
          <p:cNvSpPr txBox="1"/>
          <p:nvPr/>
        </p:nvSpPr>
        <p:spPr>
          <a:xfrm>
            <a:off x="749808" y="2029968"/>
            <a:ext cx="3200400" cy="1371600"/>
          </a:xfrm>
          <a:prstGeom prst="rect">
            <a:avLst/>
          </a:prstGeom>
          <a:noFill/>
          <a:ln/>
        </p:spPr>
        <p:txBody>
          <a:bodyPr wrap="square" lIns="0" tIns="0" rIns="0" bIns="0" rtlCol="0" anchor="t"/>
          <a:lstStyle/>
          <a:p>
            <a:pPr indent="0" marL="0">
              <a:buNone/>
            </a:pPr>
            <a:r>
              <a:rPr lang="en-US" sz="1300" dirty="0">
                <a:solidFill>
                  <a:schemeClr val="bg1"/>
                </a:solidFill>
              </a:rPr>
              <a:t>Directed edges, firewall rules, vulnerability data on edges; import from config files.</a:t>
            </a:r>
            <a:endParaRPr lang="en-US" sz="1300" dirty="0"/>
          </a:p>
        </p:txBody>
      </p:sp>
      <p:sp>
        <p:nvSpPr>
          <p:cNvPr id="6" name="Shape 4"/>
          <p:cNvSpPr/>
          <p:nvPr/>
        </p:nvSpPr>
        <p:spPr>
          <a:xfrm>
            <a:off x="4297680" y="1371600"/>
            <a:ext cx="3566160" cy="2148840"/>
          </a:xfrm>
          <a:prstGeom prst="roundRect">
            <a:avLst>
              <a:gd name="adj" fmla="val 2553"/>
            </a:avLst>
          </a:prstGeom>
          <a:solidFill>
            <a:schemeClr val="tx2"/>
          </a:solidFill>
          <a:ln w="9525">
            <a:solidFill>
              <a:schemeClr val="accent6"/>
            </a:solidFill>
            <a:prstDash val="solid"/>
          </a:ln>
        </p:spPr>
      </p:sp>
      <p:sp>
        <p:nvSpPr>
          <p:cNvPr id="7" name="Text 5"/>
          <p:cNvSpPr txBox="1"/>
          <p:nvPr/>
        </p:nvSpPr>
        <p:spPr>
          <a:xfrm>
            <a:off x="4498848" y="1554480"/>
            <a:ext cx="3200400" cy="365760"/>
          </a:xfrm>
          <a:prstGeom prst="rect">
            <a:avLst/>
          </a:prstGeom>
          <a:noFill/>
          <a:ln/>
        </p:spPr>
        <p:txBody>
          <a:bodyPr wrap="square" lIns="0" tIns="0" rIns="0" bIns="0" rtlCol="0" anchor="t"/>
          <a:lstStyle/>
          <a:p>
            <a:pPr indent="0" marL="0">
              <a:buNone/>
            </a:pPr>
            <a:r>
              <a:rPr lang="en-US" sz="1600" b="1" dirty="0">
                <a:solidFill>
                  <a:schemeClr val="accent2"/>
                </a:solidFill>
              </a:rPr>
              <a:t>Stronger placement</a:t>
            </a:r>
            <a:endParaRPr lang="en-US" sz="1600" dirty="0"/>
          </a:p>
        </p:txBody>
      </p:sp>
      <p:sp>
        <p:nvSpPr>
          <p:cNvPr id="8" name="Text 6"/>
          <p:cNvSpPr txBox="1"/>
          <p:nvPr/>
        </p:nvSpPr>
        <p:spPr>
          <a:xfrm>
            <a:off x="4498848" y="2029968"/>
            <a:ext cx="3200400" cy="1371600"/>
          </a:xfrm>
          <a:prstGeom prst="rect">
            <a:avLst/>
          </a:prstGeom>
          <a:noFill/>
          <a:ln/>
        </p:spPr>
        <p:txBody>
          <a:bodyPr wrap="square" lIns="0" tIns="0" rIns="0" bIns="0" rtlCol="0" anchor="t"/>
          <a:lstStyle/>
          <a:p>
            <a:pPr indent="0" marL="0">
              <a:buNone/>
            </a:pPr>
            <a:r>
              <a:rPr lang="en-US" sz="1300" dirty="0">
                <a:solidFill>
                  <a:schemeClr val="bg1"/>
                </a:solidFill>
              </a:rPr>
              <a:t>Set-cover / ILP formulation with redundancy; Stackelberg security games.</a:t>
            </a:r>
            <a:endParaRPr lang="en-US" sz="1300" dirty="0"/>
          </a:p>
        </p:txBody>
      </p:sp>
      <p:sp>
        <p:nvSpPr>
          <p:cNvPr id="9" name="Shape 7"/>
          <p:cNvSpPr/>
          <p:nvPr/>
        </p:nvSpPr>
        <p:spPr>
          <a:xfrm>
            <a:off x="8046720" y="1371600"/>
            <a:ext cx="3566160" cy="2148840"/>
          </a:xfrm>
          <a:prstGeom prst="roundRect">
            <a:avLst>
              <a:gd name="adj" fmla="val 2553"/>
            </a:avLst>
          </a:prstGeom>
          <a:solidFill>
            <a:schemeClr val="tx2"/>
          </a:solidFill>
          <a:ln w="9525">
            <a:solidFill>
              <a:schemeClr val="accent6"/>
            </a:solidFill>
            <a:prstDash val="solid"/>
          </a:ln>
        </p:spPr>
      </p:sp>
      <p:sp>
        <p:nvSpPr>
          <p:cNvPr id="10" name="Text 8"/>
          <p:cNvSpPr txBox="1"/>
          <p:nvPr/>
        </p:nvSpPr>
        <p:spPr>
          <a:xfrm>
            <a:off x="8247888" y="1554480"/>
            <a:ext cx="3200400" cy="365760"/>
          </a:xfrm>
          <a:prstGeom prst="rect">
            <a:avLst/>
          </a:prstGeom>
          <a:noFill/>
          <a:ln/>
        </p:spPr>
        <p:txBody>
          <a:bodyPr wrap="square" lIns="0" tIns="0" rIns="0" bIns="0" rtlCol="0" anchor="t"/>
          <a:lstStyle/>
          <a:p>
            <a:pPr indent="0" marL="0">
              <a:buNone/>
            </a:pPr>
            <a:r>
              <a:rPr lang="en-US" sz="1600" b="1" dirty="0">
                <a:solidFill>
                  <a:schemeClr val="accent2"/>
                </a:solidFill>
              </a:rPr>
              <a:t>Reproducible evaluation</a:t>
            </a:r>
            <a:endParaRPr lang="en-US" sz="1600" dirty="0"/>
          </a:p>
        </p:txBody>
      </p:sp>
      <p:sp>
        <p:nvSpPr>
          <p:cNvPr id="11" name="Text 9"/>
          <p:cNvSpPr txBox="1"/>
          <p:nvPr/>
        </p:nvSpPr>
        <p:spPr>
          <a:xfrm>
            <a:off x="8247888" y="2029968"/>
            <a:ext cx="3200400" cy="1371600"/>
          </a:xfrm>
          <a:prstGeom prst="rect">
            <a:avLst/>
          </a:prstGeom>
          <a:noFill/>
          <a:ln/>
        </p:spPr>
        <p:txBody>
          <a:bodyPr wrap="square" lIns="0" tIns="0" rIns="0" bIns="0" rtlCol="0" anchor="t"/>
          <a:lstStyle/>
          <a:p>
            <a:pPr indent="0" marL="0">
              <a:buNone/>
            </a:pPr>
            <a:r>
              <a:rPr lang="en-US" sz="1300" dirty="0">
                <a:solidFill>
                  <a:schemeClr val="bg1"/>
                </a:solidFill>
              </a:rPr>
              <a:t>Benchmark suites of generated topologies without chokepoints; confidence intervals.</a:t>
            </a:r>
            <a:endParaRPr lang="en-US" sz="1300" dirty="0"/>
          </a:p>
        </p:txBody>
      </p:sp>
      <p:sp>
        <p:nvSpPr>
          <p:cNvPr id="12" name="Shape 10"/>
          <p:cNvSpPr/>
          <p:nvPr/>
        </p:nvSpPr>
        <p:spPr>
          <a:xfrm>
            <a:off x="548640" y="3749040"/>
            <a:ext cx="3566160" cy="2148840"/>
          </a:xfrm>
          <a:prstGeom prst="roundRect">
            <a:avLst>
              <a:gd name="adj" fmla="val 2553"/>
            </a:avLst>
          </a:prstGeom>
          <a:solidFill>
            <a:schemeClr val="tx2"/>
          </a:solidFill>
          <a:ln w="9525">
            <a:solidFill>
              <a:schemeClr val="accent6"/>
            </a:solidFill>
            <a:prstDash val="solid"/>
          </a:ln>
        </p:spPr>
      </p:sp>
      <p:sp>
        <p:nvSpPr>
          <p:cNvPr id="13" name="Text 11"/>
          <p:cNvSpPr txBox="1"/>
          <p:nvPr/>
        </p:nvSpPr>
        <p:spPr>
          <a:xfrm>
            <a:off x="749808" y="3931920"/>
            <a:ext cx="3200400" cy="365760"/>
          </a:xfrm>
          <a:prstGeom prst="rect">
            <a:avLst/>
          </a:prstGeom>
          <a:noFill/>
          <a:ln/>
        </p:spPr>
        <p:txBody>
          <a:bodyPr wrap="square" lIns="0" tIns="0" rIns="0" bIns="0" rtlCol="0" anchor="t"/>
          <a:lstStyle/>
          <a:p>
            <a:pPr indent="0" marL="0">
              <a:buNone/>
            </a:pPr>
            <a:r>
              <a:rPr lang="en-US" sz="1600" b="1" dirty="0">
                <a:solidFill>
                  <a:schemeClr val="accent2"/>
                </a:solidFill>
              </a:rPr>
              <a:t>Authorised telemetry</a:t>
            </a:r>
            <a:endParaRPr lang="en-US" sz="1600" dirty="0"/>
          </a:p>
        </p:txBody>
      </p:sp>
      <p:sp>
        <p:nvSpPr>
          <p:cNvPr id="14" name="Text 12"/>
          <p:cNvSpPr txBox="1"/>
          <p:nvPr/>
        </p:nvSpPr>
        <p:spPr>
          <a:xfrm>
            <a:off x="749808" y="4407408"/>
            <a:ext cx="3200400" cy="1371600"/>
          </a:xfrm>
          <a:prstGeom prst="rect">
            <a:avLst/>
          </a:prstGeom>
          <a:noFill/>
          <a:ln/>
        </p:spPr>
        <p:txBody>
          <a:bodyPr wrap="square" lIns="0" tIns="0" rIns="0" bIns="0" rtlCol="0" anchor="t"/>
          <a:lstStyle/>
          <a:p>
            <a:pPr indent="0" marL="0">
              <a:buNone/>
            </a:pPr>
            <a:r>
              <a:rPr lang="en-US" sz="1300" dirty="0">
                <a:solidFill>
                  <a:schemeClr val="bg1"/>
                </a:solidFill>
              </a:rPr>
              <a:t>Feed alerts from lab honeypots (e.g. in an isolated testbed) into the model.</a:t>
            </a:r>
            <a:endParaRPr lang="en-US" sz="1300" dirty="0"/>
          </a:p>
        </p:txBody>
      </p:sp>
      <p:sp>
        <p:nvSpPr>
          <p:cNvPr id="15" name="Shape 13"/>
          <p:cNvSpPr/>
          <p:nvPr/>
        </p:nvSpPr>
        <p:spPr>
          <a:xfrm>
            <a:off x="4297680" y="3749040"/>
            <a:ext cx="3566160" cy="2148840"/>
          </a:xfrm>
          <a:prstGeom prst="roundRect">
            <a:avLst>
              <a:gd name="adj" fmla="val 2553"/>
            </a:avLst>
          </a:prstGeom>
          <a:solidFill>
            <a:schemeClr val="tx2"/>
          </a:solidFill>
          <a:ln w="9525">
            <a:solidFill>
              <a:schemeClr val="accent6"/>
            </a:solidFill>
            <a:prstDash val="solid"/>
          </a:ln>
        </p:spPr>
      </p:sp>
      <p:sp>
        <p:nvSpPr>
          <p:cNvPr id="16" name="Text 14"/>
          <p:cNvSpPr txBox="1"/>
          <p:nvPr/>
        </p:nvSpPr>
        <p:spPr>
          <a:xfrm>
            <a:off x="4498848" y="3931920"/>
            <a:ext cx="3200400" cy="365760"/>
          </a:xfrm>
          <a:prstGeom prst="rect">
            <a:avLst/>
          </a:prstGeom>
          <a:noFill/>
          <a:ln/>
        </p:spPr>
        <p:txBody>
          <a:bodyPr wrap="square" lIns="0" tIns="0" rIns="0" bIns="0" rtlCol="0" anchor="t"/>
          <a:lstStyle/>
          <a:p>
            <a:pPr indent="0" marL="0">
              <a:buNone/>
            </a:pPr>
            <a:r>
              <a:rPr lang="en-US" sz="1600" b="1" dirty="0">
                <a:solidFill>
                  <a:schemeClr val="accent2"/>
                </a:solidFill>
              </a:rPr>
              <a:t>Explainability</a:t>
            </a:r>
            <a:endParaRPr lang="en-US" sz="1600" dirty="0"/>
          </a:p>
        </p:txBody>
      </p:sp>
      <p:sp>
        <p:nvSpPr>
          <p:cNvPr id="17" name="Text 15"/>
          <p:cNvSpPr txBox="1"/>
          <p:nvPr/>
        </p:nvSpPr>
        <p:spPr>
          <a:xfrm>
            <a:off x="4498848" y="4407408"/>
            <a:ext cx="3200400" cy="1371600"/>
          </a:xfrm>
          <a:prstGeom prst="rect">
            <a:avLst/>
          </a:prstGeom>
          <a:noFill/>
          <a:ln/>
        </p:spPr>
        <p:txBody>
          <a:bodyPr wrap="square" lIns="0" tIns="0" rIns="0" bIns="0" rtlCol="0" anchor="t"/>
          <a:lstStyle/>
          <a:p>
            <a:pPr indent="0" marL="0">
              <a:buNone/>
            </a:pPr>
            <a:r>
              <a:rPr lang="en-US" sz="1300" dirty="0">
                <a:solidFill>
                  <a:schemeClr val="bg1"/>
                </a:solidFill>
              </a:rPr>
              <a:t>Counterfactuals: “what changes if this decoy moves?”; sensitivity to weights.</a:t>
            </a:r>
            <a:endParaRPr lang="en-US" sz="1300" dirty="0"/>
          </a:p>
        </p:txBody>
      </p:sp>
      <p:sp>
        <p:nvSpPr>
          <p:cNvPr id="18" name="Shape 16"/>
          <p:cNvSpPr/>
          <p:nvPr/>
        </p:nvSpPr>
        <p:spPr>
          <a:xfrm>
            <a:off x="8046720" y="3749040"/>
            <a:ext cx="3566160" cy="2148840"/>
          </a:xfrm>
          <a:prstGeom prst="roundRect">
            <a:avLst>
              <a:gd name="adj" fmla="val 2553"/>
            </a:avLst>
          </a:prstGeom>
          <a:solidFill>
            <a:schemeClr val="tx2"/>
          </a:solidFill>
          <a:ln w="9525">
            <a:solidFill>
              <a:schemeClr val="accent6"/>
            </a:solidFill>
            <a:prstDash val="solid"/>
          </a:ln>
        </p:spPr>
      </p:sp>
      <p:sp>
        <p:nvSpPr>
          <p:cNvPr id="19" name="Text 17"/>
          <p:cNvSpPr txBox="1"/>
          <p:nvPr/>
        </p:nvSpPr>
        <p:spPr>
          <a:xfrm>
            <a:off x="8247888" y="3931920"/>
            <a:ext cx="3200400" cy="365760"/>
          </a:xfrm>
          <a:prstGeom prst="rect">
            <a:avLst/>
          </a:prstGeom>
          <a:noFill/>
          <a:ln/>
        </p:spPr>
        <p:txBody>
          <a:bodyPr wrap="square" lIns="0" tIns="0" rIns="0" bIns="0" rtlCol="0" anchor="t"/>
          <a:lstStyle/>
          <a:p>
            <a:pPr indent="0" marL="0">
              <a:buNone/>
            </a:pPr>
            <a:r>
              <a:rPr lang="en-US" sz="1600" b="1" dirty="0">
                <a:solidFill>
                  <a:schemeClr val="accent2"/>
                </a:solidFill>
              </a:rPr>
              <a:t>Validated ML</a:t>
            </a:r>
            <a:endParaRPr lang="en-US" sz="1600" dirty="0"/>
          </a:p>
        </p:txBody>
      </p:sp>
      <p:sp>
        <p:nvSpPr>
          <p:cNvPr id="20" name="Text 18"/>
          <p:cNvSpPr txBox="1"/>
          <p:nvPr/>
        </p:nvSpPr>
        <p:spPr>
          <a:xfrm>
            <a:off x="8247888" y="4407408"/>
            <a:ext cx="3200400" cy="1371600"/>
          </a:xfrm>
          <a:prstGeom prst="rect">
            <a:avLst/>
          </a:prstGeom>
          <a:noFill/>
          <a:ln/>
        </p:spPr>
        <p:txBody>
          <a:bodyPr wrap="square" lIns="0" tIns="0" rIns="0" bIns="0" rtlCol="0" anchor="t"/>
          <a:lstStyle/>
          <a:p>
            <a:pPr indent="0" marL="0">
              <a:buNone/>
            </a:pPr>
            <a:r>
              <a:rPr lang="en-US" sz="1300" dirty="0">
                <a:solidFill>
                  <a:schemeClr val="bg1"/>
                </a:solidFill>
              </a:rPr>
              <a:t>Only with suitable labelled data: learned attacker models, evaluated against baselines.</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640080" y="914400"/>
            <a:ext cx="5486400" cy="228600"/>
          </a:xfrm>
          <a:prstGeom prst="rect">
            <a:avLst/>
          </a:prstGeom>
          <a:noFill/>
          <a:ln/>
        </p:spPr>
        <p:txBody>
          <a:bodyPr wrap="square" lIns="0" tIns="0" rIns="0" bIns="0" rtlCol="0" anchor="t"/>
          <a:lstStyle/>
          <a:p>
            <a:pPr indent="0" marL="0">
              <a:buNone/>
            </a:pPr>
            <a:r>
              <a:rPr lang="en-US" sz="1000" b="1" spc="150" kern="0" dirty="0">
                <a:solidFill>
                  <a:schemeClr val="accent1"/>
                </a:solidFill>
                <a:latin typeface="Courier New" pitchFamily="34" charset="0"/>
                <a:ea typeface="Courier New" pitchFamily="34" charset="-122"/>
                <a:cs typeface="Courier New" pitchFamily="34" charset="-120"/>
              </a:rPr>
              <a:t>CONCLUSION</a:t>
            </a:r>
            <a:endParaRPr lang="en-US" sz="1000" dirty="0"/>
          </a:p>
        </p:txBody>
      </p:sp>
      <p:sp>
        <p:nvSpPr>
          <p:cNvPr id="3" name="Text 1"/>
          <p:cNvSpPr txBox="1"/>
          <p:nvPr/>
        </p:nvSpPr>
        <p:spPr>
          <a:xfrm>
            <a:off x="640080" y="1280160"/>
            <a:ext cx="10881360" cy="1097280"/>
          </a:xfrm>
          <a:prstGeom prst="rect">
            <a:avLst/>
          </a:prstGeom>
          <a:noFill/>
          <a:ln/>
        </p:spPr>
        <p:txBody>
          <a:bodyPr wrap="square" lIns="0" tIns="0" rIns="0" bIns="0" rtlCol="0" anchor="t"/>
          <a:lstStyle/>
          <a:p>
            <a:pPr indent="0" marL="0">
              <a:buNone/>
            </a:pPr>
            <a:r>
              <a:rPr lang="en-US" sz="3000" b="1" dirty="0">
                <a:solidFill>
                  <a:schemeClr val="bg1"/>
                </a:solidFill>
              </a:rPr>
              <a:t>A transparent, tested pipeline from attacker route to honeypot decision</a:t>
            </a:r>
            <a:endParaRPr lang="en-US" sz="3000" dirty="0"/>
          </a:p>
        </p:txBody>
      </p:sp>
      <p:sp>
        <p:nvSpPr>
          <p:cNvPr id="4" name="Shape 2"/>
          <p:cNvSpPr/>
          <p:nvPr/>
        </p:nvSpPr>
        <p:spPr>
          <a:xfrm>
            <a:off x="640080" y="2834640"/>
            <a:ext cx="2606040" cy="2194560"/>
          </a:xfrm>
          <a:prstGeom prst="roundRect">
            <a:avLst>
              <a:gd name="adj" fmla="val 2500"/>
            </a:avLst>
          </a:prstGeom>
          <a:solidFill>
            <a:schemeClr val="tx2"/>
          </a:solidFill>
          <a:ln w="9525">
            <a:solidFill>
              <a:schemeClr val="accent6"/>
            </a:solidFill>
            <a:prstDash val="solid"/>
          </a:ln>
        </p:spPr>
      </p:sp>
      <p:sp>
        <p:nvSpPr>
          <p:cNvPr id="5" name="Text 3"/>
          <p:cNvSpPr txBox="1"/>
          <p:nvPr/>
        </p:nvSpPr>
        <p:spPr>
          <a:xfrm>
            <a:off x="822960" y="2971800"/>
            <a:ext cx="2286000" cy="365760"/>
          </a:xfrm>
          <a:prstGeom prst="rect">
            <a:avLst/>
          </a:prstGeom>
          <a:noFill/>
          <a:ln/>
        </p:spPr>
        <p:txBody>
          <a:bodyPr wrap="square" lIns="0" tIns="0" rIns="0" bIns="0" rtlCol="0" anchor="t"/>
          <a:lstStyle/>
          <a:p>
            <a:pPr indent="0" marL="0">
              <a:buNone/>
            </a:pPr>
            <a:r>
              <a:rPr lang="en-US" sz="1600" b="1" dirty="0">
                <a:solidFill>
                  <a:schemeClr val="accent1"/>
                </a:solidFill>
              </a:rPr>
              <a:t>Problem</a:t>
            </a:r>
            <a:endParaRPr lang="en-US" sz="1600" dirty="0"/>
          </a:p>
        </p:txBody>
      </p:sp>
      <p:sp>
        <p:nvSpPr>
          <p:cNvPr id="6" name="Text 4"/>
          <p:cNvSpPr txBox="1"/>
          <p:nvPr/>
        </p:nvSpPr>
        <p:spPr>
          <a:xfrm>
            <a:off x="822960" y="3429000"/>
            <a:ext cx="2286000" cy="1508760"/>
          </a:xfrm>
          <a:prstGeom prst="rect">
            <a:avLst/>
          </a:prstGeom>
          <a:noFill/>
          <a:ln/>
        </p:spPr>
        <p:txBody>
          <a:bodyPr wrap="square" lIns="0" tIns="0" rIns="0" bIns="0" rtlCol="0" anchor="t"/>
          <a:lstStyle/>
          <a:p>
            <a:pPr indent="0" marL="0">
              <a:buNone/>
            </a:pPr>
            <a:r>
              <a:rPr lang="en-US" sz="1400" dirty="0">
                <a:solidFill>
                  <a:schemeClr val="bg1"/>
                </a:solidFill>
              </a:rPr>
              <a:t>Limited decoys must go where attackers will actually walk.</a:t>
            </a:r>
            <a:endParaRPr lang="en-US" sz="1400" dirty="0"/>
          </a:p>
        </p:txBody>
      </p:sp>
      <p:sp>
        <p:nvSpPr>
          <p:cNvPr id="7" name="Shape 5"/>
          <p:cNvSpPr/>
          <p:nvPr/>
        </p:nvSpPr>
        <p:spPr>
          <a:xfrm>
            <a:off x="3410712" y="2834640"/>
            <a:ext cx="2606040" cy="2194560"/>
          </a:xfrm>
          <a:prstGeom prst="roundRect">
            <a:avLst>
              <a:gd name="adj" fmla="val 2500"/>
            </a:avLst>
          </a:prstGeom>
          <a:solidFill>
            <a:schemeClr val="tx2"/>
          </a:solidFill>
          <a:ln w="9525">
            <a:solidFill>
              <a:schemeClr val="accent6"/>
            </a:solidFill>
            <a:prstDash val="solid"/>
          </a:ln>
        </p:spPr>
      </p:sp>
      <p:sp>
        <p:nvSpPr>
          <p:cNvPr id="8" name="Text 6"/>
          <p:cNvSpPr txBox="1"/>
          <p:nvPr/>
        </p:nvSpPr>
        <p:spPr>
          <a:xfrm>
            <a:off x="3593592" y="2971800"/>
            <a:ext cx="2286000" cy="365760"/>
          </a:xfrm>
          <a:prstGeom prst="rect">
            <a:avLst/>
          </a:prstGeom>
          <a:noFill/>
          <a:ln/>
        </p:spPr>
        <p:txBody>
          <a:bodyPr wrap="square" lIns="0" tIns="0" rIns="0" bIns="0" rtlCol="0" anchor="t"/>
          <a:lstStyle/>
          <a:p>
            <a:pPr indent="0" marL="0">
              <a:buNone/>
            </a:pPr>
            <a:r>
              <a:rPr lang="en-US" sz="1600" b="1" dirty="0">
                <a:solidFill>
                  <a:schemeClr val="accent1"/>
                </a:solidFill>
              </a:rPr>
              <a:t>Solution</a:t>
            </a:r>
            <a:endParaRPr lang="en-US" sz="1600" dirty="0"/>
          </a:p>
        </p:txBody>
      </p:sp>
      <p:sp>
        <p:nvSpPr>
          <p:cNvPr id="9" name="Text 7"/>
          <p:cNvSpPr txBox="1"/>
          <p:nvPr/>
        </p:nvSpPr>
        <p:spPr>
          <a:xfrm>
            <a:off x="3593592" y="3429000"/>
            <a:ext cx="2286000" cy="1508760"/>
          </a:xfrm>
          <a:prstGeom prst="rect">
            <a:avLst/>
          </a:prstGeom>
          <a:noFill/>
          <a:ln/>
        </p:spPr>
        <p:txBody>
          <a:bodyPr wrap="square" lIns="0" tIns="0" rIns="0" bIns="0" rtlCol="0" anchor="t"/>
          <a:lstStyle/>
          <a:p>
            <a:pPr indent="0" marL="0">
              <a:buNone/>
            </a:pPr>
            <a:r>
              <a:rPr lang="en-US" sz="1400" dirty="0">
                <a:solidFill>
                  <a:schemeClr val="bg1"/>
                </a:solidFill>
              </a:rPr>
              <a:t>Graph model + four search algorithms + scored and optimised placement.</a:t>
            </a:r>
            <a:endParaRPr lang="en-US" sz="1400" dirty="0"/>
          </a:p>
        </p:txBody>
      </p:sp>
      <p:sp>
        <p:nvSpPr>
          <p:cNvPr id="10" name="Shape 8"/>
          <p:cNvSpPr/>
          <p:nvPr/>
        </p:nvSpPr>
        <p:spPr>
          <a:xfrm>
            <a:off x="6181344" y="2834640"/>
            <a:ext cx="2606040" cy="2194560"/>
          </a:xfrm>
          <a:prstGeom prst="roundRect">
            <a:avLst>
              <a:gd name="adj" fmla="val 2500"/>
            </a:avLst>
          </a:prstGeom>
          <a:solidFill>
            <a:schemeClr val="tx2"/>
          </a:solidFill>
          <a:ln w="9525">
            <a:solidFill>
              <a:schemeClr val="accent6"/>
            </a:solidFill>
            <a:prstDash val="solid"/>
          </a:ln>
        </p:spPr>
      </p:sp>
      <p:sp>
        <p:nvSpPr>
          <p:cNvPr id="11" name="Text 9"/>
          <p:cNvSpPr txBox="1"/>
          <p:nvPr/>
        </p:nvSpPr>
        <p:spPr>
          <a:xfrm>
            <a:off x="6364224" y="2971800"/>
            <a:ext cx="2286000" cy="365760"/>
          </a:xfrm>
          <a:prstGeom prst="rect">
            <a:avLst/>
          </a:prstGeom>
          <a:noFill/>
          <a:ln/>
        </p:spPr>
        <p:txBody>
          <a:bodyPr wrap="square" lIns="0" tIns="0" rIns="0" bIns="0" rtlCol="0" anchor="t"/>
          <a:lstStyle/>
          <a:p>
            <a:pPr indent="0" marL="0">
              <a:buNone/>
            </a:pPr>
            <a:r>
              <a:rPr lang="en-US" sz="1600" b="1" dirty="0">
                <a:solidFill>
                  <a:schemeClr val="accent1"/>
                </a:solidFill>
              </a:rPr>
              <a:t>Implementation</a:t>
            </a:r>
            <a:endParaRPr lang="en-US" sz="1600" dirty="0"/>
          </a:p>
        </p:txBody>
      </p:sp>
      <p:sp>
        <p:nvSpPr>
          <p:cNvPr id="12" name="Text 10"/>
          <p:cNvSpPr txBox="1"/>
          <p:nvPr/>
        </p:nvSpPr>
        <p:spPr>
          <a:xfrm>
            <a:off x="6364224" y="3429000"/>
            <a:ext cx="2286000" cy="1508760"/>
          </a:xfrm>
          <a:prstGeom prst="rect">
            <a:avLst/>
          </a:prstGeom>
          <a:noFill/>
          <a:ln/>
        </p:spPr>
        <p:txBody>
          <a:bodyPr wrap="square" lIns="0" tIns="0" rIns="0" bIns="0" rtlCol="0" anchor="t"/>
          <a:lstStyle/>
          <a:p>
            <a:pPr indent="0" marL="0">
              <a:buNone/>
            </a:pPr>
            <a:r>
              <a:rPr lang="en-US" sz="1400" dirty="0">
                <a:solidFill>
                  <a:schemeClr val="bg1"/>
                </a:solidFill>
              </a:rPr>
              <a:t>FastAPI + NetworkX backend, React UI, PostgreSQL/SQLite, Docker.</a:t>
            </a:r>
            <a:endParaRPr lang="en-US" sz="1400" dirty="0"/>
          </a:p>
        </p:txBody>
      </p:sp>
      <p:sp>
        <p:nvSpPr>
          <p:cNvPr id="13" name="Shape 11"/>
          <p:cNvSpPr/>
          <p:nvPr/>
        </p:nvSpPr>
        <p:spPr>
          <a:xfrm>
            <a:off x="8951976" y="2834640"/>
            <a:ext cx="2606040" cy="2194560"/>
          </a:xfrm>
          <a:prstGeom prst="roundRect">
            <a:avLst>
              <a:gd name="adj" fmla="val 2500"/>
            </a:avLst>
          </a:prstGeom>
          <a:solidFill>
            <a:schemeClr val="tx2"/>
          </a:solidFill>
          <a:ln w="9525">
            <a:solidFill>
              <a:schemeClr val="accent6"/>
            </a:solidFill>
            <a:prstDash val="solid"/>
          </a:ln>
        </p:spPr>
      </p:sp>
      <p:sp>
        <p:nvSpPr>
          <p:cNvPr id="14" name="Text 12"/>
          <p:cNvSpPr txBox="1"/>
          <p:nvPr/>
        </p:nvSpPr>
        <p:spPr>
          <a:xfrm>
            <a:off x="9134856" y="2971800"/>
            <a:ext cx="2286000" cy="365760"/>
          </a:xfrm>
          <a:prstGeom prst="rect">
            <a:avLst/>
          </a:prstGeom>
          <a:noFill/>
          <a:ln/>
        </p:spPr>
        <p:txBody>
          <a:bodyPr wrap="square" lIns="0" tIns="0" rIns="0" bIns="0" rtlCol="0" anchor="t"/>
          <a:lstStyle/>
          <a:p>
            <a:pPr indent="0" marL="0">
              <a:buNone/>
            </a:pPr>
            <a:r>
              <a:rPr lang="en-US" sz="1600" b="1" dirty="0">
                <a:solidFill>
                  <a:schemeClr val="accent1"/>
                </a:solidFill>
              </a:rPr>
              <a:t>Evidence</a:t>
            </a:r>
            <a:endParaRPr lang="en-US" sz="1600" dirty="0"/>
          </a:p>
        </p:txBody>
      </p:sp>
      <p:sp>
        <p:nvSpPr>
          <p:cNvPr id="15" name="Text 13"/>
          <p:cNvSpPr txBox="1"/>
          <p:nvPr/>
        </p:nvSpPr>
        <p:spPr>
          <a:xfrm>
            <a:off x="9134856" y="3429000"/>
            <a:ext cx="2286000" cy="1508760"/>
          </a:xfrm>
          <a:prstGeom prst="rect">
            <a:avLst/>
          </a:prstGeom>
          <a:noFill/>
          <a:ln/>
        </p:spPr>
        <p:txBody>
          <a:bodyPr wrap="square" lIns="0" tIns="0" rIns="0" bIns="0" rtlCol="0" anchor="t"/>
          <a:lstStyle/>
          <a:p>
            <a:pPr indent="0" marL="0">
              <a:buNone/>
            </a:pPr>
            <a:r>
              <a:rPr lang="en-US" sz="1400" dirty="0">
                <a:solidFill>
                  <a:schemeClr val="bg1"/>
                </a:solidFill>
              </a:rPr>
              <a:t>170 + 44 passing tests; real outputs shown, with honest caveats.</a:t>
            </a:r>
            <a:endParaRPr lang="en-US" sz="1400" dirty="0"/>
          </a:p>
        </p:txBody>
      </p:sp>
      <p:sp>
        <p:nvSpPr>
          <p:cNvPr id="16" name="Text 14"/>
          <p:cNvSpPr txBox="1"/>
          <p:nvPr/>
        </p:nvSpPr>
        <p:spPr>
          <a:xfrm>
            <a:off x="640080" y="5394960"/>
            <a:ext cx="10881360" cy="640080"/>
          </a:xfrm>
          <a:prstGeom prst="rect">
            <a:avLst/>
          </a:prstGeom>
          <a:noFill/>
          <a:ln/>
        </p:spPr>
        <p:txBody>
          <a:bodyPr wrap="square" lIns="0" tIns="0" rIns="0" bIns="0" rtlCol="0" anchor="t"/>
          <a:lstStyle/>
          <a:p>
            <a:pPr indent="0" marL="0">
              <a:buNone/>
            </a:pPr>
            <a:r>
              <a:rPr lang="en-US" sz="1600" i="1" dirty="0">
                <a:solidFill>
                  <a:schemeClr val="accent2"/>
                </a:solidFill>
              </a:rPr>
              <a:t>Main contribution: defender decisions are computed from the attacker’s own predicted routes — and every number can be explained.</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bg1"/>
                </a:solidFill>
                <a:latin typeface="Calibri" pitchFamily="34" charset="0"/>
                <a:ea typeface="Calibri" pitchFamily="34" charset="-122"/>
                <a:cs typeface="Calibri" pitchFamily="34" charset="-120"/>
              </a:rPr>
              <a:t>References</a:t>
            </a:r>
            <a:endParaRPr lang="en-US" sz="3000" dirty="0"/>
          </a:p>
        </p:txBody>
      </p:sp>
      <p:sp>
        <p:nvSpPr>
          <p:cNvPr id="3" name="Text 1"/>
          <p:cNvSpPr txBox="1"/>
          <p:nvPr/>
        </p:nvSpPr>
        <p:spPr>
          <a:xfrm>
            <a:off x="548640" y="1280160"/>
            <a:ext cx="11064240" cy="4846320"/>
          </a:xfrm>
          <a:prstGeom prst="rect">
            <a:avLst/>
          </a:prstGeom>
          <a:noFill/>
          <a:ln/>
        </p:spPr>
        <p:txBody>
          <a:bodyPr wrap="square" lIns="0" tIns="0" rIns="0" bIns="0" rtlCol="0" anchor="t"/>
          <a:lstStyle/>
          <a:p>
            <a:pPr indent="0" marL="0">
              <a:spcAft>
                <a:spcPts val="500"/>
              </a:spcAft>
              <a:buNone/>
            </a:pPr>
            <a:r>
              <a:rPr lang="en-US" sz="1100" dirty="0">
                <a:solidFill>
                  <a:schemeClr val="bg1"/>
                </a:solidFill>
              </a:rPr>
              <a:t>[1] Dijkstra, E. W. (1959). A note on two problems in connexion with graphs. Numerische Mathematik, 1, 269–271.</a:t>
            </a:r>
            <a:endParaRPr lang="en-US" sz="1100" dirty="0"/>
          </a:p>
          <a:p>
            <a:pPr indent="0" marL="0">
              <a:spcAft>
                <a:spcPts val="500"/>
              </a:spcAft>
              <a:buNone/>
            </a:pPr>
            <a:r>
              <a:rPr lang="en-US" sz="1100" dirty="0">
                <a:solidFill>
                  <a:schemeClr val="bg1"/>
                </a:solidFill>
              </a:rPr>
              <a:t>[2] Hart, P. E., Nilsson, N. J., &amp; Raphael, B. (1968). A formal basis for the heuristic determination of minimum cost paths. IEEE Transactions on Systems Science and Cybernetics, 4(2), 100–107.</a:t>
            </a:r>
            <a:endParaRPr lang="en-US" sz="1100" dirty="0"/>
          </a:p>
          <a:p>
            <a:pPr indent="0" marL="0">
              <a:spcAft>
                <a:spcPts val="500"/>
              </a:spcAft>
              <a:buNone/>
            </a:pPr>
            <a:r>
              <a:rPr lang="en-US" sz="1100" dirty="0">
                <a:solidFill>
                  <a:schemeClr val="bg1"/>
                </a:solidFill>
              </a:rPr>
              <a:t>[3] Yen, J. Y. (1971). Finding the K shortest loopless paths in a network. Management Science, 17(11), 712–716.</a:t>
            </a:r>
            <a:endParaRPr lang="en-US" sz="1100" dirty="0"/>
          </a:p>
          <a:p>
            <a:pPr indent="0" marL="0">
              <a:spcAft>
                <a:spcPts val="500"/>
              </a:spcAft>
              <a:buNone/>
            </a:pPr>
            <a:r>
              <a:rPr lang="en-US" sz="1100" dirty="0">
                <a:solidFill>
                  <a:schemeClr val="bg1"/>
                </a:solidFill>
              </a:rPr>
              <a:t>[4] Fikes, R. E., &amp; Nilsson, N. J. (1971). STRIPS: A new approach to the application of theorem proving to problem solving. Artificial Intelligence, 2(3–4), 189–208.</a:t>
            </a:r>
            <a:endParaRPr lang="en-US" sz="1100" dirty="0"/>
          </a:p>
          <a:p>
            <a:pPr indent="0" marL="0">
              <a:spcAft>
                <a:spcPts val="500"/>
              </a:spcAft>
              <a:buNone/>
            </a:pPr>
            <a:r>
              <a:rPr lang="en-US" sz="1100" dirty="0">
                <a:solidFill>
                  <a:schemeClr val="bg1"/>
                </a:solidFill>
              </a:rPr>
              <a:t>[5] Knuth, D. E., &amp; Moore, R. W. (1975). An analysis of alpha-beta pruning. Artificial Intelligence, 6(4), 293–326.</a:t>
            </a:r>
            <a:endParaRPr lang="en-US" sz="1100" dirty="0"/>
          </a:p>
          <a:p>
            <a:pPr indent="0" marL="0">
              <a:spcAft>
                <a:spcPts val="500"/>
              </a:spcAft>
              <a:buNone/>
            </a:pPr>
            <a:r>
              <a:rPr lang="en-US" sz="1100" dirty="0">
                <a:solidFill>
                  <a:schemeClr val="bg1"/>
                </a:solidFill>
              </a:rPr>
              <a:t>[6] Holland, J. H. (1975). Adaptation in Natural and Artificial Systems. University of Michigan Press.</a:t>
            </a:r>
            <a:endParaRPr lang="en-US" sz="1100" dirty="0"/>
          </a:p>
          <a:p>
            <a:pPr indent="0" marL="0">
              <a:spcAft>
                <a:spcPts val="500"/>
              </a:spcAft>
              <a:buNone/>
            </a:pPr>
            <a:r>
              <a:rPr lang="en-US" sz="1100" dirty="0">
                <a:solidFill>
                  <a:schemeClr val="bg1"/>
                </a:solidFill>
              </a:rPr>
              <a:t>[7] Sheyner, O., Haines, J., Jha, S., Lippmann, R., &amp; Wing, J. M. (2002). Automated generation and analysis of attack graphs. Proc. IEEE Symposium on Security and Privacy, 254–265.</a:t>
            </a:r>
            <a:endParaRPr lang="en-US" sz="1100" dirty="0"/>
          </a:p>
          <a:p>
            <a:pPr indent="0" marL="0">
              <a:spcAft>
                <a:spcPts val="500"/>
              </a:spcAft>
              <a:buNone/>
            </a:pPr>
            <a:r>
              <a:rPr lang="en-US" sz="1100" dirty="0">
                <a:solidFill>
                  <a:schemeClr val="bg1"/>
                </a:solidFill>
              </a:rPr>
              <a:t>[8] Spitzner, L. (2003). Honeypots: Tracking Hackers. Addison-Wesley.</a:t>
            </a:r>
            <a:endParaRPr lang="en-US" sz="1100" dirty="0"/>
          </a:p>
          <a:p>
            <a:pPr indent="0" marL="0">
              <a:spcAft>
                <a:spcPts val="500"/>
              </a:spcAft>
              <a:buNone/>
            </a:pPr>
            <a:r>
              <a:rPr lang="en-US" sz="1100" dirty="0">
                <a:solidFill>
                  <a:schemeClr val="bg1"/>
                </a:solidFill>
              </a:rPr>
              <a:t>[9] Hagberg, A. A., Schult, D. A., &amp; Swart, P. J. (2008). Exploring network structure, dynamics, and function using NetworkX. Proc. 7th Python in Science Conference (SciPy 2008), 11–15.</a:t>
            </a:r>
            <a:endParaRPr lang="en-US" sz="1100" dirty="0"/>
          </a:p>
          <a:p>
            <a:pPr indent="0" marL="0">
              <a:spcAft>
                <a:spcPts val="500"/>
              </a:spcAft>
              <a:buNone/>
            </a:pPr>
            <a:r>
              <a:rPr lang="en-US" sz="1100" dirty="0">
                <a:solidFill>
                  <a:schemeClr val="bg1"/>
                </a:solidFill>
              </a:rPr>
              <a:t>[10] Pawlick, J., Colbert, E., &amp; Zhu, Q. (2019). A game-theoretic taxonomy and survey of defensive deception for cybersecurity and privacy. ACM Computing Surveys, 52(4), Article 82.</a:t>
            </a:r>
            <a:endParaRPr lang="en-US" sz="1100" dirty="0"/>
          </a:p>
          <a:p>
            <a:pPr indent="0" marL="0">
              <a:spcAft>
                <a:spcPts val="500"/>
              </a:spcAft>
              <a:buNone/>
            </a:pPr>
            <a:r>
              <a:rPr lang="en-US" sz="1100" dirty="0">
                <a:solidFill>
                  <a:schemeClr val="bg1"/>
                </a:solidFill>
              </a:rPr>
              <a:t>[11] Russell, S., &amp; Norvig, P. (2021). Artificial Intelligence: A Modern Approach (4th ed.). Pearson.</a:t>
            </a:r>
            <a:endParaRPr lang="en-US" sz="1100" dirty="0"/>
          </a:p>
          <a:p>
            <a:pPr indent="0" marL="0">
              <a:spcAft>
                <a:spcPts val="500"/>
              </a:spcAft>
              <a:buNone/>
            </a:pPr>
            <a:r>
              <a:rPr lang="en-US" sz="1100" dirty="0">
                <a:solidFill>
                  <a:schemeClr val="bg1"/>
                </a:solidFill>
              </a:rPr>
              <a:t>[12] MITRE Engage — adversary engagement framework. https://engage.mitre.org</a:t>
            </a:r>
            <a:endParaRPr lang="en-US" sz="11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bg1"/>
                </a:solidFill>
                <a:latin typeface="Calibri" pitchFamily="34" charset="0"/>
                <a:ea typeface="Calibri" pitchFamily="34" charset="-122"/>
                <a:cs typeface="Calibri" pitchFamily="34" charset="-120"/>
              </a:rPr>
              <a:t>Backup: algorithm complexity and properties</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1463040"/>
                <a:gridCol w="1645920"/>
                <a:gridCol w="2011680"/>
                <a:gridCol w="822960"/>
                <a:gridCol w="1737360"/>
                <a:gridCol w="1737360"/>
                <a:gridCol w="1645920"/>
              </a:tblGrid>
              <a:tr h="502920">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Algorithm</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Frontier</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Time</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Space</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Complete</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Optimal</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Built-in run (explored)</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502920">
                <a:tc>
                  <a:txBody>
                    <a:bodyPr/>
                    <a:lstStyle/>
                    <a:p>
                      <a:pPr algn="l" indent="0" marL="0">
                        <a:buNone/>
                      </a:pPr>
                      <a:r>
                        <a:rPr lang="en-US" sz="1200" dirty="0">
                          <a:solidFill>
                            <a:schemeClr val="bg1"/>
                          </a:solidFill>
                        </a:rPr>
                        <a:t>BFS</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FIFO queue</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O(V + E)</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O(V)</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Yes (finite)</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Fewest hops only</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5</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502920">
                <a:tc>
                  <a:txBody>
                    <a:bodyPr/>
                    <a:lstStyle/>
                    <a:p>
                      <a:pPr algn="l" indent="0" marL="0">
                        <a:buNone/>
                      </a:pPr>
                      <a:r>
                        <a:rPr lang="en-US" sz="1200" dirty="0">
                          <a:solidFill>
                            <a:schemeClr val="bg1"/>
                          </a:solidFill>
                        </a:rPr>
                        <a:t>DFS</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Stack</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O(V + E)</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O(V)*</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Yes (finite, visited set)</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No</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4</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502920">
                <a:tc>
                  <a:txBody>
                    <a:bodyPr/>
                    <a:lstStyle/>
                    <a:p>
                      <a:pPr algn="l" indent="0" marL="0">
                        <a:buNone/>
                      </a:pPr>
                      <a:r>
                        <a:rPr lang="en-US" sz="1200" dirty="0">
                          <a:solidFill>
                            <a:schemeClr val="bg1"/>
                          </a:solidFill>
                        </a:rPr>
                        <a:t>UCS</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Min-heap on g</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O(E log V)</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O(V)</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Yes (w &gt; 0)</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Yes (min cost)</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7</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502920">
                <a:tc>
                  <a:txBody>
                    <a:bodyPr/>
                    <a:lstStyle/>
                    <a:p>
                      <a:pPr algn="l" indent="0" marL="0">
                        <a:buNone/>
                      </a:pPr>
                      <a:r>
                        <a:rPr lang="en-US" sz="1200" dirty="0">
                          <a:solidFill>
                            <a:schemeClr val="bg1"/>
                          </a:solidFill>
                        </a:rPr>
                        <a:t>A*</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Min-heap on g + h</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O(E log V)</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O(V)</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Yes (w &gt; 0)</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Yes if h admissible</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7</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502920">
                <a:tc>
                  <a:txBody>
                    <a:bodyPr/>
                    <a:lstStyle/>
                    <a:p>
                      <a:pPr algn="l" indent="0" marL="0">
                        <a:buNone/>
                      </a:pPr>
                      <a:r>
                        <a:rPr lang="en-US" sz="1200" dirty="0">
                          <a:solidFill>
                            <a:schemeClr val="bg1"/>
                          </a:solidFill>
                        </a:rPr>
                        <a:t>Minimax</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Recursion</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O(b^d)</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O(d)</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To depth d</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Exact to depth d</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69 states (d = 4)</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502920">
                <a:tc>
                  <a:txBody>
                    <a:bodyPr/>
                    <a:lstStyle/>
                    <a:p>
                      <a:pPr algn="l" indent="0" marL="0">
                        <a:buNone/>
                      </a:pPr>
                      <a:r>
                        <a:rPr lang="en-US" sz="1200" dirty="0">
                          <a:solidFill>
                            <a:schemeClr val="bg1"/>
                          </a:solidFill>
                        </a:rPr>
                        <a:t>Alpha-Beta</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Recursion</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O(b^(d/2)) best case</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O(d)</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To depth d</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Same as Minimax</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35 states, 14 pruned</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502920">
                <a:tc>
                  <a:txBody>
                    <a:bodyPr/>
                    <a:lstStyle/>
                    <a:p>
                      <a:pPr algn="l" indent="0" marL="0">
                        <a:buNone/>
                      </a:pPr>
                      <a:r>
                        <a:rPr lang="en-US" sz="1200" dirty="0">
                          <a:solidFill>
                            <a:schemeClr val="bg1"/>
                          </a:solidFill>
                        </a:rPr>
                        <a:t>Yen (k paths)</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via Dijkstra</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O(k·V·(E + V log V))</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O(k·V)</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Yes</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k cheapest loop-free</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k = 3</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bl>
          </a:graphicData>
        </a:graphic>
      </p:graphicFrame>
      <p:sp>
        <p:nvSpPr>
          <p:cNvPr id="4" name="Text 1"/>
          <p:cNvSpPr txBox="1"/>
          <p:nvPr/>
        </p:nvSpPr>
        <p:spPr>
          <a:xfrm>
            <a:off x="548640" y="5440680"/>
            <a:ext cx="11064240" cy="457200"/>
          </a:xfrm>
          <a:prstGeom prst="rect">
            <a:avLst/>
          </a:prstGeom>
          <a:noFill/>
          <a:ln/>
        </p:spPr>
        <p:txBody>
          <a:bodyPr wrap="square" lIns="0" tIns="0" rIns="0" bIns="0" rtlCol="0" anchor="t"/>
          <a:lstStyle/>
          <a:p>
            <a:pPr indent="0" marL="0">
              <a:buNone/>
            </a:pPr>
            <a:r>
              <a:rPr lang="en-US" sz="1100" dirty="0">
                <a:solidFill>
                  <a:schemeClr val="bg2"/>
                </a:solidFill>
              </a:rPr>
              <a:t>* DFS stores a path copy per stack entry here, so memory can exceed O(V) in practice. V = nodes, E = edges, b = branching factor, d = depth.</a:t>
            </a:r>
            <a:endParaRPr lang="en-US" sz="11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bg1"/>
                </a:solidFill>
                <a:latin typeface="Calibri" pitchFamily="34" charset="0"/>
                <a:ea typeface="Calibri" pitchFamily="34" charset="-122"/>
                <a:cs typeface="Calibri" pitchFamily="34" charset="-120"/>
              </a:rPr>
              <a:t>Backup: API endpoint reference</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1737360"/>
                <a:gridCol w="4754880"/>
                <a:gridCol w="4572000"/>
              </a:tblGrid>
              <a:tr h="457200">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Method</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Endpoint</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Purpose</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457200">
                <a:tc>
                  <a:txBody>
                    <a:bodyPr/>
                    <a:lstStyle/>
                    <a:p>
                      <a:pPr algn="l" indent="0" marL="0">
                        <a:buNone/>
                      </a:pPr>
                      <a:r>
                        <a:rPr lang="en-US" sz="1200" dirty="0">
                          <a:solidFill>
                            <a:schemeClr val="accent1"/>
                          </a:solidFill>
                          <a:latin typeface="Courier New" pitchFamily="34" charset="0"/>
                          <a:ea typeface="Courier New" pitchFamily="34" charset="-122"/>
                          <a:cs typeface="Courier New" pitchFamily="34" charset="-120"/>
                        </a:rPr>
                        <a:t>GET</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/api/health</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Liveness, version, environment, database status</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457200">
                <a:tc>
                  <a:txBody>
                    <a:bodyPr/>
                    <a:lstStyle/>
                    <a:p>
                      <a:pPr algn="l" indent="0" marL="0">
                        <a:buNone/>
                      </a:pPr>
                      <a:r>
                        <a:rPr lang="en-US" sz="1200" dirty="0">
                          <a:solidFill>
                            <a:schemeClr val="accent1"/>
                          </a:solidFill>
                          <a:latin typeface="Courier New" pitchFamily="34" charset="0"/>
                          <a:ea typeface="Courier New" pitchFamily="34" charset="-122"/>
                          <a:cs typeface="Courier New" pitchFamily="34" charset="-120"/>
                        </a:rPr>
                        <a:t>GET</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/api/network</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Built-in topology, entry point, target, candidates</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457200">
                <a:tc>
                  <a:txBody>
                    <a:bodyPr/>
                    <a:lstStyle/>
                    <a:p>
                      <a:pPr algn="l" indent="0" marL="0">
                        <a:buNone/>
                      </a:pPr>
                      <a:r>
                        <a:rPr lang="en-US" sz="1200" dirty="0">
                          <a:solidFill>
                            <a:schemeClr val="accent1"/>
                          </a:solidFill>
                          <a:latin typeface="Courier New" pitchFamily="34" charset="0"/>
                          <a:ea typeface="Courier New" pitchFamily="34" charset="-122"/>
                          <a:cs typeface="Courier New" pitchFamily="34" charset="-120"/>
                        </a:rPr>
                        <a:t>POST</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/api/simulate</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One-shot simulation (+ alternative routes, optional scenario_id)</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457200">
                <a:tc>
                  <a:txBody>
                    <a:bodyPr/>
                    <a:lstStyle/>
                    <a:p>
                      <a:pPr algn="l" indent="0" marL="0">
                        <a:buNone/>
                      </a:pPr>
                      <a:r>
                        <a:rPr lang="en-US" sz="1200" dirty="0">
                          <a:solidFill>
                            <a:schemeClr val="accent1"/>
                          </a:solidFill>
                          <a:latin typeface="Courier New" pitchFamily="34" charset="0"/>
                          <a:ea typeface="Courier New" pitchFamily="34" charset="-122"/>
                          <a:cs typeface="Courier New" pitchFamily="34" charset="-120"/>
                        </a:rPr>
                        <a:t>POST</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/api/simulation/start · step · reset</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Stepped attacker-vs-defender session (in memory)</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457200">
                <a:tc>
                  <a:txBody>
                    <a:bodyPr/>
                    <a:lstStyle/>
                    <a:p>
                      <a:pPr algn="l" indent="0" marL="0">
                        <a:buNone/>
                      </a:pPr>
                      <a:r>
                        <a:rPr lang="en-US" sz="1200" dirty="0">
                          <a:solidFill>
                            <a:schemeClr val="accent1"/>
                          </a:solidFill>
                          <a:latin typeface="Courier New" pitchFamily="34" charset="0"/>
                          <a:ea typeface="Courier New" pitchFamily="34" charset="-122"/>
                          <a:cs typeface="Courier New" pitchFamily="34" charset="-120"/>
                        </a:rPr>
                        <a:t>POST</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/api/ai/analyze</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minimax, alpha_beta, bayesian, hill_climbing, genetic_algorithm</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457200">
                <a:tc>
                  <a:txBody>
                    <a:bodyPr/>
                    <a:lstStyle/>
                    <a:p>
                      <a:pPr algn="l" indent="0" marL="0">
                        <a:buNone/>
                      </a:pPr>
                      <a:r>
                        <a:rPr lang="en-US" sz="1200" dirty="0">
                          <a:solidFill>
                            <a:schemeClr val="accent1"/>
                          </a:solidFill>
                          <a:latin typeface="Courier New" pitchFamily="34" charset="0"/>
                          <a:ea typeface="Courier New" pitchFamily="34" charset="-122"/>
                          <a:cs typeface="Courier New" pitchFamily="34" charset="-120"/>
                        </a:rPr>
                        <a:t>POST</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/api/planning/plan</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Forward or backward defensive plan</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457200">
                <a:tc>
                  <a:txBody>
                    <a:bodyPr/>
                    <a:lstStyle/>
                    <a:p>
                      <a:pPr algn="l" indent="0" marL="0">
                        <a:buNone/>
                      </a:pPr>
                      <a:r>
                        <a:rPr lang="en-US" sz="1200" dirty="0">
                          <a:solidFill>
                            <a:schemeClr val="accent1"/>
                          </a:solidFill>
                          <a:latin typeface="Courier New" pitchFamily="34" charset="0"/>
                          <a:ea typeface="Courier New" pitchFamily="34" charset="-122"/>
                          <a:cs typeface="Courier New" pitchFamily="34" charset="-120"/>
                        </a:rPr>
                        <a:t>POST</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/api/experiments/run · GET /api/experiments/{id}</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Repeated runs, strategy comparison</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457200">
                <a:tc>
                  <a:txBody>
                    <a:bodyPr/>
                    <a:lstStyle/>
                    <a:p>
                      <a:pPr algn="l" indent="0" marL="0">
                        <a:buNone/>
                      </a:pPr>
                      <a:r>
                        <a:rPr lang="en-US" sz="1200" dirty="0">
                          <a:solidFill>
                            <a:schemeClr val="accent1"/>
                          </a:solidFill>
                          <a:latin typeface="Courier New" pitchFamily="34" charset="0"/>
                          <a:ea typeface="Courier New" pitchFamily="34" charset="-122"/>
                          <a:cs typeface="Courier New" pitchFamily="34" charset="-120"/>
                        </a:rPr>
                        <a:t>POST/GET/DELETE</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/api/scenarios …</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Save, list, get, delete scenarios</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457200">
                <a:tc>
                  <a:txBody>
                    <a:bodyPr/>
                    <a:lstStyle/>
                    <a:p>
                      <a:pPr algn="l" indent="0" marL="0">
                        <a:buNone/>
                      </a:pPr>
                      <a:r>
                        <a:rPr lang="en-US" sz="1200" dirty="0">
                          <a:solidFill>
                            <a:schemeClr val="accent1"/>
                          </a:solidFill>
                          <a:latin typeface="Courier New" pitchFamily="34" charset="0"/>
                          <a:ea typeface="Courier New" pitchFamily="34" charset="-122"/>
                          <a:cs typeface="Courier New" pitchFamily="34" charset="-120"/>
                        </a:rPr>
                        <a:t>POST/GET</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/api/experiments/save · /api/experiments-history</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Persist and list experiments</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bl>
          </a:graphicData>
        </a:graphic>
      </p:graphicFrame>
      <p:sp>
        <p:nvSpPr>
          <p:cNvPr id="4" name="Text 1"/>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200" dirty="0">
                <a:solidFill>
                  <a:schemeClr val="bg2"/>
                </a:solidFill>
              </a:rPr>
              <a:t>Errors: 404 unknown node / scenario · 409 duplicate name · 422 validation · 503 database unavailable. Full schemas: http://localhost:8000/docs</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bg1"/>
                </a:solidFill>
                <a:latin typeface="Calibri" pitchFamily="34" charset="0"/>
                <a:ea typeface="Calibri" pitchFamily="34" charset="-122"/>
                <a:cs typeface="Calibri" pitchFamily="34" charset="-120"/>
              </a:rPr>
              <a:t>Backup: example request and response</a:t>
            </a:r>
            <a:endParaRPr lang="en-US" sz="3000" dirty="0"/>
          </a:p>
        </p:txBody>
      </p:sp>
      <p:sp>
        <p:nvSpPr>
          <p:cNvPr id="3" name="Shape 1"/>
          <p:cNvSpPr/>
          <p:nvPr/>
        </p:nvSpPr>
        <p:spPr>
          <a:xfrm>
            <a:off x="548640" y="1325880"/>
            <a:ext cx="4206240" cy="4754880"/>
          </a:xfrm>
          <a:prstGeom prst="roundRect">
            <a:avLst>
              <a:gd name="adj" fmla="val 1304"/>
            </a:avLst>
          </a:prstGeom>
          <a:solidFill>
            <a:schemeClr val="tx2"/>
          </a:solidFill>
          <a:ln w="9525">
            <a:solidFill>
              <a:schemeClr val="accent6"/>
            </a:solidFill>
            <a:prstDash val="solid"/>
          </a:ln>
        </p:spPr>
      </p:sp>
      <p:sp>
        <p:nvSpPr>
          <p:cNvPr id="4" name="Text 2"/>
          <p:cNvSpPr txBox="1"/>
          <p:nvPr/>
        </p:nvSpPr>
        <p:spPr>
          <a:xfrm>
            <a:off x="777240" y="1463040"/>
            <a:ext cx="3749040" cy="228600"/>
          </a:xfrm>
          <a:prstGeom prst="rect">
            <a:avLst/>
          </a:prstGeom>
          <a:noFill/>
          <a:ln/>
        </p:spPr>
        <p:txBody>
          <a:bodyPr wrap="square" lIns="0" tIns="0" rIns="0" bIns="0" rtlCol="0" anchor="t"/>
          <a:lstStyle/>
          <a:p>
            <a:pPr indent="0" marL="0">
              <a:buNone/>
            </a:pPr>
            <a:r>
              <a:rPr lang="en-US" sz="1000" b="1" spc="150" kern="0" dirty="0">
                <a:solidFill>
                  <a:schemeClr val="accent1"/>
                </a:solidFill>
                <a:latin typeface="Courier New" pitchFamily="34" charset="0"/>
                <a:ea typeface="Courier New" pitchFamily="34" charset="-122"/>
                <a:cs typeface="Courier New" pitchFamily="34" charset="-120"/>
              </a:rPr>
              <a:t>POST /API/SIMULATE</a:t>
            </a:r>
            <a:endParaRPr lang="en-US" sz="1000" dirty="0"/>
          </a:p>
        </p:txBody>
      </p:sp>
      <p:sp>
        <p:nvSpPr>
          <p:cNvPr id="5" name="Text 3"/>
          <p:cNvSpPr txBox="1"/>
          <p:nvPr/>
        </p:nvSpPr>
        <p:spPr>
          <a:xfrm>
            <a:off x="777240" y="1783080"/>
            <a:ext cx="3840480" cy="201168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"algorithm": "A*",</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"start_node": "Internet",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"target_node": "Database",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"honeypot_count": 2</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p:txBody>
      </p:sp>
      <p:sp>
        <p:nvSpPr>
          <p:cNvPr id="6" name="Text 4"/>
          <p:cNvSpPr txBox="1"/>
          <p:nvPr/>
        </p:nvSpPr>
        <p:spPr>
          <a:xfrm>
            <a:off x="777240" y="3977640"/>
            <a:ext cx="3749040" cy="228600"/>
          </a:xfrm>
          <a:prstGeom prst="rect">
            <a:avLst/>
          </a:prstGeom>
          <a:noFill/>
          <a:ln/>
        </p:spPr>
        <p:txBody>
          <a:bodyPr wrap="square" lIns="0" tIns="0" rIns="0" bIns="0" rtlCol="0" anchor="t"/>
          <a:lstStyle/>
          <a:p>
            <a:pPr indent="0" marL="0">
              <a:buNone/>
            </a:pPr>
            <a:r>
              <a:rPr lang="en-US" sz="1000" b="1" spc="150" kern="0" dirty="0">
                <a:solidFill>
                  <a:schemeClr val="accent4"/>
                </a:solidFill>
                <a:latin typeface="Courier New" pitchFamily="34" charset="0"/>
                <a:ea typeface="Courier New" pitchFamily="34" charset="-122"/>
                <a:cs typeface="Courier New" pitchFamily="34" charset="-120"/>
              </a:rPr>
              <a:t>REJECTED INPUT EXAMPLE</a:t>
            </a:r>
            <a:endParaRPr lang="en-US" sz="1000" dirty="0"/>
          </a:p>
        </p:txBody>
      </p:sp>
      <p:sp>
        <p:nvSpPr>
          <p:cNvPr id="7" name="Text 5"/>
          <p:cNvSpPr txBox="1"/>
          <p:nvPr/>
        </p:nvSpPr>
        <p:spPr>
          <a:xfrm>
            <a:off x="777240" y="4297680"/>
            <a:ext cx="3840480" cy="82296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{"honeypot_count": 99}  → 422</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{"start_node": "Mainframe"} → 404</a:t>
            </a:r>
            <a:endParaRPr lang="en-US" sz="1200" dirty="0"/>
          </a:p>
        </p:txBody>
      </p:sp>
      <p:sp>
        <p:nvSpPr>
          <p:cNvPr id="8" name="Shape 6"/>
          <p:cNvSpPr/>
          <p:nvPr/>
        </p:nvSpPr>
        <p:spPr>
          <a:xfrm>
            <a:off x="4983480" y="1325880"/>
            <a:ext cx="6629400" cy="4754880"/>
          </a:xfrm>
          <a:prstGeom prst="roundRect">
            <a:avLst>
              <a:gd name="adj" fmla="val 1154"/>
            </a:avLst>
          </a:prstGeom>
          <a:solidFill>
            <a:schemeClr val="tx2"/>
          </a:solidFill>
          <a:ln w="9525">
            <a:solidFill>
              <a:schemeClr val="accent6"/>
            </a:solidFill>
            <a:prstDash val="solid"/>
          </a:ln>
        </p:spPr>
      </p:sp>
      <p:sp>
        <p:nvSpPr>
          <p:cNvPr id="9" name="Text 7"/>
          <p:cNvSpPr txBox="1"/>
          <p:nvPr/>
        </p:nvSpPr>
        <p:spPr>
          <a:xfrm>
            <a:off x="5212080" y="1463040"/>
            <a:ext cx="6126480" cy="228600"/>
          </a:xfrm>
          <a:prstGeom prst="rect">
            <a:avLst/>
          </a:prstGeom>
          <a:noFill/>
          <a:ln/>
        </p:spPr>
        <p:txBody>
          <a:bodyPr wrap="square" lIns="0" tIns="0" rIns="0" bIns="0" rtlCol="0" anchor="t"/>
          <a:lstStyle/>
          <a:p>
            <a:pPr indent="0" marL="0">
              <a:buNone/>
            </a:pPr>
            <a:r>
              <a:rPr lang="en-US" sz="1000" b="1" spc="150" kern="0" dirty="0">
                <a:solidFill>
                  <a:schemeClr val="accent1"/>
                </a:solidFill>
                <a:latin typeface="Courier New" pitchFamily="34" charset="0"/>
                <a:ea typeface="Courier New" pitchFamily="34" charset="-122"/>
                <a:cs typeface="Courier New" pitchFamily="34" charset="-120"/>
              </a:rPr>
              <a:t>RESPONSE (ABRIDGED, REAL VALUES)</a:t>
            </a:r>
            <a:endParaRPr lang="en-US" sz="1000" dirty="0"/>
          </a:p>
        </p:txBody>
      </p:sp>
      <p:sp>
        <p:nvSpPr>
          <p:cNvPr id="10" name="Text 8"/>
          <p:cNvSpPr txBox="1"/>
          <p:nvPr/>
        </p:nvSpPr>
        <p:spPr>
          <a:xfrm>
            <a:off x="5212080" y="1783080"/>
            <a:ext cx="6263640" cy="4206240"/>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"path": ["Internet","Web Server","Application Server","Database"],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"path_cost": 8,  "nodes_explored": 7,</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"honeypots": ["Web Server","Employee PC"],</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"result": "intercepted",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"intercepted_at": "Web Server",  "intercepted_at_step": 1,</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"honeypot_scores": [{"node":"Web Server","deception_score":3.667,</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"selected":true},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"alternative_paths": [{"rank":1,"cost":8,…},{"rank":2,"cost":9,…},</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{"rank":3,"cost":10,…}],</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"algorithm_comparison": [BFS, DFS, UCS, A*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"explanation": ["The attacker agent used A* search …",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bg1"/>
                </a:solidFill>
                <a:latin typeface="Calibri" pitchFamily="34" charset="0"/>
                <a:ea typeface="Calibri" pitchFamily="34" charset="-122"/>
                <a:cs typeface="Calibri" pitchFamily="34" charset="-120"/>
              </a:rPr>
              <a:t>Backup: Bayesian risk model (assumed probabilities)</a:t>
            </a:r>
            <a:endParaRPr lang="en-US" sz="3000" dirty="0"/>
          </a:p>
        </p:txBody>
      </p:sp>
      <p:sp>
        <p:nvSpPr>
          <p:cNvPr id="3" name="Shape 1"/>
          <p:cNvSpPr/>
          <p:nvPr/>
        </p:nvSpPr>
        <p:spPr>
          <a:xfrm>
            <a:off x="548640" y="1325880"/>
            <a:ext cx="11064240" cy="960120"/>
          </a:xfrm>
          <a:prstGeom prst="roundRect">
            <a:avLst>
              <a:gd name="adj" fmla="val 5714"/>
            </a:avLst>
          </a:prstGeom>
          <a:solidFill>
            <a:schemeClr val="tx2"/>
          </a:solidFill>
          <a:ln w="9525">
            <a:solidFill>
              <a:schemeClr val="accent1"/>
            </a:solidFill>
            <a:prstDash val="solid"/>
          </a:ln>
        </p:spPr>
      </p:sp>
      <p:sp>
        <p:nvSpPr>
          <p:cNvPr id="4" name="Text 2"/>
          <p:cNvSpPr txBox="1"/>
          <p:nvPr/>
        </p:nvSpPr>
        <p:spPr>
          <a:xfrm>
            <a:off x="777240" y="1481328"/>
            <a:ext cx="10607040" cy="365760"/>
          </a:xfrm>
          <a:prstGeom prst="rect">
            <a:avLst/>
          </a:prstGeom>
          <a:noFill/>
          <a:ln/>
        </p:spPr>
        <p:txBody>
          <a:bodyPr wrap="square" lIns="0" tIns="0" rIns="0" bIns="0" rtlCol="0" anchor="t"/>
          <a:lstStyle/>
          <a:p>
            <a:pPr indent="0" marL="0">
              <a:buNone/>
            </a:pPr>
            <a:r>
              <a:rPr lang="en-US" sz="1500" dirty="0">
                <a:solidFill>
                  <a:schemeClr val="accent2"/>
                </a:solidFill>
                <a:latin typeface="Courier New" pitchFamily="34" charset="0"/>
                <a:ea typeface="Courier New" pitchFamily="34" charset="-122"/>
                <a:cs typeface="Courier New" pitchFamily="34" charset="-120"/>
              </a:rPr>
              <a:t>P(H|E) = P(E|H)·P(H) / [ P(E|H)·P(H) + P(E|¬H)·(1 − P(H)) ]     H = "node is compromised on the way to the target"</a:t>
            </a:r>
            <a:endParaRPr lang="en-US" sz="1500" dirty="0"/>
          </a:p>
        </p:txBody>
      </p:sp>
      <p:sp>
        <p:nvSpPr>
          <p:cNvPr id="5" name="Text 3"/>
          <p:cNvSpPr txBox="1"/>
          <p:nvPr/>
        </p:nvSpPr>
        <p:spPr>
          <a:xfrm>
            <a:off x="777240" y="1874520"/>
            <a:ext cx="10607040" cy="365760"/>
          </a:xfrm>
          <a:prstGeom prst="rect">
            <a:avLst/>
          </a:prstGeom>
          <a:noFill/>
          <a:ln/>
        </p:spPr>
        <p:txBody>
          <a:bodyPr wrap="square" lIns="0" tIns="0" rIns="0" bIns="0" rtlCol="0" anchor="t"/>
          <a:lstStyle/>
          <a:p>
            <a:pPr indent="0" marL="0">
              <a:buNone/>
            </a:pPr>
            <a:r>
              <a:rPr lang="en-US" sz="1200" dirty="0">
                <a:solidFill>
                  <a:schemeClr val="bg1"/>
                </a:solidFill>
              </a:rPr>
              <a:t>Prior = min(0.95, 0.2 + 0.5 · degree / max degree). Evidence applied in sequence (assumes conditional independence). Route risk = 1 − Π(1 − pᵢ).</a:t>
            </a:r>
            <a:endParaRPr lang="en-US" sz="1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2514600"/>
          <a:ext cx="6035040" cy="914400"/>
        </p:xfrm>
        <a:graphic>
          <a:graphicData uri="http://schemas.openxmlformats.org/drawingml/2006/table">
            <a:tbl>
              <a:tblPr/>
              <a:tblGrid>
                <a:gridCol w="2103120"/>
                <a:gridCol w="914400"/>
                <a:gridCol w="914400"/>
                <a:gridCol w="2103120"/>
              </a:tblGrid>
              <a:tr h="411480">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Evidence</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P(E | H)</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P(E | ¬H)</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Meaning</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411480">
                <a:tc>
                  <a:txBody>
                    <a:bodyPr/>
                    <a:lstStyle/>
                    <a:p>
                      <a:pPr algn="l" indent="0" marL="0">
                        <a:buNone/>
                      </a:pPr>
                      <a:r>
                        <a:rPr lang="en-US" sz="1200" dirty="0">
                          <a:solidFill>
                            <a:schemeClr val="bg1"/>
                          </a:solidFill>
                        </a:rPr>
                        <a:t>on_predicted_path</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0.90</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0.25</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Node lies on the A* route</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411480">
                <a:tc>
                  <a:txBody>
                    <a:bodyPr/>
                    <a:lstStyle/>
                    <a:p>
                      <a:pPr algn="l" indent="0" marL="0">
                        <a:buNone/>
                      </a:pPr>
                      <a:r>
                        <a:rPr lang="en-US" sz="1200" dirty="0">
                          <a:solidFill>
                            <a:schemeClr val="bg1"/>
                          </a:solidFill>
                        </a:rPr>
                        <a:t>fortified_with_honeypot</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0.15</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0.60</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Honeypot placed on the node</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411480">
                <a:tc>
                  <a:txBody>
                    <a:bodyPr/>
                    <a:lstStyle/>
                    <a:p>
                      <a:pPr algn="l" indent="0" marL="0">
                        <a:buNone/>
                      </a:pPr>
                      <a:r>
                        <a:rPr lang="en-US" sz="1200" dirty="0">
                          <a:solidFill>
                            <a:schemeClr val="bg1"/>
                          </a:solidFill>
                        </a:rPr>
                        <a:t>critical_asset</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0.70</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0.40</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Node is the protected asset</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bl>
          </a:graphicData>
        </a:graphic>
      </p:graphicFrame>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6858000" y="2514600"/>
          <a:ext cx="4754880" cy="914400"/>
        </p:xfrm>
        <a:graphic>
          <a:graphicData uri="http://schemas.openxmlformats.org/drawingml/2006/table">
            <a:tbl>
              <a:tblPr/>
              <a:tblGrid>
                <a:gridCol w="2194560"/>
                <a:gridCol w="1188720"/>
                <a:gridCol w="1371600"/>
              </a:tblGrid>
              <a:tr h="384048">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Node</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Prior</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Posterior</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384048">
                <a:tc>
                  <a:txBody>
                    <a:bodyPr/>
                    <a:lstStyle/>
                    <a:p>
                      <a:pPr algn="l" indent="0" marL="0">
                        <a:buNone/>
                      </a:pPr>
                      <a:r>
                        <a:rPr lang="en-US" sz="1200" dirty="0">
                          <a:solidFill>
                            <a:schemeClr val="bg1"/>
                          </a:solidFill>
                        </a:rPr>
                        <a:t>Database</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0.70</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b="1" dirty="0">
                          <a:solidFill>
                            <a:schemeClr val="accent1"/>
                          </a:solidFill>
                        </a:rPr>
                        <a:t>0.969</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384048">
                <a:tc>
                  <a:txBody>
                    <a:bodyPr/>
                    <a:lstStyle/>
                    <a:p>
                      <a:pPr algn="l" indent="0" marL="0">
                        <a:buNone/>
                      </a:pPr>
                      <a:r>
                        <a:rPr lang="en-US" sz="1200" dirty="0">
                          <a:solidFill>
                            <a:schemeClr val="bg1"/>
                          </a:solidFill>
                        </a:rPr>
                        <a:t>Application Server</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0.70</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0.899</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384048">
                <a:tc>
                  <a:txBody>
                    <a:bodyPr/>
                    <a:lstStyle/>
                    <a:p>
                      <a:pPr algn="l" indent="0" marL="0">
                        <a:buNone/>
                      </a:pPr>
                      <a:r>
                        <a:rPr lang="en-US" sz="1200" dirty="0">
                          <a:solidFill>
                            <a:schemeClr val="bg1"/>
                          </a:solidFill>
                        </a:rPr>
                        <a:t>Web Server</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0.70</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0.899</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384048">
                <a:tc>
                  <a:txBody>
                    <a:bodyPr/>
                    <a:lstStyle/>
                    <a:p>
                      <a:pPr algn="l" indent="0" marL="0">
                        <a:buNone/>
                      </a:pPr>
                      <a:r>
                        <a:rPr lang="en-US" sz="1200" dirty="0">
                          <a:solidFill>
                            <a:schemeClr val="bg1"/>
                          </a:solidFill>
                        </a:rPr>
                        <a:t>Internet</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0.367</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0.689</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384048">
                <a:tc>
                  <a:txBody>
                    <a:bodyPr/>
                    <a:lstStyle/>
                    <a:p>
                      <a:pPr algn="l" indent="0" marL="0">
                        <a:buNone/>
                      </a:pPr>
                      <a:r>
                        <a:rPr lang="en-US" sz="1200" dirty="0">
                          <a:solidFill>
                            <a:schemeClr val="bg1"/>
                          </a:solidFill>
                        </a:rPr>
                        <a:t>Employee PC</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0.70</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0.248</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384048">
                <a:tc>
                  <a:txBody>
                    <a:bodyPr/>
                    <a:lstStyle/>
                    <a:p>
                      <a:pPr algn="l" indent="0" marL="0">
                        <a:buNone/>
                      </a:pPr>
                      <a:r>
                        <a:rPr lang="en-US" sz="1200" dirty="0">
                          <a:solidFill>
                            <a:schemeClr val="bg1"/>
                          </a:solidFill>
                        </a:rPr>
                        <a:t>File Server</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0.70</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0.248</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384048">
                <a:tc>
                  <a:txBody>
                    <a:bodyPr/>
                    <a:lstStyle/>
                    <a:p>
                      <a:pPr algn="l" indent="0" marL="0">
                        <a:buNone/>
                      </a:pPr>
                      <a:r>
                        <a:rPr lang="en-US" sz="1200" dirty="0">
                          <a:solidFill>
                            <a:schemeClr val="bg1"/>
                          </a:solidFill>
                        </a:rPr>
                        <a:t>Admin PC</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0.533</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0.139</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bl>
          </a:graphicData>
        </a:graphic>
      </p:graphicFrame>
      <p:sp>
        <p:nvSpPr>
          <p:cNvPr id="8" name="Text 4"/>
          <p:cNvSpPr txBox="1"/>
          <p:nvPr/>
        </p:nvSpPr>
        <p:spPr>
          <a:xfrm>
            <a:off x="548640" y="4343400"/>
            <a:ext cx="6035040" cy="914400"/>
          </a:xfrm>
          <a:prstGeom prst="rect">
            <a:avLst/>
          </a:prstGeom>
          <a:noFill/>
          <a:ln/>
        </p:spPr>
        <p:txBody>
          <a:bodyPr wrap="square" lIns="0" tIns="0" rIns="0" bIns="0" rtlCol="0" anchor="t"/>
          <a:lstStyle/>
          <a:p>
            <a:pPr indent="0" marL="0">
              <a:buNone/>
            </a:pPr>
            <a:r>
              <a:rPr lang="en-US" sz="1300" dirty="0">
                <a:solidFill>
                  <a:schemeClr val="accent3"/>
                </a:solidFill>
              </a:rPr>
              <a:t>Route risk (A* path) = 0.9999. All likelihoods are documented assumptions in ai/bayesian.py — not measurements.</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bg1"/>
                </a:solidFill>
                <a:latin typeface="Calibri" pitchFamily="34" charset="0"/>
                <a:ea typeface="Calibri" pitchFamily="34" charset="-122"/>
                <a:cs typeface="Calibri" pitchFamily="34" charset="-120"/>
              </a:rPr>
              <a:t>Backup: game utility and placement fitness</a:t>
            </a:r>
            <a:endParaRPr lang="en-US" sz="3000" dirty="0"/>
          </a:p>
        </p:txBody>
      </p:sp>
      <p:sp>
        <p:nvSpPr>
          <p:cNvPr id="3" name="Shape 1"/>
          <p:cNvSpPr/>
          <p:nvPr/>
        </p:nvSpPr>
        <p:spPr>
          <a:xfrm>
            <a:off x="548640" y="1325880"/>
            <a:ext cx="5440680" cy="4754880"/>
          </a:xfrm>
          <a:prstGeom prst="roundRect">
            <a:avLst>
              <a:gd name="adj" fmla="val 1154"/>
            </a:avLst>
          </a:prstGeom>
          <a:solidFill>
            <a:schemeClr val="tx2"/>
          </a:solidFill>
          <a:ln w="9525">
            <a:solidFill>
              <a:schemeClr val="accent6"/>
            </a:solidFill>
            <a:prstDash val="solid"/>
          </a:ln>
        </p:spPr>
      </p:sp>
      <p:sp>
        <p:nvSpPr>
          <p:cNvPr id="4" name="Text 2"/>
          <p:cNvSpPr txBox="1"/>
          <p:nvPr/>
        </p:nvSpPr>
        <p:spPr>
          <a:xfrm>
            <a:off x="777240" y="1463040"/>
            <a:ext cx="5029200" cy="228600"/>
          </a:xfrm>
          <a:prstGeom prst="rect">
            <a:avLst/>
          </a:prstGeom>
          <a:noFill/>
          <a:ln/>
        </p:spPr>
        <p:txBody>
          <a:bodyPr wrap="square" lIns="0" tIns="0" rIns="0" bIns="0" rtlCol="0" anchor="t"/>
          <a:lstStyle/>
          <a:p>
            <a:pPr indent="0" marL="0">
              <a:buNone/>
            </a:pPr>
            <a:r>
              <a:rPr lang="en-US" sz="1000" b="1" spc="150" kern="0" dirty="0">
                <a:solidFill>
                  <a:schemeClr val="accent1"/>
                </a:solidFill>
                <a:latin typeface="Courier New" pitchFamily="34" charset="0"/>
                <a:ea typeface="Courier New" pitchFamily="34" charset="-122"/>
                <a:cs typeface="Courier New" pitchFamily="34" charset="-120"/>
              </a:rPr>
              <a:t>DECEPTION GAME (AI/DECEPTION_GAME.PY)</a:t>
            </a:r>
            <a:endParaRPr lang="en-US" sz="1000" dirty="0"/>
          </a:p>
        </p:txBody>
      </p:sp>
      <p:sp>
        <p:nvSpPr>
          <p:cNvPr id="5" name="Text 3"/>
          <p:cNvSpPr txBox="1"/>
          <p:nvPr/>
        </p:nvSpPr>
        <p:spPr>
          <a:xfrm>
            <a:off x="777240" y="1828800"/>
            <a:ext cx="5029200" cy="4023360"/>
          </a:xfrm>
          <a:prstGeom prst="rect">
            <a:avLst/>
          </a:prstGeom>
          <a:noFill/>
          <a:ln/>
        </p:spPr>
        <p:txBody>
          <a:bodyPr wrap="square" lIns="0" tIns="0" rIns="0" bIns="0" rtlCol="0" anchor="t"/>
          <a:lstStyle/>
          <a:p>
            <a:pPr marL="203200" indent="-203200">
              <a:spcAft>
                <a:spcPts val="700"/>
              </a:spcAft>
              <a:buSzPct val="100000"/>
              <a:buChar char="•"/>
            </a:pPr>
            <a:r>
              <a:rPr lang="en-US" sz="1300" b="1" dirty="0">
                <a:solidFill>
                  <a:schemeClr val="accent2"/>
                </a:solidFill>
              </a:rPr>
              <a:t>MAX = attacker: </a:t>
            </a:r>
            <a:pPr indent="0" marL="0">
              <a:buNone/>
            </a:pPr>
            <a:r>
              <a:rPr lang="en-US" sz="1300" dirty="0">
                <a:solidFill>
                  <a:schemeClr val="bg1"/>
                </a:solidFill>
              </a:rPr>
              <a:t>moves one hop per turn</a:t>
            </a:r>
            <a:endParaRPr lang="en-US" sz="1300" dirty="0"/>
          </a:p>
          <a:p>
            <a:pPr marL="203200" indent="-203200">
              <a:spcAft>
                <a:spcPts val="700"/>
              </a:spcAft>
              <a:buSzPct val="100000"/>
              <a:buChar char="•"/>
            </a:pPr>
            <a:r>
              <a:rPr lang="en-US" sz="1300" b="1" dirty="0">
                <a:solidFill>
                  <a:schemeClr val="accent2"/>
                </a:solidFill>
              </a:rPr>
              <a:t>MIN = defender: </a:t>
            </a:r>
            <a:pPr indent="0" marL="0">
              <a:buNone/>
            </a:pPr>
            <a:r>
              <a:rPr lang="en-US" sz="1300" dirty="0">
                <a:solidFill>
                  <a:schemeClr val="bg1"/>
                </a:solidFill>
              </a:rPr>
              <a:t>places a honeypot (budget) or passes</a:t>
            </a:r>
            <a:endParaRPr lang="en-US" sz="1300" dirty="0"/>
          </a:p>
          <a:p>
            <a:pPr marL="203200" indent="-203200">
              <a:spcAft>
                <a:spcPts val="700"/>
              </a:spcAft>
              <a:buSzPct val="100000"/>
              <a:buChar char="•"/>
            </a:pPr>
            <a:r>
              <a:rPr lang="en-US" sz="1300" b="1" dirty="0">
                <a:solidFill>
                  <a:schemeClr val="accent2"/>
                </a:solidFill>
              </a:rPr>
              <a:t>Terminal: </a:t>
            </a:r>
            <a:pPr indent="0" marL="0">
              <a:buNone/>
            </a:pPr>
            <a:r>
              <a:rPr lang="en-US" sz="1300" dirty="0">
                <a:solidFill>
                  <a:schemeClr val="bg1"/>
                </a:solidFill>
              </a:rPr>
              <a:t>intercepted → −50; target reached → +50</a:t>
            </a:r>
            <a:endParaRPr lang="en-US" sz="1300" dirty="0"/>
          </a:p>
          <a:p>
            <a:pPr marL="203200" indent="-203200">
              <a:spcAft>
                <a:spcPts val="700"/>
              </a:spcAft>
              <a:buSzPct val="100000"/>
              <a:buChar char="•"/>
            </a:pPr>
            <a:r>
              <a:rPr lang="en-US" sz="1300" b="1" dirty="0">
                <a:solidFill>
                  <a:schemeClr val="accent2"/>
                </a:solidFill>
              </a:rPr>
              <a:t>Otherwise: </a:t>
            </a:r>
            <a:pPr indent="0" marL="0">
              <a:buNone/>
            </a:pPr>
            <a:r>
              <a:rPr lang="en-US" sz="1300" dirty="0">
                <a:solidFill>
                  <a:schemeClr val="bg1"/>
                </a:solidFill>
              </a:rPr>
              <a:t>U = 10/(1+dist) + 2·|compromised| − 4·protection − 0.5·cost</a:t>
            </a:r>
            <a:endParaRPr lang="en-US" sz="1300" dirty="0"/>
          </a:p>
          <a:p>
            <a:pPr marL="203200" indent="-203200">
              <a:spcAft>
                <a:spcPts val="700"/>
              </a:spcAft>
              <a:buSzPct val="100000"/>
              <a:buChar char="•"/>
            </a:pPr>
            <a:r>
              <a:rPr lang="en-US" sz="1300" b="1" dirty="0">
                <a:solidFill>
                  <a:schemeClr val="accent2"/>
                </a:solidFill>
              </a:rPr>
              <a:t>Result: </a:t>
            </a:r>
            <a:pPr indent="0" marL="0">
              <a:buNone/>
            </a:pPr>
            <a:r>
              <a:rPr lang="en-US" sz="1300" dirty="0">
                <a:solidFill>
                  <a:schemeClr val="bg1"/>
                </a:solidFill>
              </a:rPr>
              <a:t>depth 4 → "move Web Server", value 2.6667</a:t>
            </a:r>
            <a:endParaRPr lang="en-US" sz="1300" dirty="0"/>
          </a:p>
        </p:txBody>
      </p:sp>
      <p:sp>
        <p:nvSpPr>
          <p:cNvPr id="6" name="Shape 4"/>
          <p:cNvSpPr/>
          <p:nvPr/>
        </p:nvSpPr>
        <p:spPr>
          <a:xfrm>
            <a:off x="6172200" y="1325880"/>
            <a:ext cx="5440680" cy="4754880"/>
          </a:xfrm>
          <a:prstGeom prst="roundRect">
            <a:avLst>
              <a:gd name="adj" fmla="val 1154"/>
            </a:avLst>
          </a:prstGeom>
          <a:solidFill>
            <a:schemeClr val="tx2"/>
          </a:solidFill>
          <a:ln w="9525">
            <a:solidFill>
              <a:schemeClr val="accent6"/>
            </a:solidFill>
            <a:prstDash val="solid"/>
          </a:ln>
        </p:spPr>
      </p:sp>
      <p:sp>
        <p:nvSpPr>
          <p:cNvPr id="7" name="Text 5"/>
          <p:cNvSpPr txBox="1"/>
          <p:nvPr/>
        </p:nvSpPr>
        <p:spPr>
          <a:xfrm>
            <a:off x="6400800" y="1463040"/>
            <a:ext cx="5029200" cy="228600"/>
          </a:xfrm>
          <a:prstGeom prst="rect">
            <a:avLst/>
          </a:prstGeom>
          <a:noFill/>
          <a:ln/>
        </p:spPr>
        <p:txBody>
          <a:bodyPr wrap="square" lIns="0" tIns="0" rIns="0" bIns="0" rtlCol="0" anchor="t"/>
          <a:lstStyle/>
          <a:p>
            <a:pPr indent="0" marL="0">
              <a:buNone/>
            </a:pPr>
            <a:r>
              <a:rPr lang="en-US" sz="1000" b="1" spc="150" kern="0" dirty="0">
                <a:solidFill>
                  <a:schemeClr val="accent1"/>
                </a:solidFill>
                <a:latin typeface="Courier New" pitchFamily="34" charset="0"/>
                <a:ea typeface="Courier New" pitchFamily="34" charset="-122"/>
                <a:cs typeface="Courier New" pitchFamily="34" charset="-120"/>
              </a:rPr>
              <a:t>PLACEMENT FITNESS (AI/FITNESS.PY)</a:t>
            </a:r>
            <a:endParaRPr lang="en-US" sz="1000" dirty="0"/>
          </a:p>
        </p:txBody>
      </p:sp>
      <p:sp>
        <p:nvSpPr>
          <p:cNvPr id="8" name="Text 6"/>
          <p:cNvSpPr txBox="1"/>
          <p:nvPr/>
        </p:nvSpPr>
        <p:spPr>
          <a:xfrm>
            <a:off x="6400800" y="1828800"/>
            <a:ext cx="5029200" cy="731520"/>
          </a:xfrm>
          <a:prstGeom prst="rect">
            <a:avLst/>
          </a:prstGeom>
          <a:noFill/>
          <a:ln/>
        </p:spPr>
        <p:txBody>
          <a:bodyPr wrap="square" lIns="0" tIns="0" rIns="0" bIns="0" rtlCol="0" anchor="t"/>
          <a:lstStyle/>
          <a:p>
            <a:pPr indent="0" marL="0">
              <a:buNone/>
            </a:pPr>
            <a:r>
              <a:rPr lang="en-US" sz="1300" dirty="0">
                <a:solidFill>
                  <a:schemeClr val="accent2"/>
                </a:solidFill>
                <a:latin typeface="Courier New" pitchFamily="34" charset="0"/>
                <a:ea typeface="Courier New" pitchFamily="34" charset="-122"/>
                <a:cs typeface="Courier New" pitchFamily="34" charset="-120"/>
              </a:rPr>
              <a:t>F = 4·coverage + 2·proximity + 1·criticality</a:t>
            </a:r>
            <a:endParaRPr lang="en-US" sz="1300" dirty="0"/>
          </a:p>
          <a:p>
            <a:pPr indent="0" marL="0">
              <a:buNone/>
            </a:pPr>
            <a:r>
              <a:rPr lang="en-US" sz="1300" dirty="0">
                <a:solidFill>
                  <a:schemeClr val="accent2"/>
                </a:solidFill>
                <a:latin typeface="Courier New" pitchFamily="34" charset="0"/>
                <a:ea typeface="Courier New" pitchFamily="34" charset="-122"/>
                <a:cs typeface="Courier New" pitchFamily="34" charset="-120"/>
              </a:rPr>
              <a:t>    + 1.5·deception − 1·normalised cost</a:t>
            </a:r>
            <a:endParaRPr lang="en-US" sz="1300" dirty="0"/>
          </a:p>
        </p:txBody>
      </p:sp>
      <p:sp>
        <p:nvSpPr>
          <p:cNvPr id="9" name="Text 7"/>
          <p:cNvSpPr txBox="1"/>
          <p:nvPr/>
        </p:nvSpPr>
        <p:spPr>
          <a:xfrm>
            <a:off x="6400800" y="2743200"/>
            <a:ext cx="5029200" cy="3200400"/>
          </a:xfrm>
          <a:prstGeom prst="rect">
            <a:avLst/>
          </a:prstGeom>
          <a:noFill/>
          <a:ln/>
        </p:spPr>
        <p:txBody>
          <a:bodyPr wrap="square" lIns="0" tIns="0" rIns="0" bIns="0" rtlCol="0" anchor="t"/>
          <a:lstStyle/>
          <a:p>
            <a:pPr marL="203200" indent="-203200">
              <a:spcAft>
                <a:spcPts val="600"/>
              </a:spcAft>
              <a:buSzPct val="100000"/>
              <a:buChar char="•"/>
            </a:pPr>
            <a:r>
              <a:rPr lang="en-US" sz="1300" b="1" dirty="0">
                <a:solidFill>
                  <a:schemeClr val="accent2"/>
                </a:solidFill>
              </a:rPr>
              <a:t>coverage: </a:t>
            </a:r>
            <a:pPr indent="0" marL="0">
              <a:buNone/>
            </a:pPr>
            <a:r>
              <a:rPr lang="en-US" sz="1300" dirty="0">
                <a:solidFill>
                  <a:schemeClr val="bg1"/>
                </a:solidFill>
              </a:rPr>
              <a:t>share of the 4 algorithms’ routes intercepted</a:t>
            </a:r>
            <a:endParaRPr lang="en-US" sz="1300" dirty="0"/>
          </a:p>
          <a:p>
            <a:pPr marL="203200" indent="-203200">
              <a:spcAft>
                <a:spcPts val="600"/>
              </a:spcAft>
              <a:buSzPct val="100000"/>
              <a:buChar char="•"/>
            </a:pPr>
            <a:r>
              <a:rPr lang="en-US" sz="1300" b="1" dirty="0">
                <a:solidFill>
                  <a:schemeClr val="accent2"/>
                </a:solidFill>
              </a:rPr>
              <a:t>proximity: </a:t>
            </a:r>
            <a:pPr indent="0" marL="0">
              <a:buNone/>
            </a:pPr>
            <a:r>
              <a:rPr lang="en-US" sz="1300" dirty="0">
                <a:solidFill>
                  <a:schemeClr val="bg1"/>
                </a:solidFill>
              </a:rPr>
              <a:t>mean 1/(1 + hops to target)</a:t>
            </a:r>
            <a:endParaRPr lang="en-US" sz="1300" dirty="0"/>
          </a:p>
          <a:p>
            <a:pPr marL="203200" indent="-203200">
              <a:spcAft>
                <a:spcPts val="600"/>
              </a:spcAft>
              <a:buSzPct val="100000"/>
              <a:buChar char="•"/>
            </a:pPr>
            <a:r>
              <a:rPr lang="en-US" sz="1300" b="1" dirty="0">
                <a:solidFill>
                  <a:schemeClr val="accent2"/>
                </a:solidFill>
              </a:rPr>
              <a:t>deception: </a:t>
            </a:r>
            <a:pPr indent="0" marL="0">
              <a:buNone/>
            </a:pPr>
            <a:r>
              <a:rPr lang="en-US" sz="1300" dirty="0">
                <a:solidFill>
                  <a:schemeClr val="bg1"/>
                </a:solidFill>
              </a:rPr>
              <a:t>mean degree / max degree</a:t>
            </a:r>
            <a:endParaRPr lang="en-US" sz="1300" dirty="0"/>
          </a:p>
          <a:p>
            <a:pPr marL="203200" indent="-203200">
              <a:spcAft>
                <a:spcPts val="600"/>
              </a:spcAft>
              <a:buSzPct val="100000"/>
              <a:buChar char="•"/>
            </a:pPr>
            <a:r>
              <a:rPr lang="en-US" sz="1300" b="1" dirty="0">
                <a:solidFill>
                  <a:schemeClr val="accent2"/>
                </a:solidFill>
              </a:rPr>
              <a:t>Hill Climbing: </a:t>
            </a:r>
            <a:pPr indent="0" marL="0">
              <a:buNone/>
            </a:pPr>
            <a:r>
              <a:rPr lang="en-US" sz="1300" dirty="0">
                <a:solidFill>
                  <a:schemeClr val="bg1"/>
                </a:solidFill>
              </a:rPr>
              <a:t>steepest ascent, swap/add/drop, 4 restarts</a:t>
            </a:r>
            <a:endParaRPr lang="en-US" sz="1300" dirty="0"/>
          </a:p>
          <a:p>
            <a:pPr marL="203200" indent="-203200">
              <a:spcAft>
                <a:spcPts val="600"/>
              </a:spcAft>
              <a:buSzPct val="100000"/>
              <a:buChar char="•"/>
            </a:pPr>
            <a:r>
              <a:rPr lang="en-US" sz="1300" b="1" dirty="0">
                <a:solidFill>
                  <a:schemeClr val="accent2"/>
                </a:solidFill>
              </a:rPr>
              <a:t>GA: </a:t>
            </a:r>
            <a:pPr indent="0" marL="0">
              <a:buNone/>
            </a:pPr>
            <a:r>
              <a:rPr lang="en-US" sz="1300" dirty="0">
                <a:solidFill>
                  <a:schemeClr val="bg1"/>
                </a:solidFill>
              </a:rPr>
              <a:t>pop 12, 15 generations, tournament, mutation 0.2, seeded</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bg1"/>
                </a:solidFill>
                <a:latin typeface="Calibri" pitchFamily="34" charset="0"/>
                <a:ea typeface="Calibri" pitchFamily="34" charset="-122"/>
                <a:cs typeface="Calibri" pitchFamily="34" charset="-120"/>
              </a:rPr>
              <a:t>Backup: STRIPS-style defensive planning</a:t>
            </a:r>
            <a:endParaRPr lang="en-US" sz="3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5852160" cy="914400"/>
        </p:xfrm>
        <a:graphic>
          <a:graphicData uri="http://schemas.openxmlformats.org/drawingml/2006/table">
            <a:tbl>
              <a:tblPr/>
              <a:tblGrid>
                <a:gridCol w="2377440"/>
                <a:gridCol w="1005840"/>
                <a:gridCol w="2468880"/>
              </a:tblGrid>
              <a:tr h="411480">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Action</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Cost</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Effect (simplified)</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411480">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place_honeypot(n)</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2</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adds honeypot(n); counts against budget</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411480">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block_route(u, v)</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3</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adds blocked(u,v)</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411480">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increase_protection(n)</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2</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adds protected(n)</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411480">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monitor_node(n)</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1</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adds monitored(n)</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411480">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isolate_node(n)</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2</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adds isolated(n)</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411480">
                <a:tc>
                  <a:txBody>
                    <a:bodyPr/>
                    <a:lstStyle/>
                    <a:p>
                      <a:pPr algn="l" indent="0" marL="0">
                        <a:buNone/>
                      </a:pPr>
                      <a:r>
                        <a:rPr lang="en-US" sz="1200" dirty="0">
                          <a:solidFill>
                            <a:schemeClr val="bg1"/>
                          </a:solidFill>
                          <a:latin typeface="Courier New" pitchFamily="34" charset="0"/>
                          <a:ea typeface="Courier New" pitchFamily="34" charset="-122"/>
                          <a:cs typeface="Courier New" pitchFamily="34" charset="-120"/>
                        </a:rPr>
                        <a:t>move_attacker(u, v)</a:t>
                      </a:r>
                      <a:endParaRPr lang="en-US" sz="12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edge weight</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attacker movement in the domain</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bl>
          </a:graphicData>
        </a:graphic>
      </p:graphicFrame>
      <p:sp>
        <p:nvSpPr>
          <p:cNvPr id="4" name="Shape 1"/>
          <p:cNvSpPr/>
          <p:nvPr/>
        </p:nvSpPr>
        <p:spPr>
          <a:xfrm>
            <a:off x="6629400" y="1325880"/>
            <a:ext cx="4983480" cy="4754880"/>
          </a:xfrm>
          <a:prstGeom prst="roundRect">
            <a:avLst>
              <a:gd name="adj" fmla="val 1154"/>
            </a:avLst>
          </a:prstGeom>
          <a:solidFill>
            <a:schemeClr val="tx2"/>
          </a:solidFill>
          <a:ln w="9525">
            <a:solidFill>
              <a:schemeClr val="accent1"/>
            </a:solidFill>
            <a:prstDash val="solid"/>
          </a:ln>
        </p:spPr>
      </p:sp>
      <p:sp>
        <p:nvSpPr>
          <p:cNvPr id="5" name="Text 2"/>
          <p:cNvSpPr txBox="1"/>
          <p:nvPr/>
        </p:nvSpPr>
        <p:spPr>
          <a:xfrm>
            <a:off x="6858000" y="1463040"/>
            <a:ext cx="4572000" cy="228600"/>
          </a:xfrm>
          <a:prstGeom prst="rect">
            <a:avLst/>
          </a:prstGeom>
          <a:noFill/>
          <a:ln/>
        </p:spPr>
        <p:txBody>
          <a:bodyPr wrap="square" lIns="0" tIns="0" rIns="0" bIns="0" rtlCol="0" anchor="t"/>
          <a:lstStyle/>
          <a:p>
            <a:pPr indent="0" marL="0">
              <a:buNone/>
            </a:pPr>
            <a:r>
              <a:rPr lang="en-US" sz="1000" b="1" spc="150" kern="0" dirty="0">
                <a:solidFill>
                  <a:schemeClr val="accent1"/>
                </a:solidFill>
                <a:latin typeface="Courier New" pitchFamily="34" charset="0"/>
                <a:ea typeface="Courier New" pitchFamily="34" charset="-122"/>
                <a:cs typeface="Courier New" pitchFamily="34" charset="-120"/>
              </a:rPr>
              <a:t>GOAL: FORTIFY OR SEVER EVERY ROUTE INTO DATABASE</a:t>
            </a:r>
            <a:endParaRPr lang="en-US" sz="1000" dirty="0"/>
          </a:p>
        </p:txBody>
      </p:sp>
      <p:sp>
        <p:nvSpPr>
          <p:cNvPr id="6" name="Text 3"/>
          <p:cNvSpPr txBox="1"/>
          <p:nvPr/>
        </p:nvSpPr>
        <p:spPr>
          <a:xfrm>
            <a:off x="6858000" y="1828800"/>
            <a:ext cx="4572000" cy="2743200"/>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Forward search: 48 states explored</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Backward regression: 5 states explored</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Same plan, 3 actions, cost 7:</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1. place_honeypot(Application Server)</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2. place_honeypot(File Server)</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3. block_route(Admin PC, Database)</a:t>
            </a:r>
            <a:endParaRPr lang="en-US" sz="1300" dirty="0"/>
          </a:p>
        </p:txBody>
      </p:sp>
      <p:sp>
        <p:nvSpPr>
          <p:cNvPr id="7" name="Text 4"/>
          <p:cNvSpPr txBox="1"/>
          <p:nvPr/>
        </p:nvSpPr>
        <p:spPr>
          <a:xfrm>
            <a:off x="6858000" y="4846320"/>
            <a:ext cx="4572000" cy="1097280"/>
          </a:xfrm>
          <a:prstGeom prst="rect">
            <a:avLst/>
          </a:prstGeom>
          <a:noFill/>
          <a:ln/>
        </p:spPr>
        <p:txBody>
          <a:bodyPr wrap="square" lIns="0" tIns="0" rIns="0" bIns="0" rtlCol="0" anchor="t"/>
          <a:lstStyle/>
          <a:p>
            <a:pPr indent="0" marL="0">
              <a:buNone/>
            </a:pPr>
            <a:r>
              <a:rPr lang="en-US" sz="1200" dirty="0">
                <a:solidFill>
                  <a:schemeClr val="accent3"/>
                </a:solidFill>
              </a:rPr>
              <a:t>Both searches are breadth-first over states: they return the fewest actions within the depth limit, not necessarily the cheapest plan.</a:t>
            </a:r>
            <a:endParaRPr lang="en-US" sz="12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bg1"/>
                </a:solidFill>
                <a:latin typeface="Calibri" pitchFamily="34" charset="0"/>
                <a:ea typeface="Calibri" pitchFamily="34" charset="-122"/>
                <a:cs typeface="Calibri" pitchFamily="34" charset="-120"/>
              </a:rPr>
              <a:t>Backup: how to run and verify the project</a:t>
            </a:r>
            <a:endParaRPr lang="en-US" sz="3000" dirty="0"/>
          </a:p>
        </p:txBody>
      </p:sp>
      <p:sp>
        <p:nvSpPr>
          <p:cNvPr id="3" name="Shape 1"/>
          <p:cNvSpPr/>
          <p:nvPr/>
        </p:nvSpPr>
        <p:spPr>
          <a:xfrm>
            <a:off x="548640" y="1325880"/>
            <a:ext cx="11064240" cy="4754880"/>
          </a:xfrm>
          <a:prstGeom prst="roundRect">
            <a:avLst>
              <a:gd name="adj" fmla="val 1154"/>
            </a:avLst>
          </a:prstGeom>
          <a:solidFill>
            <a:schemeClr val="tx2"/>
          </a:solidFill>
          <a:ln w="9525">
            <a:solidFill>
              <a:schemeClr val="accent6"/>
            </a:solidFill>
            <a:prstDash val="solid"/>
          </a:ln>
        </p:spPr>
      </p:sp>
      <p:sp>
        <p:nvSpPr>
          <p:cNvPr id="4" name="Text 2"/>
          <p:cNvSpPr txBox="1"/>
          <p:nvPr/>
        </p:nvSpPr>
        <p:spPr>
          <a:xfrm>
            <a:off x="777240" y="1508760"/>
            <a:ext cx="10698480" cy="4480560"/>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 Docker stack (db + backend + frontend)</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docker compose up -d --build            # set POSTGRES_PASSWORD in .env first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curl http://localhost:8000/api/health   # {"status":"ok", ..., "database":"connected"}</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Local development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cd backend  &amp;&amp; .venv/Scripts/python -m uvicorn app.main:app --port 8000</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cd frontend &amp;&amp; npm run dev              # http://localhost:5173</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Tests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cd backend  &amp;&amp; .venv/Scripts/python -m pytest -q          # 170 passed</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cd frontend &amp;&amp; npx tsc -b --noEmit &amp;&amp; npx vitest run      # 44 passed</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cd frontend &amp;&amp; npm run build                               # production build</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Demo path: Attack Path Analysis → A* → Run Simulation → cost 8, intercepted at Web Server</a:t>
            </a:r>
            <a:endParaRPr lang="en-US" sz="13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000" b="1" dirty="0">
                <a:solidFill>
                  <a:schemeClr val="bg1"/>
                </a:solidFill>
                <a:latin typeface="Calibri" pitchFamily="34" charset="0"/>
                <a:ea typeface="Calibri" pitchFamily="34" charset="-122"/>
                <a:cs typeface="Calibri" pitchFamily="34" charset="-120"/>
              </a:rPr>
              <a:t>Backup: assumptions register</a:t>
            </a:r>
            <a:endParaRPr lang="en-US" sz="3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4389120"/>
                <a:gridCol w="3291840"/>
                <a:gridCol w="3383280"/>
              </a:tblGrid>
              <a:tr h="502920">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Assumption</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Where</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Effect if wrong</a:t>
                      </a:r>
                      <a:endParaRPr lang="en-US" sz="1100" dirty="0">
                        <a:latin typeface="Courier New" charset="0"/>
                        <a:ea typeface="Courier New" charset="0"/>
                        <a:cs typeface="Courier New" charset="0"/>
                      </a:endParaRPr>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502920">
                <a:tc>
                  <a:txBody>
                    <a:bodyPr/>
                    <a:lstStyle/>
                    <a:p>
                      <a:pPr algn="l" indent="0" marL="0">
                        <a:buNone/>
                      </a:pPr>
                      <a:r>
                        <a:rPr lang="en-US" sz="1200" dirty="0">
                          <a:solidFill>
                            <a:schemeClr val="bg1"/>
                          </a:solidFill>
                        </a:rPr>
                        <a:t>Edge weights = traversal difficulty (hand-set)</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simulation/network.py</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Different cheapest route</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502920">
                <a:tc>
                  <a:txBody>
                    <a:bodyPr/>
                    <a:lstStyle/>
                    <a:p>
                      <a:pPr algn="l" indent="0" marL="0">
                        <a:buNone/>
                      </a:pPr>
                      <a:r>
                        <a:rPr lang="en-US" sz="1200" dirty="0">
                          <a:solidFill>
                            <a:schemeClr val="bg1"/>
                          </a:solidFill>
                        </a:rPr>
                        <a:t>Deployment costs fixed per host</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ai/optimizer.py DEPLOYMENT_COST</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Different greedy ranking</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502920">
                <a:tc>
                  <a:txBody>
                    <a:bodyPr/>
                    <a:lstStyle/>
                    <a:p>
                      <a:pPr algn="l" indent="0" marL="0">
                        <a:buNone/>
                      </a:pPr>
                      <a:r>
                        <a:rPr lang="en-US" sz="1200" dirty="0">
                          <a:solidFill>
                            <a:schemeClr val="bg1"/>
                          </a:solidFill>
                        </a:rPr>
                        <a:t>Attacker is rational, cost-minimising, fully informed</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ai/attacker.py</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Real attackers may take other routes</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502920">
                <a:tc>
                  <a:txBody>
                    <a:bodyPr/>
                    <a:lstStyle/>
                    <a:p>
                      <a:pPr algn="l" indent="0" marL="0">
                        <a:buNone/>
                      </a:pPr>
                      <a:r>
                        <a:rPr lang="en-US" sz="1200" dirty="0">
                          <a:solidFill>
                            <a:schemeClr val="bg1"/>
                          </a:solidFill>
                        </a:rPr>
                        <a:t>Undirected links</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build_network()</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One-way rules not modelled</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502920">
                <a:tc>
                  <a:txBody>
                    <a:bodyPr/>
                    <a:lstStyle/>
                    <a:p>
                      <a:pPr algn="l" indent="0" marL="0">
                        <a:buNone/>
                      </a:pPr>
                      <a:r>
                        <a:rPr lang="en-US" sz="1200" dirty="0">
                          <a:solidFill>
                            <a:schemeClr val="bg1"/>
                          </a:solidFill>
                        </a:rPr>
                        <a:t>Interception = route contains a honeypot</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evaluate_interception()</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Ignores decoy detection by attacker</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r h="502920">
                <a:tc>
                  <a:txBody>
                    <a:bodyPr/>
                    <a:lstStyle/>
                    <a:p>
                      <a:pPr algn="l" indent="0" marL="0">
                        <a:buNone/>
                      </a:pPr>
                      <a:r>
                        <a:rPr lang="en-US" sz="1200" dirty="0">
                          <a:solidFill>
                            <a:schemeClr val="bg1"/>
                          </a:solidFill>
                        </a:rPr>
                        <a:t>Bayesian likelihoods and priors</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ai/bayesian.py</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c>
                  <a:txBody>
                    <a:bodyPr/>
                    <a:lstStyle/>
                    <a:p>
                      <a:pPr algn="l" indent="0" marL="0">
                        <a:buNone/>
                      </a:pPr>
                      <a:r>
                        <a:rPr lang="en-US" sz="1200" dirty="0">
                          <a:solidFill>
                            <a:schemeClr val="bg1"/>
                          </a:solidFill>
                        </a:rPr>
                        <a:t>Posteriors are illustrative only</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2"/>
                    </a:solidFill>
                  </a:tcPr>
                </a:tc>
              </a:tr>
              <a:tr h="502920">
                <a:tc>
                  <a:txBody>
                    <a:bodyPr/>
                    <a:lstStyle/>
                    <a:p>
                      <a:pPr algn="l" indent="0" marL="0">
                        <a:buNone/>
                      </a:pPr>
                      <a:r>
                        <a:rPr lang="en-US" sz="1200" dirty="0">
                          <a:solidFill>
                            <a:schemeClr val="bg1"/>
                          </a:solidFill>
                        </a:rPr>
                        <a:t>Utility / fitness weights</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deception_game.py, fitness.py</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c>
                  <a:txBody>
                    <a:bodyPr/>
                    <a:lstStyle/>
                    <a:p>
                      <a:pPr algn="l" indent="0" marL="0">
                        <a:buNone/>
                      </a:pPr>
                      <a:r>
                        <a:rPr lang="en-US" sz="1200" dirty="0">
                          <a:solidFill>
                            <a:schemeClr val="bg1"/>
                          </a:solidFill>
                        </a:rPr>
                        <a:t>Different recommendations</a:t>
                      </a:r>
                      <a:endParaRPr lang="en-US" sz="1200" dirty="0"/>
                    </a:p>
                  </a:txBody>
                  <a:tcPr marL="73152" marR="73152" marT="36576" marB="36576" anchor="ctr">
                    <a:lnL w="6350" cap="flat" cmpd="sng" algn="ctr">
                      <a:solidFill>
                        <a:srgbClr val="3A3630"/>
                      </a:solidFill>
                      <a:prstDash val="solid"/>
                      <a:round/>
                      <a:headEnd type="none" w="med" len="med"/>
                      <a:tailEnd type="none" w="med" len="med"/>
                    </a:lnL>
                    <a:lnR w="6350" cap="flat" cmpd="sng" algn="ctr">
                      <a:solidFill>
                        <a:srgbClr val="3A3630"/>
                      </a:solidFill>
                      <a:prstDash val="solid"/>
                      <a:round/>
                      <a:headEnd type="none" w="med" len="med"/>
                      <a:tailEnd type="none" w="med" len="med"/>
                    </a:lnR>
                    <a:lnT w="6350" cap="flat" cmpd="sng" algn="ctr">
                      <a:solidFill>
                        <a:srgbClr val="3A3630"/>
                      </a:solidFill>
                      <a:prstDash val="solid"/>
                      <a:round/>
                      <a:headEnd type="none" w="med" len="med"/>
                      <a:tailEnd type="none" w="med" len="med"/>
                    </a:lnT>
                    <a:lnB w="6350" cap="flat" cmpd="sng" algn="ctr">
                      <a:solidFill>
                        <a:srgbClr val="3A3630"/>
                      </a:solidFill>
                      <a:prstDash val="solid"/>
                      <a:round/>
                      <a:headEnd type="none" w="med" len="med"/>
                      <a:tailEnd type="none" w="med" len="med"/>
                    </a:lnB>
                    <a:solidFill>
                      <a:schemeClr val="tx1"/>
                    </a:solidFill>
                  </a:tcPr>
                </a:tc>
              </a:tr>
            </a:tbl>
          </a:graphicData>
        </a:graphic>
      </p:graphicFrame>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31</a:t>
            </a:fld>
            <a:endParaRPr lang="en-US"/>
          </a:p>
        </p:txBody>
      </p:sp>
    </p:spTree>
  </p:cSld>
  <p:clrMapOvr>
    <a:masterClrMapping/>
  </p:clrMapOvr>
</p:sld>
</file>

<file path=ppt/theme/theme1.xml><?xml version="1.0" encoding="utf-8"?>
<a:theme xmlns:a="http://schemas.openxmlformats.org/drawingml/2006/main" name="Cyber Deception Obsidian">
  <a:themeElements>
    <a:clrScheme name="Cyber Deception Obsidian">
      <a:dk1>
        <a:srgbClr val="0B0B0C"/>
      </a:dk1>
      <a:lt1>
        <a:srgbClr val="E8E5DE"/>
      </a:lt1>
      <a:dk2>
        <a:srgbClr val="171716"/>
      </a:dk2>
      <a:lt2>
        <a:srgbClr val="9A978F"/>
      </a:lt2>
      <a:accent1>
        <a:srgbClr val="C9A45C"/>
      </a:accent1>
      <a:accent2>
        <a:srgbClr val="E5D2A0"/>
      </a:accent2>
      <a:accent3>
        <a:srgbClr val="D29A4E"/>
      </a:accent3>
      <a:accent4>
        <a:srgbClr val="D27C72"/>
      </a:accent4>
      <a:accent5>
        <a:srgbClr val="8DB58A"/>
      </a:accent5>
      <a:accent6>
        <a:srgbClr val="3A3630"/>
      </a:accent6>
      <a:hlink>
        <a:srgbClr val="E5D2A0"/>
      </a:hlink>
      <a:folHlink>
        <a:srgbClr val="C9A45C"/>
      </a:folHlink>
    </a:clrScheme>
    <a:fontScheme name="Cyber Deception Obsidia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Deception AI — Project Presentation</dc:title>
  <dc:subject>AI-Based Cyber Deception System for Intelligent Honeypot Placement and Attacker Path Prediction</dc:subject>
  <dc:creator>Chidwilas Routhu (24BYB0092)</dc:creator>
  <cp:lastModifiedBy>Chidwilas Routhu (24BYB0092)</cp:lastModifiedBy>
  <cp:revision>1</cp:revision>
  <dcterms:created xsi:type="dcterms:W3CDTF">2026-10-21T06:33:44Z</dcterms:created>
  <dcterms:modified xsi:type="dcterms:W3CDTF">2026-10-21T06:33:44Z</dcterms:modified>
</cp:coreProperties>
</file>